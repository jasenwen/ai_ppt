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6B35"/>
              </a:gs>
              <a:gs pos="50000">
                <a:srgbClr val="FF8C42"/>
              </a:gs>
              <a:gs pos="100000">
                <a:srgbClr val="FFA500"/>
              </a:gs>
            </a:gsLst>
            <a:lin ang="2700000" scaled="1"/>
          </a:gradFill>
          <a:ln>
            <a:noFill/>
          </a:ln>
        </p:spPr>
      </p:sp>
      <p:grpSp>
        <p:nvGrpSpPr>
          <p:cNvPr id="25" name="Group 25"/>
          <p:cNvGrpSpPr/>
          <p:nvPr/>
        </p:nvGrpSpPr>
        <p:grpSpPr>
          <a:xfrm>
            <a:off x="-381000" y="-190500"/>
            <a:ext cx="12954000" cy="7620000"/>
            <a:chOff x="-381000" y="-190500"/>
            <a:chExt cx="12954000" cy="7620000"/>
          </a:xfrm>
        </p:grpSpPr>
        <p:sp>
          <p:nvSpPr>
            <p:cNvPr id="3" name="Ellipse 3"/>
            <p:cNvSpPr/>
            <p:nvPr/>
          </p:nvSpPr>
          <p:spPr>
            <a:xfrm>
              <a:off x="2476500" y="-190500"/>
              <a:ext cx="7239000" cy="7239000"/>
            </a:xfrm>
            <a:prstGeom prst="ellipse">
              <a:avLst/>
            </a:prstGeom>
            <a:gradFill>
              <a:gsLst>
                <a:gs pos="0">
                  <a:srgbClr val="FFFFFF">
                    <a:alpha val="1500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90500" y="-190500"/>
              <a:ext cx="3048000" cy="3048000"/>
            </a:xfrm>
            <a:prstGeom prst="ellipse">
              <a:avLst/>
            </a:prstGeom>
            <a:solidFill>
              <a:srgbClr val="FFFFFF">
                <a:alpha val="8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8763000" y="3619500"/>
              <a:ext cx="3810000" cy="3810000"/>
            </a:xfrm>
            <a:prstGeom prst="ellipse">
              <a:avLst/>
            </a:prstGeom>
            <a:solidFill>
              <a:srgbClr val="FFFFFF">
                <a:alpha val="6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8286750" y="95250"/>
              <a:ext cx="2095500" cy="2095500"/>
            </a:xfrm>
            <a:prstGeom prst="ellipse">
              <a:avLst/>
            </a:prstGeom>
            <a:solidFill>
              <a:srgbClr val="FFA500">
                <a:alpha val="25000"/>
              </a:srgb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95250" y="4095750"/>
              <a:ext cx="2476500" cy="2476500"/>
            </a:xfrm>
            <a:prstGeom prst="ellipse">
              <a:avLst/>
            </a:prstGeom>
            <a:solidFill>
              <a:srgbClr val="FF6B35">
                <a:alpha val="18000"/>
              </a:srgbClr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-381000" y="2222500"/>
              <a:ext cx="12954000" cy="2032000"/>
            </a:xfrm>
            <a:custGeom>
              <a:avLst/>
              <a:gdLst/>
              <a:ahLst/>
              <a:cxnLst/>
              <a:rect l="l" t="t" r="r" b="b"/>
              <a:pathLst>
                <a:path w="12954000" h="2032000">
                  <a:moveTo>
                    <a:pt x="0" y="1397000"/>
                  </a:moveTo>
                  <a:cubicBezTo>
                    <a:pt x="2286000" y="127000"/>
                    <a:pt x="4445000" y="0"/>
                    <a:pt x="6477000" y="1016000"/>
                  </a:cubicBezTo>
                  <a:cubicBezTo>
                    <a:pt x="8509000" y="2032000"/>
                    <a:pt x="10668000" y="1778000"/>
                    <a:pt x="12954000" y="254000"/>
                  </a:cubicBezTo>
                </a:path>
              </a:pathLst>
            </a:custGeom>
            <a:noFill/>
            <a:ln w="28575">
              <a:solidFill>
                <a:srgbClr val="FFFFFF">
                  <a:alpha val="20000"/>
                </a:srgbClr>
              </a:solidFill>
              <a:custDash>
                <a:ds d="400000" sp="533333"/>
              </a:custDash>
            </a:ln>
          </p:spPr>
        </p:sp>
        <p:sp>
          <p:nvSpPr>
            <p:cNvPr id="9" name="Freeform 9"/>
            <p:cNvSpPr/>
            <p:nvPr/>
          </p:nvSpPr>
          <p:spPr>
            <a:xfrm>
              <a:off x="1143000" y="4000500"/>
              <a:ext cx="10477500" cy="2095500"/>
            </a:xfrm>
            <a:custGeom>
              <a:avLst/>
              <a:gdLst/>
              <a:ahLst/>
              <a:cxnLst/>
              <a:rect l="l" t="t" r="r" b="b"/>
              <a:pathLst>
                <a:path w="10477500" h="2095500">
                  <a:moveTo>
                    <a:pt x="0" y="2095500"/>
                  </a:moveTo>
                  <a:cubicBezTo>
                    <a:pt x="1905000" y="1079500"/>
                    <a:pt x="3556000" y="825500"/>
                    <a:pt x="4953000" y="1333500"/>
                  </a:cubicBezTo>
                  <a:cubicBezTo>
                    <a:pt x="6350000" y="1841500"/>
                    <a:pt x="8191500" y="1397000"/>
                    <a:pt x="10477500" y="0"/>
                  </a:cubicBezTo>
                </a:path>
              </a:pathLst>
            </a:custGeom>
            <a:noFill/>
            <a:ln w="19050">
              <a:solidFill>
                <a:srgbClr val="FFFFFF">
                  <a:alpha val="15000"/>
                </a:srgbClr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2581275" y="2390775"/>
              <a:ext cx="171450" cy="171450"/>
            </a:xfrm>
            <a:prstGeom prst="ellipse">
              <a:avLst/>
            </a:prstGeom>
            <a:solidFill>
              <a:srgbClr val="FFFFFF">
                <a:alpha val="60000"/>
              </a:srgb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4448175" y="2828925"/>
              <a:ext cx="247650" cy="247650"/>
            </a:xfrm>
            <a:prstGeom prst="ellipse">
              <a:avLst/>
            </a:prstGeom>
            <a:solidFill>
              <a:srgbClr val="FFFFFF">
                <a:alpha val="45000"/>
              </a:srgb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7324725" y="2657475"/>
              <a:ext cx="209550" cy="209550"/>
            </a:xfrm>
            <a:prstGeom prst="ellipse">
              <a:avLst/>
            </a:prstGeom>
            <a:solidFill>
              <a:srgbClr val="FFFFFF">
                <a:alpha val="55000"/>
              </a:srgb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9191625" y="3286125"/>
              <a:ext cx="285750" cy="285750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6381750" y="4286250"/>
              <a:ext cx="190500" cy="190500"/>
            </a:xfrm>
            <a:prstGeom prst="ellipse">
              <a:avLst/>
            </a:prstGeom>
            <a:solidFill>
              <a:srgbClr val="FFFFFF">
                <a:alpha val="50000"/>
              </a:srgb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3886200" y="4552950"/>
              <a:ext cx="228600" cy="228600"/>
            </a:xfrm>
            <a:prstGeom prst="ellipse">
              <a:avLst/>
            </a:prstGeom>
            <a:solidFill>
              <a:srgbClr val="FFFFFF">
                <a:alpha val="40000"/>
              </a:srgbClr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1504950" y="2762250"/>
              <a:ext cx="228600" cy="304800"/>
              <a:chOff x="1504950" y="2762250"/>
              <a:chExt cx="228600" cy="304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1504950" y="2762250"/>
                <a:ext cx="2286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304800">
                    <a:moveTo>
                      <a:pt x="114300" y="0"/>
                    </a:moveTo>
                    <a:lnTo>
                      <a:pt x="228600" y="152400"/>
                    </a:lnTo>
                    <a:lnTo>
                      <a:pt x="114300" y="304800"/>
                    </a:lnTo>
                    <a:lnTo>
                      <a:pt x="0" y="152400"/>
                    </a:lnTo>
                    <a:close/>
                  </a:path>
                </a:pathLst>
              </a:custGeom>
              <a:solidFill>
                <a:srgbClr val="FFFFFF">
                  <a:alpha val="75000"/>
                </a:srgbClr>
              </a:solidFill>
              <a:ln>
                <a:noFill/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1571625" y="2867025"/>
                <a:ext cx="95250" cy="95250"/>
              </a:xfrm>
              <a:prstGeom prst="ellipse">
                <a:avLst/>
              </a:prstGeom>
              <a:solidFill>
                <a:srgbClr val="FF6B35">
                  <a:alpha val="75000"/>
                </a:srgbClr>
              </a:solidFill>
              <a:ln>
                <a:noFill/>
              </a:ln>
            </p:spPr>
          </p:sp>
        </p:grpSp>
        <p:grpSp>
          <p:nvGrpSpPr>
            <p:cNvPr id="21" name="Group 21"/>
            <p:cNvGrpSpPr/>
            <p:nvPr/>
          </p:nvGrpSpPr>
          <p:grpSpPr>
            <a:xfrm>
              <a:off x="10096500" y="2000250"/>
              <a:ext cx="228600" cy="228600"/>
              <a:chOff x="10096500" y="2000250"/>
              <a:chExt cx="228600" cy="2286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10096500" y="200025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114300"/>
                    </a:moveTo>
                    <a:lnTo>
                      <a:pt x="114300" y="0"/>
                    </a:lnTo>
                    <a:lnTo>
                      <a:pt x="228600" y="114300"/>
                    </a:lnTo>
                    <a:lnTo>
                      <a:pt x="114300" y="228600"/>
                    </a:lnTo>
                    <a:close/>
                  </a:path>
                </a:pathLst>
              </a:custGeom>
              <a:solidFill>
                <a:srgbClr val="FFFFFF">
                  <a:alpha val="65000"/>
                </a:srgbClr>
              </a:solidFill>
              <a:ln>
                <a:noFill/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10172700" y="2076450"/>
                <a:ext cx="76200" cy="76200"/>
              </a:xfrm>
              <a:prstGeom prst="ellipse">
                <a:avLst/>
              </a:prstGeom>
              <a:solidFill>
                <a:srgbClr val="FFA500">
                  <a:alpha val="65000"/>
                </a:srgbClr>
              </a:solidFill>
              <a:ln>
                <a:noFill/>
              </a:ln>
            </p:spPr>
          </p:sp>
        </p:grpSp>
        <p:grpSp>
          <p:nvGrpSpPr>
            <p:cNvPr id="24" name="Group 24"/>
            <p:cNvGrpSpPr/>
            <p:nvPr/>
          </p:nvGrpSpPr>
          <p:grpSpPr>
            <a:xfrm>
              <a:off x="5905500" y="952500"/>
              <a:ext cx="190500" cy="190500"/>
              <a:chOff x="5905500" y="952500"/>
              <a:chExt cx="190500" cy="1905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5905500" y="95250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95250"/>
                    </a:moveTo>
                    <a:lnTo>
                      <a:pt x="95250" y="0"/>
                    </a:lnTo>
                    <a:lnTo>
                      <a:pt x="190500" y="95250"/>
                    </a:lnTo>
                    <a:lnTo>
                      <a:pt x="95250" y="19050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5972175" y="1019175"/>
                <a:ext cx="57150" cy="57150"/>
              </a:xfrm>
              <a:prstGeom prst="ellipse">
                <a:avLst/>
              </a:prstGeom>
              <a:solidFill>
                <a:srgbClr val="FF8C42">
                  <a:alpha val="50000"/>
                </a:srgbClr>
              </a:solidFill>
              <a:ln>
                <a:noFill/>
              </a:ln>
            </p:spPr>
          </p:sp>
        </p:grpSp>
      </p:grpSp>
      <p:grpSp>
        <p:nvGrpSpPr>
          <p:cNvPr id="32" name="Group 32"/>
          <p:cNvGrpSpPr/>
          <p:nvPr/>
        </p:nvGrpSpPr>
        <p:grpSpPr>
          <a:xfrm>
            <a:off x="-88685" y="2449830"/>
            <a:ext cx="12369370" cy="4122420"/>
            <a:chOff x="-88685" y="2449830"/>
            <a:chExt cx="12369370" cy="4122420"/>
          </a:xfrm>
        </p:grpSpPr>
        <p:sp>
          <p:nvSpPr>
            <p:cNvPr id="26" name="TextBox 26"/>
            <p:cNvSpPr txBox="1"/>
            <p:nvPr/>
          </p:nvSpPr>
          <p:spPr>
            <a:xfrm>
              <a:off x="-88685" y="2449830"/>
              <a:ext cx="12369370" cy="1036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FDE：连接技术与业务的前线工程师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92427" y="3582352"/>
              <a:ext cx="840714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dirty="0">
                  <a:solidFill>
                    <a:srgbClr val="FFFFFF">
                      <a:alphaMod val="95000"/>
                    </a:srgbClr>
                  </a:solidFill>
                  <a:latin typeface="Arial"/>
                  <a:ea typeface="Microsoft YaHei"/>
                  <a:cs typeface="Arial"/>
                </a:rPr>
                <a:t>Forward Deployed Engineer — 角色 · 价值 · 路径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446395" y="3598545"/>
              <a:ext cx="25374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84645" y="3598545"/>
              <a:ext cx="25374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000000"/>
                  </a:solidFill>
                  <a:latin typeface="Segoe UI"/>
                  <a:ea typeface="Microsoft YaHei"/>
                  <a:cs typeface="Segoe UI"/>
                </a:rPr>
                <a:t>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607727" y="6123622"/>
              <a:ext cx="97654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01 / 09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143500" y="6524625"/>
              <a:ext cx="1905000" cy="47625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500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0" y="-381000"/>
            <a:ext cx="12477750" cy="7239000"/>
            <a:chOff x="0" y="-381000"/>
            <a:chExt cx="12477750" cy="7239000"/>
          </a:xfrm>
        </p:grpSpPr>
        <p:sp>
          <p:nvSpPr>
            <p:cNvPr id="3" name="Ellipse 3"/>
            <p:cNvSpPr/>
            <p:nvPr/>
          </p:nvSpPr>
          <p:spPr>
            <a:xfrm>
              <a:off x="9429750" y="-381000"/>
              <a:ext cx="3048000" cy="3048000"/>
            </a:xfrm>
            <a:prstGeom prst="ellipse">
              <a:avLst/>
            </a:prstGeom>
            <a:solidFill>
              <a:srgbClr val="FFA500">
                <a:alpha val="8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0" y="4953000"/>
              <a:ext cx="1905000" cy="1905000"/>
            </a:xfrm>
            <a:prstGeom prst="ellipse">
              <a:avLst/>
            </a:prstGeom>
            <a:solidFill>
              <a:srgbClr val="FF6B35">
                <a:alpha val="6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5715000" y="285750"/>
              <a:ext cx="952500" cy="952500"/>
            </a:xfrm>
            <a:prstGeom prst="ellipse">
              <a:avLst/>
            </a:prstGeom>
            <a:solidFill>
              <a:srgbClr val="FF8C42">
                <a:alpha val="1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763250" y="4572000"/>
              <a:ext cx="1333500" cy="1333500"/>
            </a:xfrm>
            <a:prstGeom prst="ellipse">
              <a:avLst/>
            </a:prstGeom>
            <a:solidFill>
              <a:srgbClr val="FF6B35">
                <a:alpha val="5000"/>
              </a:srgbClr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4000500" cy="1714500"/>
            </a:xfrm>
            <a:custGeom>
              <a:avLst/>
              <a:gdLst/>
              <a:ahLst/>
              <a:cxnLst/>
              <a:rect l="l" t="t" r="r" b="b"/>
              <a:pathLst>
                <a:path w="4000500" h="1714500">
                  <a:moveTo>
                    <a:pt x="0" y="0"/>
                  </a:moveTo>
                  <a:lnTo>
                    <a:pt x="4000500" y="0"/>
                  </a:lnTo>
                  <a:lnTo>
                    <a:pt x="3333750" y="1333500"/>
                  </a:lnTo>
                  <a:lnTo>
                    <a:pt x="0" y="1714500"/>
                  </a:lnTo>
                  <a:close/>
                </a:path>
              </a:pathLst>
            </a:custGeom>
            <a:solidFill>
              <a:srgbClr val="FF6B35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0" y="1524000"/>
              <a:ext cx="2857500" cy="444500"/>
            </a:xfrm>
            <a:custGeom>
              <a:avLst/>
              <a:gdLst/>
              <a:ahLst/>
              <a:cxnLst/>
              <a:rect l="l" t="t" r="r" b="b"/>
              <a:pathLst>
                <a:path w="2857500" h="444500">
                  <a:moveTo>
                    <a:pt x="0" y="190500"/>
                  </a:moveTo>
                  <a:cubicBezTo>
                    <a:pt x="952500" y="444500"/>
                    <a:pt x="1905000" y="381000"/>
                    <a:pt x="2857500" y="0"/>
                  </a:cubicBezTo>
                </a:path>
              </a:pathLst>
            </a:custGeom>
            <a:noFill/>
            <a:ln w="38100" cap="rnd">
              <a:solidFill>
                <a:srgbClr val="FFA500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4286250" y="1905000"/>
              <a:ext cx="1905000" cy="762000"/>
            </a:xfrm>
            <a:custGeom>
              <a:avLst/>
              <a:gdLst/>
              <a:ahLst/>
              <a:cxnLst/>
              <a:rect l="l" t="t" r="r" b="b"/>
              <a:pathLst>
                <a:path w="1905000" h="762000">
                  <a:moveTo>
                    <a:pt x="0" y="381000"/>
                  </a:moveTo>
                  <a:cubicBezTo>
                    <a:pt x="1238250" y="0"/>
                    <a:pt x="1905000" y="762000"/>
                    <a:pt x="1905000" y="762000"/>
                  </a:cubicBezTo>
                </a:path>
              </a:pathLst>
            </a:custGeom>
            <a:noFill/>
            <a:ln w="19050">
              <a:solidFill>
                <a:srgbClr val="FFA500">
                  <a:alpha val="40000"/>
                </a:srgbClr>
              </a:solidFill>
              <a:custDash>
                <a:ds d="300000" sp="300000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4286250" y="2667000"/>
              <a:ext cx="1905000" cy="952500"/>
            </a:xfrm>
            <a:custGeom>
              <a:avLst/>
              <a:gdLst/>
              <a:ahLst/>
              <a:cxnLst/>
              <a:rect l="l" t="t" r="r" b="b"/>
              <a:pathLst>
                <a:path w="1905000" h="952500">
                  <a:moveTo>
                    <a:pt x="0" y="571500"/>
                  </a:moveTo>
                  <a:cubicBezTo>
                    <a:pt x="1238250" y="952500"/>
                    <a:pt x="1905000" y="0"/>
                    <a:pt x="1905000" y="0"/>
                  </a:cubicBezTo>
                </a:path>
              </a:pathLst>
            </a:custGeom>
            <a:noFill/>
            <a:ln w="19050">
              <a:solidFill>
                <a:srgbClr val="FF8C42">
                  <a:alpha val="40000"/>
                </a:srgbClr>
              </a:solidFill>
              <a:custDash>
                <a:ds d="300000" sp="300000"/>
              </a:custDash>
            </a:ln>
          </p:spPr>
        </p:sp>
        <p:sp>
          <p:nvSpPr>
            <p:cNvPr id="11" name="Freeform 11"/>
            <p:cNvSpPr/>
            <p:nvPr/>
          </p:nvSpPr>
          <p:spPr>
            <a:xfrm>
              <a:off x="4286250" y="2667000"/>
              <a:ext cx="1905000" cy="1524000"/>
            </a:xfrm>
            <a:custGeom>
              <a:avLst/>
              <a:gdLst/>
              <a:ahLst/>
              <a:cxnLst/>
              <a:rect l="l" t="t" r="r" b="b"/>
              <a:pathLst>
                <a:path w="1905000" h="1524000">
                  <a:moveTo>
                    <a:pt x="0" y="1524000"/>
                  </a:moveTo>
                  <a:cubicBezTo>
                    <a:pt x="1238250" y="1333500"/>
                    <a:pt x="1905000" y="0"/>
                    <a:pt x="1905000" y="0"/>
                  </a:cubicBezTo>
                </a:path>
              </a:pathLst>
            </a:custGeom>
            <a:noFill/>
            <a:ln w="19050">
              <a:solidFill>
                <a:srgbClr val="FF6B35">
                  <a:alpha val="40000"/>
                </a:srgbClr>
              </a:solidFill>
              <a:custDash>
                <a:ds d="300000" sp="300000"/>
              </a:custDash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891540" y="481965"/>
            <a:ext cx="5367909" cy="1194435"/>
            <a:chOff x="891540" y="481965"/>
            <a:chExt cx="5367909" cy="1194435"/>
          </a:xfrm>
        </p:grpSpPr>
        <p:sp>
          <p:nvSpPr>
            <p:cNvPr id="13" name="TextBox 13"/>
            <p:cNvSpPr txBox="1"/>
            <p:nvPr/>
          </p:nvSpPr>
          <p:spPr>
            <a:xfrm>
              <a:off x="891540" y="481965"/>
              <a:ext cx="4501667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F6B35"/>
                  </a:solidFill>
                  <a:latin typeface="Arial"/>
                  <a:ea typeface="Microsoft YaHei"/>
                  <a:cs typeface="Arial"/>
                </a:rPr>
                <a:t>什么是 FDE？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29640" y="1234440"/>
              <a:ext cx="53298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D3436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Forward Deployed Engineer · 前部署工程师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952500" y="1666875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47625" cap="rnd">
              <a:solidFill>
                <a:srgbClr val="FF6B35"/>
              </a:solidFill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990600" y="2038350"/>
            <a:ext cx="11577256" cy="2400300"/>
            <a:chOff x="990600" y="2038350"/>
            <a:chExt cx="11577256" cy="2400300"/>
          </a:xfrm>
        </p:grpSpPr>
        <p:sp>
          <p:nvSpPr>
            <p:cNvPr id="17" name="Ellipse 17"/>
            <p:cNvSpPr/>
            <p:nvPr/>
          </p:nvSpPr>
          <p:spPr>
            <a:xfrm>
              <a:off x="990600" y="2038350"/>
              <a:ext cx="495300" cy="495300"/>
            </a:xfrm>
            <a:prstGeom prst="ellipse">
              <a:avLst/>
            </a:prstGeom>
            <a:solidFill>
              <a:srgbClr val="FFA50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79340" y="2174558"/>
              <a:ext cx="11781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687830" y="2106930"/>
              <a:ext cx="1088002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🚀 Forward Deployed Engineer（前部署工程师），由 Palantir 率先定义并推广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990600" y="2990850"/>
              <a:ext cx="495300" cy="495300"/>
            </a:xfrm>
            <a:prstGeom prst="ellipse">
              <a:avLst/>
            </a:prstGeom>
            <a:solidFill>
              <a:srgbClr val="FF8C4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147711" y="3127058"/>
              <a:ext cx="18107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687830" y="3059430"/>
              <a:ext cx="706154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⚡ 在客户一线战场，将软件能力转化为真实业务价值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990600" y="3943350"/>
              <a:ext cx="495300" cy="495300"/>
            </a:xfrm>
            <a:prstGeom prst="ellipse">
              <a:avLst/>
            </a:prstGeom>
            <a:solidFill>
              <a:srgbClr val="FF6B3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47711" y="4079558"/>
              <a:ext cx="18107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687830" y="4011930"/>
              <a:ext cx="644813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🎯 既是工程师，也是顾问、项目经理、产品经理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286500" y="1905000"/>
            <a:ext cx="5143500" cy="3238500"/>
            <a:chOff x="6286500" y="1905000"/>
            <a:chExt cx="5143500" cy="3238500"/>
          </a:xfrm>
        </p:grpSpPr>
        <p:sp>
          <p:nvSpPr>
            <p:cNvPr id="27" name="Rectangle 27"/>
            <p:cNvSpPr/>
            <p:nvPr/>
          </p:nvSpPr>
          <p:spPr>
            <a:xfrm>
              <a:off x="6286500" y="1905000"/>
              <a:ext cx="5143500" cy="3238500"/>
            </a:xfrm>
            <a:prstGeom prst="roundRect">
              <a:avLst>
                <a:gd name="adj" fmla="val 7059"/>
              </a:avLst>
            </a:prstGeom>
            <a:solidFill>
              <a:srgbClr val="FFFFFF"/>
            </a:solidFill>
            <a:ln w="28575">
              <a:solidFill>
                <a:srgbClr val="FFA500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139589" y="2281238"/>
              <a:ext cx="143732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核心公式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858000" y="2857500"/>
              <a:ext cx="1143000" cy="1143000"/>
            </a:xfrm>
            <a:prstGeom prst="ellipse">
              <a:avLst/>
            </a:prstGeom>
            <a:solidFill>
              <a:srgbClr val="FFA50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902482" y="330803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工程技术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105775" y="3181350"/>
              <a:ext cx="329232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6B35"/>
                  </a:solidFill>
                  <a:latin typeface="Arial"/>
                  <a:ea typeface="Microsoft YaHei"/>
                  <a:cs typeface="Arial"/>
                </a:rPr>
                <a:t>×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8286750" y="2857500"/>
              <a:ext cx="1143000" cy="1143000"/>
            </a:xfrm>
            <a:prstGeom prst="ellipse">
              <a:avLst/>
            </a:prstGeom>
            <a:solidFill>
              <a:srgbClr val="FF8C4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331232" y="330803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业务理解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534525" y="3181350"/>
              <a:ext cx="329232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6B35"/>
                  </a:solidFill>
                  <a:latin typeface="Arial"/>
                  <a:ea typeface="Microsoft YaHei"/>
                  <a:cs typeface="Arial"/>
                </a:rPr>
                <a:t>×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9715500" y="2857500"/>
              <a:ext cx="1143000" cy="1143000"/>
            </a:xfrm>
            <a:prstGeom prst="ellipse">
              <a:avLst/>
            </a:prstGeom>
            <a:solidFill>
              <a:srgbClr val="FF6B35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759982" y="330803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现场交付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8001000" y="3429000"/>
              <a:ext cx="95250" cy="9525"/>
            </a:xfrm>
            <a:custGeom>
              <a:avLst/>
              <a:gdLst/>
              <a:ahLst/>
              <a:cxnLst/>
              <a:rect l="l" t="t" r="r" b="b"/>
              <a:pathLst>
                <a:path w="95250" h="9525">
                  <a:moveTo>
                    <a:pt x="0" y="0"/>
                  </a:moveTo>
                  <a:lnTo>
                    <a:pt x="95250" y="0"/>
                  </a:lnTo>
                </a:path>
              </a:pathLst>
            </a:custGeom>
            <a:solidFill>
              <a:srgbClr val="000000"/>
            </a:solidFill>
            <a:ln w="38100" cap="rnd">
              <a:solidFill>
                <a:srgbClr val="FF6B3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9429750" y="3429000"/>
              <a:ext cx="95250" cy="9525"/>
            </a:xfrm>
            <a:custGeom>
              <a:avLst/>
              <a:gdLst/>
              <a:ahLst/>
              <a:cxnLst/>
              <a:rect l="l" t="t" r="r" b="b"/>
              <a:pathLst>
                <a:path w="95250" h="9525">
                  <a:moveTo>
                    <a:pt x="0" y="0"/>
                  </a:moveTo>
                  <a:lnTo>
                    <a:pt x="95250" y="0"/>
                  </a:lnTo>
                </a:path>
              </a:pathLst>
            </a:custGeom>
            <a:solidFill>
              <a:srgbClr val="000000"/>
            </a:solidFill>
            <a:ln w="38100" cap="rnd">
              <a:solidFill>
                <a:srgbClr val="FF6B35"/>
              </a:solidFill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952500" y="6477000"/>
            <a:ext cx="10302240" cy="352425"/>
            <a:chOff x="952500" y="6477000"/>
            <a:chExt cx="10302240" cy="352425"/>
          </a:xfrm>
        </p:grpSpPr>
        <p:sp>
          <p:nvSpPr>
            <p:cNvPr id="40" name="Line 40"/>
            <p:cNvSpPr/>
            <p:nvPr/>
          </p:nvSpPr>
          <p:spPr>
            <a:xfrm>
              <a:off x="952500" y="647700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9525">
              <a:solidFill>
                <a:srgbClr val="E0E0E0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829925" y="6585585"/>
              <a:ext cx="42481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2D3436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2 / 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6" grpId="0"/>
      <p:bldP spid="3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-476250" y="-476250"/>
            <a:ext cx="13620750" cy="8477250"/>
            <a:chOff x="-476250" y="-476250"/>
            <a:chExt cx="13620750" cy="8477250"/>
          </a:xfrm>
        </p:grpSpPr>
        <p:sp>
          <p:nvSpPr>
            <p:cNvPr id="3" name="Ellipse 3"/>
            <p:cNvSpPr/>
            <p:nvPr/>
          </p:nvSpPr>
          <p:spPr>
            <a:xfrm>
              <a:off x="-476250" y="-476250"/>
              <a:ext cx="2667000" cy="2667000"/>
            </a:xfrm>
            <a:prstGeom prst="ellipse">
              <a:avLst/>
            </a:prstGeom>
            <a:solidFill>
              <a:srgbClr val="FF6B35">
                <a:alpha val="6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9334500" y="4191000"/>
              <a:ext cx="3810000" cy="3810000"/>
            </a:xfrm>
            <a:prstGeom prst="ellipse">
              <a:avLst/>
            </a:prstGeom>
            <a:solidFill>
              <a:srgbClr val="FFA500">
                <a:alpha val="5000"/>
              </a:srgbClr>
            </a:solidFill>
            <a:ln>
              <a:noFill/>
            </a:ln>
          </p:spPr>
        </p:sp>
        <p:sp>
          <p:nvSpPr>
            <p:cNvPr id="5" name="Freeform 5"/>
            <p:cNvSpPr/>
            <p:nvPr/>
          </p:nvSpPr>
          <p:spPr>
            <a:xfrm>
              <a:off x="0" y="1714500"/>
              <a:ext cx="12192000" cy="1333500"/>
            </a:xfrm>
            <a:custGeom>
              <a:avLst/>
              <a:gdLst/>
              <a:ahLst/>
              <a:cxnLst/>
              <a:rect l="l" t="t" r="r" b="b"/>
              <a:pathLst>
                <a:path w="12192000" h="1333500">
                  <a:moveTo>
                    <a:pt x="0" y="952500"/>
                  </a:moveTo>
                  <a:cubicBezTo>
                    <a:pt x="2381250" y="381000"/>
                    <a:pt x="4286250" y="1333500"/>
                    <a:pt x="6667500" y="952500"/>
                  </a:cubicBezTo>
                  <a:cubicBezTo>
                    <a:pt x="9048750" y="571500"/>
                    <a:pt x="10001250" y="0"/>
                    <a:pt x="12192000" y="571500"/>
                  </a:cubicBezTo>
                </a:path>
              </a:pathLst>
            </a:custGeom>
            <a:noFill/>
            <a:ln w="28575">
              <a:solidFill>
                <a:srgbClr val="FF8C42">
                  <a:alpha val="25000"/>
                </a:srgbClr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0" y="3619500"/>
              <a:ext cx="12192000" cy="1428750"/>
            </a:xfrm>
            <a:custGeom>
              <a:avLst/>
              <a:gdLst/>
              <a:ahLst/>
              <a:cxnLst/>
              <a:rect l="l" t="t" r="r" b="b"/>
              <a:pathLst>
                <a:path w="12192000" h="1428750">
                  <a:moveTo>
                    <a:pt x="0" y="952500"/>
                  </a:moveTo>
                  <a:cubicBezTo>
                    <a:pt x="2857500" y="1428750"/>
                    <a:pt x="4762500" y="476250"/>
                    <a:pt x="8096250" y="952500"/>
                  </a:cubicBezTo>
                  <a:cubicBezTo>
                    <a:pt x="11430000" y="1428750"/>
                    <a:pt x="10953750" y="0"/>
                    <a:pt x="12192000" y="381000"/>
                  </a:cubicBezTo>
                </a:path>
              </a:pathLst>
            </a:custGeom>
            <a:noFill/>
            <a:ln w="19050">
              <a:solidFill>
                <a:srgbClr val="FF6B35">
                  <a:alpha val="15000"/>
                </a:srgbClr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0620375" y="1095375"/>
              <a:ext cx="857250" cy="857250"/>
            </a:xfrm>
            <a:prstGeom prst="ellipse">
              <a:avLst/>
            </a:prstGeom>
            <a:solidFill>
              <a:srgbClr val="FFA500">
                <a:alpha val="12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666750" y="5143500"/>
              <a:ext cx="1333500" cy="1333500"/>
            </a:xfrm>
            <a:prstGeom prst="ellipse">
              <a:avLst/>
            </a:prstGeom>
            <a:solidFill>
              <a:srgbClr val="FF8C42">
                <a:alpha val="8000"/>
              </a:srgb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3714750" y="1047750"/>
              <a:ext cx="4762500" cy="4762500"/>
            </a:xfrm>
            <a:prstGeom prst="ellipse">
              <a:avLst/>
            </a:prstGeom>
            <a:solidFill>
              <a:srgbClr val="FF6B35">
                <a:alpha val="3000"/>
              </a:srgbClr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0" y="0"/>
            <a:ext cx="2362200" cy="152400"/>
            <a:chOff x="0" y="0"/>
            <a:chExt cx="2362200" cy="152400"/>
          </a:xfrm>
        </p:grpSpPr>
        <p:sp>
          <p:nvSpPr>
            <p:cNvPr id="11" name="Rectangle 11"/>
            <p:cNvSpPr/>
            <p:nvPr/>
          </p:nvSpPr>
          <p:spPr>
            <a:xfrm>
              <a:off x="0" y="0"/>
              <a:ext cx="1714500" cy="152400"/>
            </a:xfrm>
            <a:prstGeom prst="roundRect">
              <a:avLst>
                <a:gd name="adj" fmla="val 50000"/>
              </a:avLst>
            </a:prstGeom>
            <a:solidFill>
              <a:srgbClr val="FF6B35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1838325" y="9525"/>
              <a:ext cx="133350" cy="133350"/>
            </a:xfrm>
            <a:prstGeom prst="ellipse">
              <a:avLst/>
            </a:prstGeom>
            <a:solidFill>
              <a:srgbClr val="FFA500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2095500" y="28575"/>
              <a:ext cx="95250" cy="95250"/>
            </a:xfrm>
            <a:prstGeom prst="ellipse">
              <a:avLst/>
            </a:prstGeom>
            <a:solidFill>
              <a:srgbClr val="FF8C42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2305050" y="47625"/>
              <a:ext cx="57150" cy="57150"/>
            </a:xfrm>
            <a:prstGeom prst="ellipse">
              <a:avLst/>
            </a:prstGeom>
            <a:solidFill>
              <a:srgbClr val="FF6B35"/>
            </a:solidFill>
            <a:ln>
              <a:noFill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901065" y="658178"/>
            <a:ext cx="5983605" cy="970597"/>
            <a:chOff x="901065" y="658178"/>
            <a:chExt cx="5983605" cy="970597"/>
          </a:xfrm>
        </p:grpSpPr>
        <p:sp>
          <p:nvSpPr>
            <p:cNvPr id="16" name="TextBox 16"/>
            <p:cNvSpPr txBox="1"/>
            <p:nvPr/>
          </p:nvSpPr>
          <p:spPr>
            <a:xfrm>
              <a:off x="901065" y="658178"/>
              <a:ext cx="4419359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FF6B35"/>
                  </a:solidFill>
                  <a:latin typeface="Arial"/>
                  <a:ea typeface="Microsoft YaHei"/>
                  <a:cs typeface="Arial"/>
                </a:rPr>
                <a:t>FDE 的核心职责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5355" y="1283018"/>
              <a:ext cx="59493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36E72"/>
                  </a:solidFill>
                  <a:latin typeface="Arial"/>
                  <a:ea typeface="Microsoft YaHei"/>
                  <a:cs typeface="Arial"/>
                </a:rPr>
                <a:t>Frontline Delivery Engineer | 连接客户价值与产品迭代的关键枢纽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952500" y="161925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38100" cap="rnd">
              <a:solidFill>
                <a:srgbClr val="FF6B35"/>
              </a:solidFill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952500" y="1809750"/>
            <a:ext cx="10287000" cy="4572000"/>
            <a:chOff x="952500" y="1809750"/>
            <a:chExt cx="10287000" cy="4572000"/>
          </a:xfrm>
        </p:grpSpPr>
        <p:grpSp>
          <p:nvGrpSpPr>
            <p:cNvPr id="25" name="Group 25"/>
            <p:cNvGrpSpPr/>
            <p:nvPr/>
          </p:nvGrpSpPr>
          <p:grpSpPr>
            <a:xfrm>
              <a:off x="952500" y="1809750"/>
              <a:ext cx="4953000" cy="2095500"/>
              <a:chOff x="952500" y="1809750"/>
              <a:chExt cx="4953000" cy="20955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952500" y="1809750"/>
                <a:ext cx="4953000" cy="2095500"/>
              </a:xfrm>
              <a:prstGeom prst="roundRect">
                <a:avLst>
                  <a:gd name="adj" fmla="val 7273"/>
                </a:avLst>
              </a:prstGeom>
              <a:solidFill>
                <a:srgbClr val="FFFFFF"/>
              </a:solidFill>
              <a:ln w="19050">
                <a:solidFill>
                  <a:srgbClr val="FFE5D9"/>
                </a:solidFill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1066800" y="2495550"/>
                <a:ext cx="723900" cy="723900"/>
              </a:xfrm>
              <a:prstGeom prst="ellipse">
                <a:avLst/>
              </a:prstGeom>
              <a:solidFill>
                <a:srgbClr val="FF6B35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317736" y="2707005"/>
                <a:ext cx="222028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000000"/>
                    </a:solidFill>
                    <a:latin typeface="Segoe UI"/>
                    <a:ea typeface="Microsoft YaHei"/>
                    <a:cs typeface="Segoe UI"/>
                  </a:rPr>
                  <a:t>🔍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977390" y="2567940"/>
                <a:ext cx="1149858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2D3436"/>
                    </a:solidFill>
                    <a:latin typeface="Arial"/>
                    <a:ea typeface="Microsoft YaHei"/>
                    <a:cs typeface="Arial"/>
                  </a:rPr>
                  <a:t>需求挖掘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985010" y="2966085"/>
                <a:ext cx="26593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36E72"/>
                    </a:solidFill>
                    <a:latin typeface="Arial"/>
                    <a:ea typeface="Microsoft YaHei"/>
                    <a:cs typeface="Arial"/>
                  </a:rPr>
                  <a:t>深入客户业务场景，识别真正痛点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6286500" y="1809750"/>
              <a:ext cx="4953000" cy="2095500"/>
              <a:chOff x="6286500" y="1809750"/>
              <a:chExt cx="4953000" cy="20955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6286500" y="1809750"/>
                <a:ext cx="4953000" cy="2095500"/>
              </a:xfrm>
              <a:prstGeom prst="roundRect">
                <a:avLst>
                  <a:gd name="adj" fmla="val 7273"/>
                </a:avLst>
              </a:prstGeom>
              <a:solidFill>
                <a:srgbClr val="FFFFFF"/>
              </a:solidFill>
              <a:ln w="19050">
                <a:solidFill>
                  <a:srgbClr val="FFE5D9"/>
                </a:solidFill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6400800" y="2495550"/>
                <a:ext cx="723900" cy="723900"/>
              </a:xfrm>
              <a:prstGeom prst="ellipse">
                <a:avLst/>
              </a:prstGeom>
              <a:solidFill>
                <a:srgbClr val="FFA500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6651736" y="2707005"/>
                <a:ext cx="222028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000000"/>
                    </a:solidFill>
                    <a:latin typeface="Segoe UI"/>
                    <a:ea typeface="Microsoft YaHei"/>
                    <a:cs typeface="Segoe UI"/>
                  </a:rPr>
                  <a:t>⚡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311390" y="2567940"/>
                <a:ext cx="1149858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2D3436"/>
                    </a:solidFill>
                    <a:latin typeface="Arial"/>
                    <a:ea typeface="Microsoft YaHei"/>
                    <a:cs typeface="Arial"/>
                  </a:rPr>
                  <a:t>快速部署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319010" y="2966085"/>
                <a:ext cx="213360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36E72"/>
                    </a:solidFill>
                    <a:latin typeface="Arial"/>
                    <a:ea typeface="Microsoft YaHei"/>
                    <a:cs typeface="Arial"/>
                  </a:rPr>
                  <a:t>在客户环境中落地解决方案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952500" y="4286250"/>
              <a:ext cx="4953000" cy="2095500"/>
              <a:chOff x="952500" y="4286250"/>
              <a:chExt cx="4953000" cy="20955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952500" y="4286250"/>
                <a:ext cx="4953000" cy="2095500"/>
              </a:xfrm>
              <a:prstGeom prst="roundRect">
                <a:avLst>
                  <a:gd name="adj" fmla="val 7273"/>
                </a:avLst>
              </a:prstGeom>
              <a:solidFill>
                <a:srgbClr val="FFFFFF"/>
              </a:solidFill>
              <a:ln w="19050">
                <a:solidFill>
                  <a:srgbClr val="FFE5D9"/>
                </a:solidFill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1066800" y="4972050"/>
                <a:ext cx="723900" cy="723900"/>
              </a:xfrm>
              <a:prstGeom prst="ellipse">
                <a:avLst/>
              </a:prstGeom>
              <a:solidFill>
                <a:srgbClr val="FF8C42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233392" y="5183505"/>
                <a:ext cx="390716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000000"/>
                    </a:solidFill>
                    <a:latin typeface="Segoe UI"/>
                    <a:ea typeface="Microsoft YaHei"/>
                    <a:cs typeface="Segoe UI"/>
                  </a:rPr>
                  <a:t>🛠️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977390" y="5044440"/>
                <a:ext cx="1149858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2D3436"/>
                    </a:solidFill>
                    <a:latin typeface="Arial"/>
                    <a:ea typeface="Microsoft YaHei"/>
                    <a:cs typeface="Arial"/>
                  </a:rPr>
                  <a:t>定制开发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985010" y="5442585"/>
                <a:ext cx="24841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36E72"/>
                    </a:solidFill>
                    <a:latin typeface="Arial"/>
                    <a:ea typeface="Microsoft YaHei"/>
                    <a:cs typeface="Arial"/>
                  </a:rPr>
                  <a:t>灵活适配，解决最后一公里问题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6286500" y="4286250"/>
              <a:ext cx="4953000" cy="2095500"/>
              <a:chOff x="6286500" y="4286250"/>
              <a:chExt cx="4953000" cy="20955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6286500" y="4286250"/>
                <a:ext cx="4953000" cy="2095500"/>
              </a:xfrm>
              <a:prstGeom prst="roundRect">
                <a:avLst>
                  <a:gd name="adj" fmla="val 7273"/>
                </a:avLst>
              </a:prstGeom>
              <a:solidFill>
                <a:srgbClr val="FFFFFF"/>
              </a:solidFill>
              <a:ln w="19050">
                <a:solidFill>
                  <a:srgbClr val="FFE5D9"/>
                </a:solidFill>
              </a:ln>
            </p:spPr>
          </p:sp>
          <p:sp>
            <p:nvSpPr>
              <p:cNvPr id="39" name="Ellipse 39"/>
              <p:cNvSpPr/>
              <p:nvPr/>
            </p:nvSpPr>
            <p:spPr>
              <a:xfrm>
                <a:off x="6400800" y="4972050"/>
                <a:ext cx="723900" cy="723900"/>
              </a:xfrm>
              <a:prstGeom prst="ellipse">
                <a:avLst/>
              </a:prstGeom>
              <a:solidFill>
                <a:srgbClr val="FF6B35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6651736" y="5183505"/>
                <a:ext cx="222028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000000"/>
                    </a:solidFill>
                    <a:latin typeface="Segoe UI"/>
                    <a:ea typeface="Microsoft YaHei"/>
                    <a:cs typeface="Segoe UI"/>
                  </a:rPr>
                  <a:t>🔄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311390" y="5044440"/>
                <a:ext cx="1149858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2D3436"/>
                    </a:solidFill>
                    <a:latin typeface="Arial"/>
                    <a:ea typeface="Microsoft YaHei"/>
                    <a:cs typeface="Arial"/>
                  </a:rPr>
                  <a:t>反馈闭环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319010" y="5442585"/>
                <a:ext cx="19583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36E72"/>
                    </a:solidFill>
                    <a:latin typeface="Arial"/>
                    <a:ea typeface="Microsoft YaHei"/>
                    <a:cs typeface="Arial"/>
                  </a:rPr>
                  <a:t>将一线经验反哺产品团队</a:t>
                </a:r>
              </a:p>
            </p:txBody>
          </p:sp>
        </p:grpSp>
      </p:grpSp>
      <p:grpSp>
        <p:nvGrpSpPr>
          <p:cNvPr id="47" name="Group 47"/>
          <p:cNvGrpSpPr/>
          <p:nvPr/>
        </p:nvGrpSpPr>
        <p:grpSpPr>
          <a:xfrm>
            <a:off x="952500" y="6572250"/>
            <a:ext cx="10300335" cy="290512"/>
            <a:chOff x="952500" y="6572250"/>
            <a:chExt cx="10300335" cy="290512"/>
          </a:xfrm>
        </p:grpSpPr>
        <p:sp>
          <p:nvSpPr>
            <p:cNvPr id="45" name="Line 45"/>
            <p:cNvSpPr/>
            <p:nvPr/>
          </p:nvSpPr>
          <p:spPr>
            <a:xfrm>
              <a:off x="952500" y="657225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9525">
              <a:solidFill>
                <a:srgbClr val="E8E8E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881122" y="6649402"/>
              <a:ext cx="3717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3 / 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/>
      <p:bldP spid="4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858250" y="-952500"/>
            <a:ext cx="4191000" cy="4191000"/>
          </a:xfrm>
          <a:prstGeom prst="ellipse">
            <a:avLst/>
          </a:prstGeom>
          <a:solidFill>
            <a:srgbClr val="FF6B35">
              <a:alpha val="6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666750" y="4095750"/>
            <a:ext cx="3619500" cy="3619500"/>
          </a:xfrm>
          <a:prstGeom prst="ellipse">
            <a:avLst/>
          </a:prstGeom>
          <a:solidFill>
            <a:srgbClr val="FFA500">
              <a:alpha val="8000"/>
            </a:srgbClr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0" y="0"/>
            <a:ext cx="2667000" cy="1714500"/>
          </a:xfrm>
          <a:custGeom>
            <a:avLst/>
            <a:gdLst/>
            <a:ahLst/>
            <a:cxnLst/>
            <a:rect l="l" t="t" r="r" b="b"/>
            <a:pathLst>
              <a:path w="2667000" h="1714500">
                <a:moveTo>
                  <a:pt x="0" y="0"/>
                </a:moveTo>
                <a:lnTo>
                  <a:pt x="2667000" y="0"/>
                </a:lnTo>
                <a:cubicBezTo>
                  <a:pt x="1778000" y="571500"/>
                  <a:pt x="889000" y="1143000"/>
                  <a:pt x="0" y="1714500"/>
                </a:cubicBezTo>
                <a:close/>
              </a:path>
            </a:pathLst>
          </a:custGeom>
          <a:solidFill>
            <a:srgbClr val="FF8C42">
              <a:alpha val="12000"/>
            </a:srgbClr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9525000" y="5143500"/>
            <a:ext cx="2667000" cy="1714500"/>
          </a:xfrm>
          <a:custGeom>
            <a:avLst/>
            <a:gdLst/>
            <a:ahLst/>
            <a:cxnLst/>
            <a:rect l="l" t="t" r="r" b="b"/>
            <a:pathLst>
              <a:path w="2667000" h="1714500">
                <a:moveTo>
                  <a:pt x="2667000" y="1714500"/>
                </a:moveTo>
                <a:lnTo>
                  <a:pt x="0" y="1714500"/>
                </a:lnTo>
                <a:cubicBezTo>
                  <a:pt x="889000" y="1143000"/>
                  <a:pt x="1778000" y="571500"/>
                  <a:pt x="2667000" y="0"/>
                </a:cubicBezTo>
                <a:close/>
              </a:path>
            </a:pathLst>
          </a:custGeom>
          <a:solidFill>
            <a:srgbClr val="FF6B35">
              <a:alpha val="5000"/>
            </a:srgbClr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0" y="0"/>
            <a:ext cx="1333500" cy="95250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95250"/>
            <a:ext cx="857250" cy="57150"/>
          </a:xfrm>
          <a:prstGeom prst="rect">
            <a:avLst/>
          </a:prstGeom>
          <a:solidFill>
            <a:srgbClr val="FFA50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2951433" y="483870"/>
            <a:ext cx="6289134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900" b="1" dirty="0">
                <a:solidFill>
                  <a:srgbClr val="FF6B35"/>
                </a:solidFill>
                <a:latin typeface="Arial"/>
                <a:ea typeface="Microsoft YaHei"/>
                <a:cs typeface="Arial"/>
              </a:rPr>
              <a:t>FDE vs 传统软件工程师</a:t>
            </a:r>
          </a:p>
        </p:txBody>
      </p:sp>
      <p:sp>
        <p:nvSpPr>
          <p:cNvPr id="10" name="Line 10"/>
          <p:cNvSpPr/>
          <p:nvPr/>
        </p:nvSpPr>
        <p:spPr>
          <a:xfrm>
            <a:off x="4953000" y="1095375"/>
            <a:ext cx="2286000" cy="9525"/>
          </a:xfrm>
          <a:custGeom>
            <a:avLst/>
            <a:gdLst/>
            <a:ahLst/>
            <a:cxnLst/>
            <a:rect l="l" t="t" r="r" b="b"/>
            <a:pathLst>
              <a:path w="2286000" h="952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38100" cap="rnd">
            <a:solidFill>
              <a:srgbClr val="FF6B35">
                <a:alpha val="30000"/>
              </a:srgbClr>
            </a:solidFill>
          </a:ln>
        </p:spPr>
      </p:sp>
      <p:grpSp>
        <p:nvGrpSpPr>
          <p:cNvPr id="20" name="Group 20"/>
          <p:cNvGrpSpPr/>
          <p:nvPr/>
        </p:nvGrpSpPr>
        <p:grpSpPr>
          <a:xfrm>
            <a:off x="952500" y="1524000"/>
            <a:ext cx="5096446" cy="4762500"/>
            <a:chOff x="952500" y="1524000"/>
            <a:chExt cx="5096446" cy="4762500"/>
          </a:xfrm>
        </p:grpSpPr>
        <p:sp>
          <p:nvSpPr>
            <p:cNvPr id="11" name="Rectangle 11"/>
            <p:cNvSpPr/>
            <p:nvPr/>
          </p:nvSpPr>
          <p:spPr>
            <a:xfrm>
              <a:off x="952500" y="1524000"/>
              <a:ext cx="4381500" cy="4762500"/>
            </a:xfrm>
            <a:prstGeom prst="roundRect">
              <a:avLst>
                <a:gd name="adj" fmla="val 4348"/>
              </a:avLst>
            </a:prstGeom>
            <a:solidFill>
              <a:srgbClr val="FFFFFF"/>
            </a:solidFill>
            <a:ln w="19050">
              <a:solidFill>
                <a:srgbClr val="E8E8E8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2743200" y="1838325"/>
              <a:ext cx="800100" cy="800100"/>
            </a:xfrm>
            <a:prstGeom prst="ellipse">
              <a:avLst/>
            </a:prstGeom>
            <a:solidFill>
              <a:srgbClr val="FFF8F0"/>
            </a:solidFill>
            <a:ln w="19050">
              <a:solidFill>
                <a:srgbClr val="FF6B35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763655" y="2092642"/>
              <a:ext cx="7591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👨‍💻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06830" y="2821305"/>
              <a:ext cx="230762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传统软件工程师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333500" y="3238500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noFill/>
            <a:ln w="38100" cap="rnd">
              <a:solidFill>
                <a:srgbClr val="FF6B3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310640" y="3568065"/>
              <a:ext cx="473830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• 聚焦产品研发，离客户远，迭代周期长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10640" y="4044315"/>
              <a:ext cx="342385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• 需求传递链条长，反馈滞后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0640" y="4520565"/>
              <a:ext cx="36867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• 侧重代码实现与内部系统架构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4591050" y="5638800"/>
              <a:ext cx="533400" cy="533400"/>
            </a:xfrm>
            <a:prstGeom prst="ellipse">
              <a:avLst/>
            </a:prstGeom>
            <a:solidFill>
              <a:srgbClr val="FFA500">
                <a:alpha val="15000"/>
              </a:srgbClr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6800850" y="1466850"/>
            <a:ext cx="5942266" cy="4819650"/>
            <a:chOff x="6800850" y="1466850"/>
            <a:chExt cx="5942266" cy="4819650"/>
          </a:xfrm>
        </p:grpSpPr>
        <p:sp>
          <p:nvSpPr>
            <p:cNvPr id="21" name="Rectangle 21"/>
            <p:cNvSpPr/>
            <p:nvPr/>
          </p:nvSpPr>
          <p:spPr>
            <a:xfrm>
              <a:off x="6858000" y="1524000"/>
              <a:ext cx="4381500" cy="4762500"/>
            </a:xfrm>
            <a:prstGeom prst="roundRect">
              <a:avLst>
                <a:gd name="adj" fmla="val 4348"/>
              </a:avLst>
            </a:prstGeom>
            <a:solidFill>
              <a:srgbClr val="FFFFFF"/>
            </a:solidFill>
            <a:ln w="28575">
              <a:solidFill>
                <a:srgbClr val="FF6B35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8648700" y="1838325"/>
              <a:ext cx="800100" cy="800100"/>
            </a:xfrm>
            <a:prstGeom prst="ellipse">
              <a:avLst/>
            </a:prstGeom>
            <a:solidFill>
              <a:srgbClr val="FFF8F0"/>
            </a:solidFill>
            <a:ln w="19050">
              <a:solidFill>
                <a:srgbClr val="FF6B35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898088" y="2092642"/>
              <a:ext cx="301323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🤝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12330" y="2821305"/>
              <a:ext cx="229152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6B35"/>
                  </a:solidFill>
                  <a:latin typeface="Arial"/>
                  <a:ea typeface="Microsoft YaHei"/>
                  <a:cs typeface="Arial"/>
                </a:rPr>
                <a:t>FDE 前线工程师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7239000" y="3238500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noFill/>
            <a:ln w="38100" cap="rnd">
              <a:solidFill>
                <a:srgbClr val="FF6B35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216140" y="3568065"/>
              <a:ext cx="552697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• 驻扎客户一线，直面真实问题，快速响应变化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16140" y="4044315"/>
              <a:ext cx="473830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D3436"/>
                  </a:solidFill>
                  <a:latin typeface="Arial"/>
                  <a:ea typeface="Microsoft YaHei"/>
                  <a:cs typeface="Arial"/>
                </a:rPr>
                <a:t>• 需要更强的沟通、咨询和业务分析能力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216140" y="4615815"/>
              <a:ext cx="359276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6B35"/>
                  </a:solidFill>
                  <a:latin typeface="Arial"/>
                  <a:ea typeface="Microsoft YaHei"/>
                  <a:cs typeface="Arial"/>
                </a:rPr>
                <a:t>🔹 角色定位：「技术翻译官」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218045" y="5013008"/>
              <a:ext cx="341566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8C42"/>
                  </a:solidFill>
                  <a:latin typeface="Arial"/>
                  <a:ea typeface="Microsoft YaHei"/>
                  <a:cs typeface="Arial"/>
                </a:rPr>
                <a:t>把客户语言精准翻译成技术方案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800850" y="1466850"/>
              <a:ext cx="495300" cy="495300"/>
            </a:xfrm>
            <a:prstGeom prst="ellipse">
              <a:avLst/>
            </a:prstGeom>
            <a:solidFill>
              <a:srgbClr val="FF6B35">
                <a:alpha val="12000"/>
              </a:srgbClr>
            </a:solidFill>
            <a:ln>
              <a:noFill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5334000" y="3333750"/>
            <a:ext cx="1524000" cy="1143000"/>
            <a:chOff x="5334000" y="3333750"/>
            <a:chExt cx="1524000" cy="1143000"/>
          </a:xfrm>
        </p:grpSpPr>
        <p:sp>
          <p:nvSpPr>
            <p:cNvPr id="32" name="Ellipse 32"/>
            <p:cNvSpPr/>
            <p:nvPr/>
          </p:nvSpPr>
          <p:spPr>
            <a:xfrm>
              <a:off x="5638800" y="3448050"/>
              <a:ext cx="914400" cy="914400"/>
            </a:xfrm>
            <a:prstGeom prst="ellipse">
              <a:avLst/>
            </a:prstGeom>
            <a:solidFill>
              <a:srgbClr val="FF6B35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877651" y="3814762"/>
              <a:ext cx="43669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VS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5334000" y="3683000"/>
              <a:ext cx="762000" cy="222250"/>
            </a:xfrm>
            <a:custGeom>
              <a:avLst/>
              <a:gdLst/>
              <a:ahLst/>
              <a:cxnLst/>
              <a:rect l="l" t="t" r="r" b="b"/>
              <a:pathLst>
                <a:path w="762000" h="222250">
                  <a:moveTo>
                    <a:pt x="0" y="222250"/>
                  </a:moveTo>
                  <a:cubicBezTo>
                    <a:pt x="254000" y="0"/>
                    <a:pt x="508000" y="0"/>
                    <a:pt x="762000" y="222250"/>
                  </a:cubicBezTo>
                </a:path>
              </a:pathLst>
            </a:custGeom>
            <a:noFill/>
            <a:ln w="28575">
              <a:solidFill>
                <a:srgbClr val="FFA500"/>
              </a:solidFill>
              <a:custDash>
                <a:ds d="200000" sp="133333"/>
              </a:custDash>
            </a:ln>
          </p:spPr>
        </p:sp>
        <p:sp>
          <p:nvSpPr>
            <p:cNvPr id="35" name="Freeform 35"/>
            <p:cNvSpPr/>
            <p:nvPr/>
          </p:nvSpPr>
          <p:spPr>
            <a:xfrm>
              <a:off x="6096000" y="3905250"/>
              <a:ext cx="762000" cy="222250"/>
            </a:xfrm>
            <a:custGeom>
              <a:avLst/>
              <a:gdLst/>
              <a:ahLst/>
              <a:cxnLst/>
              <a:rect l="l" t="t" r="r" b="b"/>
              <a:pathLst>
                <a:path w="762000" h="222250">
                  <a:moveTo>
                    <a:pt x="762000" y="0"/>
                  </a:moveTo>
                  <a:cubicBezTo>
                    <a:pt x="508000" y="222250"/>
                    <a:pt x="254000" y="222250"/>
                    <a:pt x="0" y="0"/>
                  </a:cubicBezTo>
                </a:path>
              </a:pathLst>
            </a:custGeom>
            <a:noFill/>
            <a:ln w="28575">
              <a:solidFill>
                <a:srgbClr val="FFA500"/>
              </a:solidFill>
              <a:custDash>
                <a:ds d="200000" sp="133333"/>
              </a:custDash>
            </a:ln>
          </p:spPr>
        </p:sp>
        <p:sp>
          <p:nvSpPr>
            <p:cNvPr id="36" name="Ellipse 36"/>
            <p:cNvSpPr/>
            <p:nvPr/>
          </p:nvSpPr>
          <p:spPr>
            <a:xfrm>
              <a:off x="5524500" y="3333750"/>
              <a:ext cx="1143000" cy="1143000"/>
            </a:xfrm>
            <a:prstGeom prst="ellipse">
              <a:avLst/>
            </a:prstGeom>
            <a:noFill/>
            <a:ln w="14288">
              <a:solidFill>
                <a:srgbClr val="FF6B35">
                  <a:alpha val="20000"/>
                </a:srgbClr>
              </a:solidFill>
            </a:ln>
          </p:spPr>
        </p:sp>
      </p:grpSp>
      <p:sp>
        <p:nvSpPr>
          <p:cNvPr id="38" name="TextBox 38"/>
          <p:cNvSpPr txBox="1"/>
          <p:nvPr/>
        </p:nvSpPr>
        <p:spPr>
          <a:xfrm>
            <a:off x="11020425" y="6537960"/>
            <a:ext cx="4248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4 / 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1" grpId="0"/>
      <p:bldP spid="3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8F0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FF6B35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57150" cy="6858000"/>
            </a:xfrm>
            <a:prstGeom prst="rect">
              <a:avLst/>
            </a:prstGeom>
            <a:solidFill>
              <a:srgbClr val="FF6B35">
                <a:alpha val="80000"/>
              </a:srgbClr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95250" y="-571500"/>
            <a:ext cx="12573000" cy="8096250"/>
            <a:chOff x="95250" y="-571500"/>
            <a:chExt cx="12573000" cy="8096250"/>
          </a:xfrm>
        </p:grpSpPr>
        <p:sp>
          <p:nvSpPr>
            <p:cNvPr id="6" name="Ellipse 6"/>
            <p:cNvSpPr/>
            <p:nvPr/>
          </p:nvSpPr>
          <p:spPr>
            <a:xfrm>
              <a:off x="9239250" y="-571500"/>
              <a:ext cx="3429000" cy="3429000"/>
            </a:xfrm>
            <a:prstGeom prst="ellipse">
              <a:avLst/>
            </a:prstGeom>
            <a:solidFill>
              <a:srgbClr val="FFA500">
                <a:alpha val="8000"/>
              </a:srgb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95250" y="4857750"/>
              <a:ext cx="2667000" cy="2667000"/>
            </a:xfrm>
            <a:prstGeom prst="ellipse">
              <a:avLst/>
            </a:prstGeom>
            <a:solidFill>
              <a:srgbClr val="FF8C42">
                <a:alpha val="8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144000" y="4857750"/>
              <a:ext cx="1714500" cy="1714500"/>
            </a:xfrm>
            <a:prstGeom prst="ellipse">
              <a:avLst/>
            </a:prstGeom>
            <a:solidFill>
              <a:srgbClr val="FF6B35">
                <a:alpha val="6000"/>
              </a:srgb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2000250" y="1047750"/>
              <a:ext cx="762000" cy="762000"/>
            </a:xfrm>
            <a:prstGeom prst="ellipse">
              <a:avLst/>
            </a:prstGeom>
            <a:solidFill>
              <a:srgbClr val="FFA500">
                <a:alpha val="15000"/>
              </a:srgbClr>
            </a:solidFill>
            <a:ln>
              <a:noFill/>
            </a:ln>
          </p:spPr>
        </p:sp>
        <p:sp>
          <p:nvSpPr>
            <p:cNvPr id="10" name="Polygon 10"/>
            <p:cNvSpPr/>
            <p:nvPr/>
          </p:nvSpPr>
          <p:spPr>
            <a:xfrm>
              <a:off x="11049000" y="2381250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190500" y="0"/>
                  </a:moveTo>
                  <a:lnTo>
                    <a:pt x="381000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FF8C42">
                <a:alpha val="20000"/>
              </a:srgb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762000" y="3143250"/>
              <a:ext cx="381000" cy="381000"/>
            </a:xfrm>
            <a:prstGeom prst="ellipse">
              <a:avLst/>
            </a:prstGeom>
            <a:solidFill>
              <a:srgbClr val="FF6B35">
                <a:alpha val="10000"/>
              </a:srgb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11287125" y="3667125"/>
              <a:ext cx="285750" cy="285750"/>
            </a:xfrm>
            <a:prstGeom prst="ellipse">
              <a:avLst/>
            </a:prstGeom>
            <a:solidFill>
              <a:srgbClr val="FFA500">
                <a:alpha val="12000"/>
              </a:srgb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476375" y="4524375"/>
              <a:ext cx="476250" cy="476250"/>
            </a:xfrm>
            <a:prstGeom prst="ellipse">
              <a:avLst/>
            </a:prstGeom>
            <a:solidFill>
              <a:srgbClr val="FF8C42">
                <a:alpha val="10000"/>
              </a:srgbClr>
            </a:soli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906780" y="659130"/>
            <a:ext cx="4480389" cy="912495"/>
            <a:chOff x="906780" y="659130"/>
            <a:chExt cx="4480389" cy="912495"/>
          </a:xfrm>
        </p:grpSpPr>
        <p:sp>
          <p:nvSpPr>
            <p:cNvPr id="15" name="TextBox 15"/>
            <p:cNvSpPr txBox="1"/>
            <p:nvPr/>
          </p:nvSpPr>
          <p:spPr>
            <a:xfrm>
              <a:off x="906780" y="659130"/>
              <a:ext cx="448038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F6B35"/>
                  </a:solidFill>
                  <a:latin typeface="Segoe UI"/>
                  <a:ea typeface="Microsoft YaHei"/>
                  <a:cs typeface="Segoe UI"/>
                </a:rPr>
                <a:t>FDE 必备技能图谱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33450" y="1266825"/>
              <a:ext cx="33242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D3436">
                      <a:alphaMod val="60000"/>
                    </a:srgbClr>
                  </a:solidFill>
                  <a:latin typeface="Segoe UI"/>
                  <a:ea typeface="Microsoft YaHei"/>
                  <a:cs typeface="Segoe UI"/>
                </a:rPr>
                <a:t>构建前线技术专家的核心能力矩阵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619750" y="2952750"/>
            <a:ext cx="952500" cy="952500"/>
            <a:chOff x="5619750" y="2952750"/>
            <a:chExt cx="952500" cy="952500"/>
          </a:xfrm>
        </p:grpSpPr>
        <p:sp>
          <p:nvSpPr>
            <p:cNvPr id="18" name="Ellipse 18"/>
            <p:cNvSpPr/>
            <p:nvPr/>
          </p:nvSpPr>
          <p:spPr>
            <a:xfrm>
              <a:off x="5619750" y="2952750"/>
              <a:ext cx="952500" cy="952500"/>
            </a:xfrm>
            <a:prstGeom prst="ellipse">
              <a:avLst/>
            </a:prstGeom>
            <a:solidFill>
              <a:srgbClr val="FF6B3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845412" y="3310890"/>
              <a:ext cx="50117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FDE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276600" y="3086100"/>
            <a:ext cx="5638800" cy="2590800"/>
            <a:chOff x="3276600" y="3086100"/>
            <a:chExt cx="5638800" cy="2590800"/>
          </a:xfrm>
        </p:grpSpPr>
        <p:sp>
          <p:nvSpPr>
            <p:cNvPr id="21" name="Freeform 21"/>
            <p:cNvSpPr/>
            <p:nvPr/>
          </p:nvSpPr>
          <p:spPr>
            <a:xfrm>
              <a:off x="3333750" y="3143250"/>
              <a:ext cx="2762250" cy="285750"/>
            </a:xfrm>
            <a:custGeom>
              <a:avLst/>
              <a:gdLst/>
              <a:ahLst/>
              <a:cxnLst/>
              <a:rect l="l" t="t" r="r" b="b"/>
              <a:pathLst>
                <a:path w="2762250" h="285750">
                  <a:moveTo>
                    <a:pt x="2762250" y="285750"/>
                  </a:moveTo>
                  <a:cubicBezTo>
                    <a:pt x="1841500" y="95250"/>
                    <a:pt x="920750" y="0"/>
                    <a:pt x="0" y="0"/>
                  </a:cubicBezTo>
                </a:path>
              </a:pathLst>
            </a:custGeom>
            <a:noFill/>
            <a:ln w="28575">
              <a:solidFill>
                <a:srgbClr val="FF6B35">
                  <a:alpha val="50000"/>
                </a:srgbClr>
              </a:solidFill>
              <a:prstDash val="lgDash"/>
            </a:ln>
          </p:spPr>
        </p:sp>
        <p:sp>
          <p:nvSpPr>
            <p:cNvPr id="22" name="Freeform 22"/>
            <p:cNvSpPr/>
            <p:nvPr/>
          </p:nvSpPr>
          <p:spPr>
            <a:xfrm>
              <a:off x="6096000" y="3143250"/>
              <a:ext cx="2762250" cy="285750"/>
            </a:xfrm>
            <a:custGeom>
              <a:avLst/>
              <a:gdLst/>
              <a:ahLst/>
              <a:cxnLst/>
              <a:rect l="l" t="t" r="r" b="b"/>
              <a:pathLst>
                <a:path w="2762250" h="285750">
                  <a:moveTo>
                    <a:pt x="0" y="285750"/>
                  </a:moveTo>
                  <a:cubicBezTo>
                    <a:pt x="920750" y="95250"/>
                    <a:pt x="1841500" y="0"/>
                    <a:pt x="2762250" y="0"/>
                  </a:cubicBezTo>
                </a:path>
              </a:pathLst>
            </a:custGeom>
            <a:noFill/>
            <a:ln w="28575">
              <a:solidFill>
                <a:srgbClr val="FF6B35">
                  <a:alpha val="50000"/>
                </a:srgbClr>
              </a:solidFill>
              <a:prstDash val="lgDash"/>
            </a:ln>
          </p:spPr>
        </p:sp>
        <p:sp>
          <p:nvSpPr>
            <p:cNvPr id="23" name="Freeform 23"/>
            <p:cNvSpPr/>
            <p:nvPr/>
          </p:nvSpPr>
          <p:spPr>
            <a:xfrm>
              <a:off x="3333750" y="3429000"/>
              <a:ext cx="2762250" cy="2190750"/>
            </a:xfrm>
            <a:custGeom>
              <a:avLst/>
              <a:gdLst/>
              <a:ahLst/>
              <a:cxnLst/>
              <a:rect l="l" t="t" r="r" b="b"/>
              <a:pathLst>
                <a:path w="2762250" h="2190750">
                  <a:moveTo>
                    <a:pt x="2762250" y="0"/>
                  </a:moveTo>
                  <a:cubicBezTo>
                    <a:pt x="1841500" y="1460500"/>
                    <a:pt x="920750" y="2190750"/>
                    <a:pt x="0" y="2190750"/>
                  </a:cubicBezTo>
                </a:path>
              </a:pathLst>
            </a:custGeom>
            <a:noFill/>
            <a:ln w="28575">
              <a:solidFill>
                <a:srgbClr val="FF6B35">
                  <a:alpha val="50000"/>
                </a:srgbClr>
              </a:solidFill>
              <a:prstDash val="lgDash"/>
            </a:ln>
          </p:spPr>
        </p:sp>
        <p:sp>
          <p:nvSpPr>
            <p:cNvPr id="24" name="Freeform 24"/>
            <p:cNvSpPr/>
            <p:nvPr/>
          </p:nvSpPr>
          <p:spPr>
            <a:xfrm>
              <a:off x="6096000" y="3429000"/>
              <a:ext cx="2762250" cy="2190750"/>
            </a:xfrm>
            <a:custGeom>
              <a:avLst/>
              <a:gdLst/>
              <a:ahLst/>
              <a:cxnLst/>
              <a:rect l="l" t="t" r="r" b="b"/>
              <a:pathLst>
                <a:path w="2762250" h="2190750">
                  <a:moveTo>
                    <a:pt x="0" y="0"/>
                  </a:moveTo>
                  <a:cubicBezTo>
                    <a:pt x="920750" y="1460500"/>
                    <a:pt x="1841500" y="2190750"/>
                    <a:pt x="2762250" y="2190750"/>
                  </a:cubicBezTo>
                </a:path>
              </a:pathLst>
            </a:custGeom>
            <a:noFill/>
            <a:ln w="28575">
              <a:solidFill>
                <a:srgbClr val="FF6B35">
                  <a:alpha val="50000"/>
                </a:srgbClr>
              </a:solidFill>
              <a:prstDash val="lgDash"/>
            </a:ln>
          </p:spPr>
        </p:sp>
        <p:sp>
          <p:nvSpPr>
            <p:cNvPr id="25" name="Ellipse 25"/>
            <p:cNvSpPr/>
            <p:nvPr/>
          </p:nvSpPr>
          <p:spPr>
            <a:xfrm>
              <a:off x="3276600" y="3086100"/>
              <a:ext cx="114300" cy="114300"/>
            </a:xfrm>
            <a:prstGeom prst="ellipse">
              <a:avLst/>
            </a:prstGeom>
            <a:solidFill>
              <a:srgbClr val="FF6B35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8801100" y="3086100"/>
              <a:ext cx="114300" cy="114300"/>
            </a:xfrm>
            <a:prstGeom prst="ellipse">
              <a:avLst/>
            </a:prstGeom>
            <a:solidFill>
              <a:srgbClr val="FF6B35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276600" y="5562600"/>
              <a:ext cx="114300" cy="114300"/>
            </a:xfrm>
            <a:prstGeom prst="ellipse">
              <a:avLst/>
            </a:prstGeom>
            <a:solidFill>
              <a:srgbClr val="FF6B35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8801100" y="5562600"/>
              <a:ext cx="114300" cy="114300"/>
            </a:xfrm>
            <a:prstGeom prst="ellipse">
              <a:avLst/>
            </a:prstGeom>
            <a:solidFill>
              <a:srgbClr val="FF6B35"/>
            </a:solidFill>
            <a:ln>
              <a:noFill/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952500" y="2095500"/>
            <a:ext cx="10287000" cy="4572000"/>
            <a:chOff x="952500" y="2095500"/>
            <a:chExt cx="10287000" cy="4572000"/>
          </a:xfrm>
        </p:grpSpPr>
        <p:grpSp>
          <p:nvGrpSpPr>
            <p:cNvPr id="34" name="Group 34"/>
            <p:cNvGrpSpPr/>
            <p:nvPr/>
          </p:nvGrpSpPr>
          <p:grpSpPr>
            <a:xfrm>
              <a:off x="952500" y="2095500"/>
              <a:ext cx="4762500" cy="2095500"/>
              <a:chOff x="952500" y="2095500"/>
              <a:chExt cx="4762500" cy="20955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952500" y="2095500"/>
                <a:ext cx="4762500" cy="2095500"/>
              </a:xfrm>
              <a:prstGeom prst="roundRect">
                <a:avLst>
                  <a:gd name="adj" fmla="val 7273"/>
                </a:avLst>
              </a:prstGeom>
              <a:solidFill>
                <a:srgbClr val="FFFFFF"/>
              </a:solidFill>
              <a:ln w="19050">
                <a:solidFill>
                  <a:srgbClr val="FF6B35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303020" y="2265045"/>
                <a:ext cx="253746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>
                    <a:solidFill>
                      <a:srgbClr val="000000"/>
                    </a:solidFill>
                    <a:latin typeface="Segoe UI"/>
                    <a:ea typeface="Microsoft YaHei"/>
                    <a:cs typeface="Segoe UI"/>
                  </a:rPr>
                  <a:t>💻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783080" y="2345055"/>
                <a:ext cx="1663541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2D3436"/>
                    </a:solidFill>
                    <a:latin typeface="Segoe UI"/>
                    <a:ea typeface="Microsoft YaHei"/>
                    <a:cs typeface="Segoe UI"/>
                  </a:rPr>
                  <a:t>技术硬实力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316355" y="2854642"/>
                <a:ext cx="275520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2D3436">
                        <a:alphaMod val="8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全栈开发 · 系统集成 · DevOps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6477000" y="2095500"/>
              <a:ext cx="4762500" cy="2095500"/>
              <a:chOff x="6477000" y="2095500"/>
              <a:chExt cx="4762500" cy="209550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6477000" y="2095500"/>
                <a:ext cx="4762500" cy="2095500"/>
              </a:xfrm>
              <a:prstGeom prst="roundRect">
                <a:avLst>
                  <a:gd name="adj" fmla="val 7273"/>
                </a:avLst>
              </a:prstGeom>
              <a:solidFill>
                <a:srgbClr val="FFFFFF"/>
              </a:solidFill>
              <a:ln w="19050">
                <a:solidFill>
                  <a:srgbClr val="FFA500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6827520" y="2265045"/>
                <a:ext cx="253746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>
                    <a:solidFill>
                      <a:srgbClr val="000000"/>
                    </a:solidFill>
                    <a:latin typeface="Segoe UI"/>
                    <a:ea typeface="Microsoft YaHei"/>
                    <a:cs typeface="Segoe UI"/>
                  </a:rPr>
                  <a:t>🤝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307580" y="2345055"/>
                <a:ext cx="1663541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2D3436"/>
                    </a:solidFill>
                    <a:latin typeface="Segoe UI"/>
                    <a:ea typeface="Microsoft YaHei"/>
                    <a:cs typeface="Segoe UI"/>
                  </a:rPr>
                  <a:t>业务洞察力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840855" y="2854642"/>
                <a:ext cx="285378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2D3436">
                        <a:alphaMod val="8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行业知识 · 需求分析 · 方案设计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952500" y="4572000"/>
              <a:ext cx="4762500" cy="2095500"/>
              <a:chOff x="952500" y="4572000"/>
              <a:chExt cx="4762500" cy="20955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952500" y="4572000"/>
                <a:ext cx="4762500" cy="2095500"/>
              </a:xfrm>
              <a:prstGeom prst="roundRect">
                <a:avLst>
                  <a:gd name="adj" fmla="val 7273"/>
                </a:avLst>
              </a:prstGeom>
              <a:solidFill>
                <a:srgbClr val="FFFFFF"/>
              </a:solidFill>
              <a:ln w="19050">
                <a:solidFill>
                  <a:srgbClr val="FF8C42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1303020" y="4741545"/>
                <a:ext cx="446532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>
                    <a:solidFill>
                      <a:srgbClr val="000000"/>
                    </a:solidFill>
                    <a:latin typeface="Segoe UI"/>
                    <a:ea typeface="Microsoft YaHei"/>
                    <a:cs typeface="Segoe UI"/>
                  </a:rPr>
                  <a:t>🗣️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1783080" y="4821555"/>
                <a:ext cx="1663541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2D3436"/>
                    </a:solidFill>
                    <a:latin typeface="Segoe UI"/>
                    <a:ea typeface="Microsoft YaHei"/>
                    <a:cs typeface="Segoe UI"/>
                  </a:rPr>
                  <a:t>沟通影响力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316355" y="5331142"/>
                <a:ext cx="30509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2D3436">
                        <a:alphaMod val="8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客户对话 · 跨部门协作 · 技术汇报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6477000" y="4572000"/>
              <a:ext cx="4762500" cy="2095500"/>
              <a:chOff x="6477000" y="4572000"/>
              <a:chExt cx="4762500" cy="209550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6477000" y="4572000"/>
                <a:ext cx="4762500" cy="2095500"/>
              </a:xfrm>
              <a:prstGeom prst="roundRect">
                <a:avLst>
                  <a:gd name="adj" fmla="val 7273"/>
                </a:avLst>
              </a:prstGeom>
              <a:solidFill>
                <a:srgbClr val="FFFFFF"/>
              </a:solidFill>
              <a:ln w="19050">
                <a:solidFill>
                  <a:srgbClr val="FF6B35"/>
                </a:solidFill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6827520" y="4741545"/>
                <a:ext cx="253746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>
                    <a:solidFill>
                      <a:srgbClr val="000000"/>
                    </a:solidFill>
                    <a:latin typeface="Segoe UI"/>
                    <a:ea typeface="Microsoft YaHei"/>
                    <a:cs typeface="Segoe UI"/>
                  </a:rPr>
                  <a:t>🧠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7307580" y="4821555"/>
                <a:ext cx="1663541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2D3436"/>
                    </a:solidFill>
                    <a:latin typeface="Segoe UI"/>
                    <a:ea typeface="Microsoft YaHei"/>
                    <a:cs typeface="Segoe UI"/>
                  </a:rPr>
                  <a:t>快速学习力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840855" y="5331142"/>
                <a:ext cx="262704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2D3436">
                        <a:alphaMod val="8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陌生领域快速上手 · 即战即用</a:t>
                </a:r>
              </a:p>
            </p:txBody>
          </p:sp>
        </p:grpSp>
      </p:grpSp>
      <p:grpSp>
        <p:nvGrpSpPr>
          <p:cNvPr id="53" name="Group 53"/>
          <p:cNvGrpSpPr/>
          <p:nvPr/>
        </p:nvGrpSpPr>
        <p:grpSpPr>
          <a:xfrm>
            <a:off x="952500" y="6477000"/>
            <a:ext cx="10302240" cy="352425"/>
            <a:chOff x="952500" y="6477000"/>
            <a:chExt cx="10302240" cy="352425"/>
          </a:xfrm>
        </p:grpSpPr>
        <p:sp>
          <p:nvSpPr>
            <p:cNvPr id="51" name="Line 51"/>
            <p:cNvSpPr/>
            <p:nvPr/>
          </p:nvSpPr>
          <p:spPr>
            <a:xfrm>
              <a:off x="952500" y="647700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9525">
              <a:solidFill>
                <a:srgbClr val="2D3436">
                  <a:alpha val="10000"/>
                </a:srgbClr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829925" y="6585585"/>
              <a:ext cx="42481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2D3436">
                      <a:alphaMod val="40000"/>
                    </a:srgbClr>
                  </a:solidFill>
                  <a:latin typeface="Segoe UI"/>
                  <a:ea typeface="Microsoft YaHei"/>
                  <a:cs typeface="Segoe UI"/>
                </a:rPr>
                <a:t>5 / 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9" grpId="0"/>
      <p:bldP spid="5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0" y="0"/>
            <a:ext cx="12192000" cy="6953250"/>
            <a:chOff x="0" y="0"/>
            <a:chExt cx="12192000" cy="695325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143000" cy="114300"/>
            </a:xfrm>
            <a:prstGeom prst="rect">
              <a:avLst/>
            </a:prstGeom>
            <a:solidFill>
              <a:srgbClr val="FF6B35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0096500" y="857250"/>
              <a:ext cx="1714500" cy="1714500"/>
            </a:xfrm>
            <a:prstGeom prst="ellipse">
              <a:avLst/>
            </a:prstGeom>
            <a:solidFill>
              <a:srgbClr val="FFA500">
                <a:alpha val="1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190500" y="4857750"/>
              <a:ext cx="2095500" cy="2095500"/>
            </a:xfrm>
            <a:prstGeom prst="ellipse">
              <a:avLst/>
            </a:prstGeom>
            <a:solidFill>
              <a:srgbClr val="FF8C42">
                <a:alpha val="10000"/>
              </a:srgbClr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4762500" cy="762000"/>
            </a:xfrm>
            <a:custGeom>
              <a:avLst/>
              <a:gdLst/>
              <a:ahLst/>
              <a:cxnLst/>
              <a:rect l="l" t="t" r="r" b="b"/>
              <a:pathLst>
                <a:path w="4762500" h="762000">
                  <a:moveTo>
                    <a:pt x="0" y="0"/>
                  </a:moveTo>
                  <a:cubicBezTo>
                    <a:pt x="1587500" y="762000"/>
                    <a:pt x="3175000" y="762000"/>
                    <a:pt x="4762500" y="0"/>
                  </a:cubicBezTo>
                </a:path>
              </a:pathLst>
            </a:custGeom>
            <a:noFill/>
            <a:ln w="28575">
              <a:solidFill>
                <a:srgbClr val="FF6B35">
                  <a:alpha val="15000"/>
                </a:srgbClr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7429500" y="5873750"/>
              <a:ext cx="4762500" cy="984250"/>
            </a:xfrm>
            <a:custGeom>
              <a:avLst/>
              <a:gdLst/>
              <a:ahLst/>
              <a:cxnLst/>
              <a:rect l="l" t="t" r="r" b="b"/>
              <a:pathLst>
                <a:path w="4762500" h="984250">
                  <a:moveTo>
                    <a:pt x="0" y="984250"/>
                  </a:moveTo>
                  <a:cubicBezTo>
                    <a:pt x="762000" y="222250"/>
                    <a:pt x="2349500" y="0"/>
                    <a:pt x="4762500" y="317500"/>
                  </a:cubicBezTo>
                </a:path>
              </a:pathLst>
            </a:custGeom>
            <a:noFill/>
            <a:ln w="28575">
              <a:solidFill>
                <a:srgbClr val="FF8C42">
                  <a:alpha val="15000"/>
                </a:srgbClr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914400" y="438150"/>
              <a:ext cx="76200" cy="76200"/>
            </a:xfrm>
            <a:prstGeom prst="ellipse">
              <a:avLst/>
            </a:prstGeom>
            <a:solidFill>
              <a:srgbClr val="FF6B35">
                <a:alpha val="60000"/>
              </a:srgb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1372850" y="6134100"/>
              <a:ext cx="114300" cy="114300"/>
            </a:xfrm>
            <a:prstGeom prst="ellipse">
              <a:avLst/>
            </a:prstGeom>
            <a:solidFill>
              <a:srgbClr val="FFA500">
                <a:alpha val="50000"/>
              </a:srgbClr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906780" y="659130"/>
            <a:ext cx="4480389" cy="864870"/>
            <a:chOff x="906780" y="659130"/>
            <a:chExt cx="4480389" cy="864870"/>
          </a:xfrm>
        </p:grpSpPr>
        <p:sp>
          <p:nvSpPr>
            <p:cNvPr id="11" name="TextBox 11"/>
            <p:cNvSpPr txBox="1"/>
            <p:nvPr/>
          </p:nvSpPr>
          <p:spPr>
            <a:xfrm>
              <a:off x="906780" y="659130"/>
              <a:ext cx="448038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F6B35"/>
                  </a:solidFill>
                  <a:latin typeface="Segoe UI"/>
                  <a:ea typeface="Microsoft YaHei"/>
                  <a:cs typeface="Segoe UI"/>
                </a:rPr>
                <a:t>FDE 的工作全流程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33450" y="1219200"/>
              <a:ext cx="33242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D3436">
                      <a:alphaMod val="70000"/>
                    </a:srgbClr>
                  </a:solidFill>
                  <a:latin typeface="Segoe UI"/>
                  <a:ea typeface="Microsoft YaHei"/>
                  <a:cs typeface="Segoe UI"/>
                </a:rPr>
                <a:t>从需求洞察到价值交付的闭环旅程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847850" y="2381250"/>
            <a:ext cx="8115300" cy="571500"/>
            <a:chOff x="1847850" y="2381250"/>
            <a:chExt cx="8115300" cy="571500"/>
          </a:xfrm>
        </p:grpSpPr>
        <p:sp>
          <p:nvSpPr>
            <p:cNvPr id="14" name="Freeform 14"/>
            <p:cNvSpPr/>
            <p:nvPr/>
          </p:nvSpPr>
          <p:spPr>
            <a:xfrm>
              <a:off x="1905000" y="2381250"/>
              <a:ext cx="8001000" cy="571500"/>
            </a:xfrm>
            <a:custGeom>
              <a:avLst/>
              <a:gdLst/>
              <a:ahLst/>
              <a:cxnLst/>
              <a:rect l="l" t="t" r="r" b="b"/>
              <a:pathLst>
                <a:path w="8001000" h="571500">
                  <a:moveTo>
                    <a:pt x="0" y="285750"/>
                  </a:moveTo>
                  <a:cubicBezTo>
                    <a:pt x="1333500" y="0"/>
                    <a:pt x="1333500" y="571500"/>
                    <a:pt x="2667000" y="285750"/>
                  </a:cubicBezTo>
                  <a:cubicBezTo>
                    <a:pt x="4000500" y="0"/>
                    <a:pt x="4000500" y="571500"/>
                    <a:pt x="5334000" y="285750"/>
                  </a:cubicBezTo>
                  <a:cubicBezTo>
                    <a:pt x="6667500" y="0"/>
                    <a:pt x="6667500" y="571500"/>
                    <a:pt x="8001000" y="285750"/>
                  </a:cubicBezTo>
                </a:path>
              </a:pathLst>
            </a:custGeom>
            <a:noFill/>
            <a:ln w="38100">
              <a:solidFill>
                <a:srgbClr val="FF6B35">
                  <a:alpha val="50000"/>
                </a:srgbClr>
              </a:solidFill>
              <a:custDash>
                <a:ds d="300000" sp="200000"/>
              </a:custDash>
            </a:ln>
          </p:spPr>
        </p:sp>
        <p:sp>
          <p:nvSpPr>
            <p:cNvPr id="15" name="Ellipse 15"/>
            <p:cNvSpPr/>
            <p:nvPr/>
          </p:nvSpPr>
          <p:spPr>
            <a:xfrm>
              <a:off x="1847850" y="2609850"/>
              <a:ext cx="114300" cy="114300"/>
            </a:xfrm>
            <a:prstGeom prst="ellipse">
              <a:avLst/>
            </a:prstGeom>
            <a:solidFill>
              <a:srgbClr val="FF6B35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4514850" y="2609850"/>
              <a:ext cx="114300" cy="114300"/>
            </a:xfrm>
            <a:prstGeom prst="ellipse">
              <a:avLst/>
            </a:prstGeom>
            <a:solidFill>
              <a:srgbClr val="FF6B35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7181850" y="2609850"/>
              <a:ext cx="114300" cy="114300"/>
            </a:xfrm>
            <a:prstGeom prst="ellipse">
              <a:avLst/>
            </a:prstGeom>
            <a:solidFill>
              <a:srgbClr val="FF6B35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9848850" y="2609850"/>
              <a:ext cx="114300" cy="114300"/>
            </a:xfrm>
            <a:prstGeom prst="ellipse">
              <a:avLst/>
            </a:prstGeom>
            <a:solidFill>
              <a:srgbClr val="FF6B35"/>
            </a:solidFill>
            <a:ln>
              <a:noFill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1047750" y="2324100"/>
            <a:ext cx="1714500" cy="2933700"/>
            <a:chOff x="1047750" y="2324100"/>
            <a:chExt cx="1714500" cy="2933700"/>
          </a:xfrm>
        </p:grpSpPr>
        <p:sp>
          <p:nvSpPr>
            <p:cNvPr id="20" name="Ellipse 20"/>
            <p:cNvSpPr/>
            <p:nvPr/>
          </p:nvSpPr>
          <p:spPr>
            <a:xfrm>
              <a:off x="1562100" y="2324100"/>
              <a:ext cx="685800" cy="685800"/>
            </a:xfrm>
            <a:prstGeom prst="ellipse">
              <a:avLst/>
            </a:prstGeom>
            <a:solidFill>
              <a:srgbClr val="FF6B3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776507" y="2555558"/>
              <a:ext cx="25698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P1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41087" y="3092768"/>
              <a:ext cx="7278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D3436"/>
                  </a:solidFill>
                  <a:latin typeface="Segoe UI"/>
                  <a:ea typeface="Microsoft YaHei"/>
                  <a:cs typeface="Segoe UI"/>
                </a:rPr>
                <a:t>Phase 1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047750" y="3619500"/>
              <a:ext cx="1714500" cy="4191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19050">
              <a:solidFill>
                <a:srgbClr val="FF8C42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464754" y="3747135"/>
              <a:ext cx="8804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D3436"/>
                  </a:solidFill>
                  <a:latin typeface="Segoe UI"/>
                  <a:ea typeface="Microsoft YaHei"/>
                  <a:cs typeface="Segoe UI"/>
                </a:rPr>
                <a:t>🤝 客户对接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1905000" y="40386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FF6B3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1857375" y="4114800"/>
              <a:ext cx="95250" cy="76200"/>
            </a:xfrm>
            <a:custGeom>
              <a:avLst/>
              <a:gdLst/>
              <a:ahLst/>
              <a:cxnLst/>
              <a:rect l="l" t="t" r="r" b="b"/>
              <a:pathLst>
                <a:path w="95250" h="76200">
                  <a:moveTo>
                    <a:pt x="0" y="0"/>
                  </a:moveTo>
                  <a:lnTo>
                    <a:pt x="47625" y="76200"/>
                  </a:lnTo>
                  <a:lnTo>
                    <a:pt x="95250" y="0"/>
                  </a:lnTo>
                </a:path>
              </a:pathLst>
            </a:custGeom>
            <a:noFill/>
            <a:ln w="19050">
              <a:solidFill>
                <a:srgbClr val="FF6B35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047750" y="4229100"/>
              <a:ext cx="1714500" cy="4191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19050">
              <a:solidFill>
                <a:srgbClr val="FF8C4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464754" y="4356735"/>
              <a:ext cx="8804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D3436"/>
                  </a:solidFill>
                  <a:latin typeface="Segoe UI"/>
                  <a:ea typeface="Microsoft YaHei"/>
                  <a:cs typeface="Segoe UI"/>
                </a:rPr>
                <a:t>🔍 需求调研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1905000" y="46482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FF6B3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1857375" y="4724400"/>
              <a:ext cx="95250" cy="76200"/>
            </a:xfrm>
            <a:custGeom>
              <a:avLst/>
              <a:gdLst/>
              <a:ahLst/>
              <a:cxnLst/>
              <a:rect l="l" t="t" r="r" b="b"/>
              <a:pathLst>
                <a:path w="95250" h="76200">
                  <a:moveTo>
                    <a:pt x="0" y="0"/>
                  </a:moveTo>
                  <a:lnTo>
                    <a:pt x="47625" y="76200"/>
                  </a:lnTo>
                  <a:lnTo>
                    <a:pt x="95250" y="0"/>
                  </a:lnTo>
                </a:path>
              </a:pathLst>
            </a:custGeom>
            <a:noFill/>
            <a:ln w="19050">
              <a:solidFill>
                <a:srgbClr val="FF6B35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1047750" y="4838700"/>
              <a:ext cx="1714500" cy="4191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19050">
              <a:solidFill>
                <a:srgbClr val="FF8C42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464754" y="4966335"/>
              <a:ext cx="8804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D3436"/>
                  </a:solidFill>
                  <a:latin typeface="Segoe UI"/>
                  <a:ea typeface="Microsoft YaHei"/>
                  <a:cs typeface="Segoe UI"/>
                </a:rPr>
                <a:t>💡 痛点识别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3714750" y="2324100"/>
            <a:ext cx="1714500" cy="2933700"/>
            <a:chOff x="3714750" y="2324100"/>
            <a:chExt cx="1714500" cy="2933700"/>
          </a:xfrm>
        </p:grpSpPr>
        <p:sp>
          <p:nvSpPr>
            <p:cNvPr id="34" name="Ellipse 34"/>
            <p:cNvSpPr/>
            <p:nvPr/>
          </p:nvSpPr>
          <p:spPr>
            <a:xfrm>
              <a:off x="4229100" y="2324100"/>
              <a:ext cx="685800" cy="685800"/>
            </a:xfrm>
            <a:prstGeom prst="ellipse">
              <a:avLst/>
            </a:prstGeom>
            <a:solidFill>
              <a:srgbClr val="FF6B35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411878" y="2555558"/>
              <a:ext cx="32024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P2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182208" y="3092768"/>
              <a:ext cx="77958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D3436"/>
                  </a:solidFill>
                  <a:latin typeface="Segoe UI"/>
                  <a:ea typeface="Microsoft YaHei"/>
                  <a:cs typeface="Segoe UI"/>
                </a:rPr>
                <a:t>Phase 2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714750" y="3619500"/>
              <a:ext cx="1714500" cy="4191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19050">
              <a:solidFill>
                <a:srgbClr val="FF8C42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131754" y="3747135"/>
              <a:ext cx="8804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D3436"/>
                  </a:solidFill>
                  <a:latin typeface="Segoe UI"/>
                  <a:ea typeface="Microsoft YaHei"/>
                  <a:cs typeface="Segoe UI"/>
                </a:rPr>
                <a:t>📐 方案设计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4572000" y="40386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FF6B35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4524375" y="4114800"/>
              <a:ext cx="95250" cy="76200"/>
            </a:xfrm>
            <a:custGeom>
              <a:avLst/>
              <a:gdLst/>
              <a:ahLst/>
              <a:cxnLst/>
              <a:rect l="l" t="t" r="r" b="b"/>
              <a:pathLst>
                <a:path w="95250" h="76200">
                  <a:moveTo>
                    <a:pt x="0" y="0"/>
                  </a:moveTo>
                  <a:lnTo>
                    <a:pt x="47625" y="76200"/>
                  </a:lnTo>
                  <a:lnTo>
                    <a:pt x="95250" y="0"/>
                  </a:lnTo>
                </a:path>
              </a:pathLst>
            </a:custGeom>
            <a:noFill/>
            <a:ln w="19050">
              <a:solidFill>
                <a:srgbClr val="FF6B35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3714750" y="4229100"/>
              <a:ext cx="1714500" cy="4191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19050">
              <a:solidFill>
                <a:srgbClr val="FF8C42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131754" y="4356735"/>
              <a:ext cx="8804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D3436"/>
                  </a:solidFill>
                  <a:latin typeface="Segoe UI"/>
                  <a:ea typeface="Microsoft YaHei"/>
                  <a:cs typeface="Segoe UI"/>
                </a:rPr>
                <a:t>🧪 原型验证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4572000" y="46482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FF6B35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4524375" y="4724400"/>
              <a:ext cx="95250" cy="76200"/>
            </a:xfrm>
            <a:custGeom>
              <a:avLst/>
              <a:gdLst/>
              <a:ahLst/>
              <a:cxnLst/>
              <a:rect l="l" t="t" r="r" b="b"/>
              <a:pathLst>
                <a:path w="95250" h="76200">
                  <a:moveTo>
                    <a:pt x="0" y="0"/>
                  </a:moveTo>
                  <a:lnTo>
                    <a:pt x="47625" y="76200"/>
                  </a:lnTo>
                  <a:lnTo>
                    <a:pt x="95250" y="0"/>
                  </a:lnTo>
                </a:path>
              </a:pathLst>
            </a:custGeom>
            <a:noFill/>
            <a:ln w="19050">
              <a:solidFill>
                <a:srgbClr val="FF6B35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3714750" y="4838700"/>
              <a:ext cx="1714500" cy="4191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19050">
              <a:solidFill>
                <a:srgbClr val="FF8C42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131754" y="4966335"/>
              <a:ext cx="8804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D3436"/>
                  </a:solidFill>
                  <a:latin typeface="Segoe UI"/>
                  <a:ea typeface="Microsoft YaHei"/>
                  <a:cs typeface="Segoe UI"/>
                </a:rPr>
                <a:t>🚀 快速迭代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381750" y="2324100"/>
            <a:ext cx="1714500" cy="2933700"/>
            <a:chOff x="6381750" y="2324100"/>
            <a:chExt cx="1714500" cy="2933700"/>
          </a:xfrm>
        </p:grpSpPr>
        <p:sp>
          <p:nvSpPr>
            <p:cNvPr id="48" name="Ellipse 48"/>
            <p:cNvSpPr/>
            <p:nvPr/>
          </p:nvSpPr>
          <p:spPr>
            <a:xfrm>
              <a:off x="6896100" y="2324100"/>
              <a:ext cx="685800" cy="685800"/>
            </a:xfrm>
            <a:prstGeom prst="ellipse">
              <a:avLst/>
            </a:prstGeom>
            <a:solidFill>
              <a:srgbClr val="FF6B35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078878" y="2555558"/>
              <a:ext cx="32024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P3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849208" y="3092768"/>
              <a:ext cx="77958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D3436"/>
                  </a:solidFill>
                  <a:latin typeface="Segoe UI"/>
                  <a:ea typeface="Microsoft YaHei"/>
                  <a:cs typeface="Segoe UI"/>
                </a:rPr>
                <a:t>Phase 3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381750" y="3619500"/>
              <a:ext cx="1714500" cy="4191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19050">
              <a:solidFill>
                <a:srgbClr val="FF8C42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750558" y="3747135"/>
              <a:ext cx="97688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D3436"/>
                  </a:solidFill>
                  <a:latin typeface="Segoe UI"/>
                  <a:ea typeface="Microsoft YaHei"/>
                  <a:cs typeface="Segoe UI"/>
                </a:rPr>
                <a:t>🛠️ 现场部署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7239000" y="40386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FF6B35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7191375" y="4114800"/>
              <a:ext cx="95250" cy="76200"/>
            </a:xfrm>
            <a:custGeom>
              <a:avLst/>
              <a:gdLst/>
              <a:ahLst/>
              <a:cxnLst/>
              <a:rect l="l" t="t" r="r" b="b"/>
              <a:pathLst>
                <a:path w="95250" h="76200">
                  <a:moveTo>
                    <a:pt x="0" y="0"/>
                  </a:moveTo>
                  <a:lnTo>
                    <a:pt x="47625" y="76200"/>
                  </a:lnTo>
                  <a:lnTo>
                    <a:pt x="95250" y="0"/>
                  </a:lnTo>
                </a:path>
              </a:pathLst>
            </a:custGeom>
            <a:noFill/>
            <a:ln w="19050">
              <a:solidFill>
                <a:srgbClr val="FF6B35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381750" y="4229100"/>
              <a:ext cx="1714500" cy="4191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19050">
              <a:solidFill>
                <a:srgbClr val="FF8C42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798754" y="4356735"/>
              <a:ext cx="8804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D3436"/>
                  </a:solidFill>
                  <a:latin typeface="Segoe UI"/>
                  <a:ea typeface="Microsoft YaHei"/>
                  <a:cs typeface="Segoe UI"/>
                </a:rPr>
                <a:t>🔗 系统集成</a:t>
              </a:r>
            </a:p>
          </p:txBody>
        </p:sp>
        <p:sp>
          <p:nvSpPr>
            <p:cNvPr id="57" name="Freeform 57"/>
            <p:cNvSpPr/>
            <p:nvPr/>
          </p:nvSpPr>
          <p:spPr>
            <a:xfrm>
              <a:off x="7239000" y="46482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FF6B35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7191375" y="4724400"/>
              <a:ext cx="95250" cy="76200"/>
            </a:xfrm>
            <a:custGeom>
              <a:avLst/>
              <a:gdLst/>
              <a:ahLst/>
              <a:cxnLst/>
              <a:rect l="l" t="t" r="r" b="b"/>
              <a:pathLst>
                <a:path w="95250" h="76200">
                  <a:moveTo>
                    <a:pt x="0" y="0"/>
                  </a:moveTo>
                  <a:lnTo>
                    <a:pt x="47625" y="76200"/>
                  </a:lnTo>
                  <a:lnTo>
                    <a:pt x="95250" y="0"/>
                  </a:lnTo>
                </a:path>
              </a:pathLst>
            </a:custGeom>
            <a:noFill/>
            <a:ln w="19050">
              <a:solidFill>
                <a:srgbClr val="FF6B35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381750" y="4838700"/>
              <a:ext cx="1714500" cy="4191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19050">
              <a:solidFill>
                <a:srgbClr val="FF8C42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798754" y="4966335"/>
              <a:ext cx="8804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D3436"/>
                  </a:solidFill>
                  <a:latin typeface="Segoe UI"/>
                  <a:ea typeface="Microsoft YaHei"/>
                  <a:cs typeface="Segoe UI"/>
                </a:rPr>
                <a:t>🌊 数据打通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9048750" y="2324100"/>
            <a:ext cx="1714500" cy="2933700"/>
            <a:chOff x="9048750" y="2324100"/>
            <a:chExt cx="1714500" cy="2933700"/>
          </a:xfrm>
        </p:grpSpPr>
        <p:sp>
          <p:nvSpPr>
            <p:cNvPr id="62" name="Ellipse 62"/>
            <p:cNvSpPr/>
            <p:nvPr/>
          </p:nvSpPr>
          <p:spPr>
            <a:xfrm>
              <a:off x="9563100" y="2324100"/>
              <a:ext cx="685800" cy="685800"/>
            </a:xfrm>
            <a:prstGeom prst="ellipse">
              <a:avLst/>
            </a:prstGeom>
            <a:solidFill>
              <a:srgbClr val="FF6B35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745878" y="2555558"/>
              <a:ext cx="32024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P4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516208" y="3092768"/>
              <a:ext cx="77958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D3436"/>
                  </a:solidFill>
                  <a:latin typeface="Segoe UI"/>
                  <a:ea typeface="Microsoft YaHei"/>
                  <a:cs typeface="Segoe UI"/>
                </a:rPr>
                <a:t>Phase 4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9048750" y="3619500"/>
              <a:ext cx="1714500" cy="4191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19050">
              <a:solidFill>
                <a:srgbClr val="FF8C42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465754" y="3747135"/>
              <a:ext cx="8804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D3436"/>
                  </a:solidFill>
                  <a:latin typeface="Segoe UI"/>
                  <a:ea typeface="Microsoft YaHei"/>
                  <a:cs typeface="Segoe UI"/>
                </a:rPr>
                <a:t>🎓 交付培训</a:t>
              </a:r>
            </a:p>
          </p:txBody>
        </p:sp>
        <p:sp>
          <p:nvSpPr>
            <p:cNvPr id="67" name="Freeform 67"/>
            <p:cNvSpPr/>
            <p:nvPr/>
          </p:nvSpPr>
          <p:spPr>
            <a:xfrm>
              <a:off x="9906000" y="40386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FF6B35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9858375" y="4114800"/>
              <a:ext cx="95250" cy="76200"/>
            </a:xfrm>
            <a:custGeom>
              <a:avLst/>
              <a:gdLst/>
              <a:ahLst/>
              <a:cxnLst/>
              <a:rect l="l" t="t" r="r" b="b"/>
              <a:pathLst>
                <a:path w="95250" h="76200">
                  <a:moveTo>
                    <a:pt x="0" y="0"/>
                  </a:moveTo>
                  <a:lnTo>
                    <a:pt x="47625" y="76200"/>
                  </a:lnTo>
                  <a:lnTo>
                    <a:pt x="95250" y="0"/>
                  </a:lnTo>
                </a:path>
              </a:pathLst>
            </a:custGeom>
            <a:noFill/>
            <a:ln w="19050">
              <a:solidFill>
                <a:srgbClr val="FF6B35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9048750" y="4229100"/>
              <a:ext cx="1714500" cy="4191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19050">
              <a:solidFill>
                <a:srgbClr val="FF8C42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465754" y="4356735"/>
              <a:ext cx="8804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D3436"/>
                  </a:solidFill>
                  <a:latin typeface="Segoe UI"/>
                  <a:ea typeface="Microsoft YaHei"/>
                  <a:cs typeface="Segoe UI"/>
                </a:rPr>
                <a:t>📊 效果追踪</a:t>
              </a:r>
            </a:p>
          </p:txBody>
        </p:sp>
        <p:sp>
          <p:nvSpPr>
            <p:cNvPr id="71" name="Freeform 71"/>
            <p:cNvSpPr/>
            <p:nvPr/>
          </p:nvSpPr>
          <p:spPr>
            <a:xfrm>
              <a:off x="9906000" y="46482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FF6B35"/>
              </a:solidFill>
            </a:ln>
          </p:spPr>
        </p:sp>
        <p:sp>
          <p:nvSpPr>
            <p:cNvPr id="72" name="Freeform 72"/>
            <p:cNvSpPr/>
            <p:nvPr/>
          </p:nvSpPr>
          <p:spPr>
            <a:xfrm>
              <a:off x="9858375" y="4724400"/>
              <a:ext cx="95250" cy="76200"/>
            </a:xfrm>
            <a:custGeom>
              <a:avLst/>
              <a:gdLst/>
              <a:ahLst/>
              <a:cxnLst/>
              <a:rect l="l" t="t" r="r" b="b"/>
              <a:pathLst>
                <a:path w="95250" h="76200">
                  <a:moveTo>
                    <a:pt x="0" y="0"/>
                  </a:moveTo>
                  <a:lnTo>
                    <a:pt x="47625" y="76200"/>
                  </a:lnTo>
                  <a:lnTo>
                    <a:pt x="95250" y="0"/>
                  </a:lnTo>
                </a:path>
              </a:pathLst>
            </a:custGeom>
            <a:noFill/>
            <a:ln w="19050">
              <a:solidFill>
                <a:srgbClr val="FF6B35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9048750" y="4838700"/>
              <a:ext cx="1714500" cy="419100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19050">
              <a:solidFill>
                <a:srgbClr val="FF8C42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417558" y="4966335"/>
              <a:ext cx="97688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D3436"/>
                  </a:solidFill>
                  <a:latin typeface="Segoe UI"/>
                  <a:ea typeface="Microsoft YaHei"/>
                  <a:cs typeface="Segoe UI"/>
                </a:rPr>
                <a:t>♻️ 持续优化</a:t>
              </a:r>
            </a:p>
          </p:txBody>
        </p:sp>
      </p:grpSp>
      <p:sp>
        <p:nvSpPr>
          <p:cNvPr id="76" name="TextBox 76"/>
          <p:cNvSpPr txBox="1"/>
          <p:nvPr/>
        </p:nvSpPr>
        <p:spPr>
          <a:xfrm>
            <a:off x="11452622" y="6458902"/>
            <a:ext cx="3717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2D3436">
                    <a:alphaMod val="50000"/>
                  </a:srgbClr>
                </a:solidFill>
                <a:latin typeface="Segoe UI"/>
                <a:ea typeface="Microsoft YaHei"/>
                <a:cs typeface="Segoe UI"/>
              </a:rPr>
              <a:t>6 / 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27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9" grpId="0"/>
      <p:bldP spid="33" grpId="0"/>
      <p:bldP spid="47" grpId="0"/>
      <p:bldP spid="61" grpId="0"/>
      <p:bldP spid="7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8858250" y="-381000"/>
            <a:ext cx="4191000" cy="4191000"/>
          </a:xfrm>
          <a:prstGeom prst="ellipse">
            <a:avLst/>
          </a:prstGeom>
          <a:solidFill>
            <a:srgbClr val="FF6B35">
              <a:alpha val="6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-1714500" y="3429000"/>
            <a:ext cx="4953000" cy="4953000"/>
          </a:xfrm>
          <a:prstGeom prst="ellipse">
            <a:avLst/>
          </a:prstGeom>
          <a:solidFill>
            <a:srgbClr val="FFA500">
              <a:alpha val="5000"/>
            </a:srgbClr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0" y="3333750"/>
            <a:ext cx="12192000" cy="1873250"/>
          </a:xfrm>
          <a:custGeom>
            <a:avLst/>
            <a:gdLst/>
            <a:ahLst/>
            <a:cxnLst/>
            <a:rect l="l" t="t" r="r" b="b"/>
            <a:pathLst>
              <a:path w="12192000" h="1873250">
                <a:moveTo>
                  <a:pt x="0" y="666750"/>
                </a:moveTo>
                <a:cubicBezTo>
                  <a:pt x="2222500" y="412750"/>
                  <a:pt x="4445000" y="603250"/>
                  <a:pt x="6667500" y="1238250"/>
                </a:cubicBezTo>
                <a:cubicBezTo>
                  <a:pt x="8890000" y="1873250"/>
                  <a:pt x="10731500" y="1460500"/>
                  <a:pt x="12192000" y="0"/>
                </a:cubicBezTo>
              </a:path>
            </a:pathLst>
          </a:custGeom>
          <a:noFill/>
          <a:ln w="28575">
            <a:solidFill>
              <a:srgbClr val="FF8C42">
                <a:alpha val="25000"/>
              </a:srgbClr>
            </a:solidFill>
          </a:ln>
        </p:spPr>
      </p:sp>
      <p:sp>
        <p:nvSpPr>
          <p:cNvPr id="7" name="Freeform 7"/>
          <p:cNvSpPr/>
          <p:nvPr/>
        </p:nvSpPr>
        <p:spPr>
          <a:xfrm>
            <a:off x="952500" y="762000"/>
            <a:ext cx="4762500" cy="508000"/>
          </a:xfrm>
          <a:custGeom>
            <a:avLst/>
            <a:gdLst/>
            <a:ahLst/>
            <a:cxnLst/>
            <a:rect l="l" t="t" r="r" b="b"/>
            <a:pathLst>
              <a:path w="4762500" h="508000">
                <a:moveTo>
                  <a:pt x="0" y="190500"/>
                </a:moveTo>
                <a:cubicBezTo>
                  <a:pt x="1905000" y="508000"/>
                  <a:pt x="3492500" y="444500"/>
                  <a:pt x="4762500" y="0"/>
                </a:cubicBezTo>
              </a:path>
            </a:pathLst>
          </a:custGeom>
          <a:noFill/>
          <a:ln w="19050">
            <a:solidFill>
              <a:srgbClr val="FF6B35">
                <a:alpha val="15000"/>
              </a:srgbClr>
            </a:solidFill>
          </a:ln>
        </p:spPr>
      </p:sp>
      <p:grpSp>
        <p:nvGrpSpPr>
          <p:cNvPr id="11" name="Group 11"/>
          <p:cNvGrpSpPr/>
          <p:nvPr/>
        </p:nvGrpSpPr>
        <p:grpSpPr>
          <a:xfrm>
            <a:off x="906780" y="611505"/>
            <a:ext cx="5032458" cy="902970"/>
            <a:chOff x="906780" y="611505"/>
            <a:chExt cx="5032458" cy="902970"/>
          </a:xfrm>
        </p:grpSpPr>
        <p:sp>
          <p:nvSpPr>
            <p:cNvPr id="8" name="TextBox 8"/>
            <p:cNvSpPr txBox="1"/>
            <p:nvPr/>
          </p:nvSpPr>
          <p:spPr>
            <a:xfrm>
              <a:off x="906780" y="611505"/>
              <a:ext cx="5032458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F6B35"/>
                  </a:solidFill>
                  <a:latin typeface="Segoe UI"/>
                  <a:ea typeface="Microsoft YaHei"/>
                  <a:cs typeface="Segoe UI"/>
                </a:rPr>
                <a:t>FDE 的职业发展路径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33450" y="1171575"/>
              <a:ext cx="31708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D3436"/>
                  </a:solidFill>
                  <a:latin typeface="Segoe UI"/>
                  <a:ea typeface="Microsoft YaHei"/>
                  <a:cs typeface="Segoe UI"/>
                </a:rPr>
                <a:t>前线实战 · 多维跃迁 · 长期主义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52500" y="1476375"/>
              <a:ext cx="571500" cy="38100"/>
            </a:xfrm>
            <a:prstGeom prst="roundRect">
              <a:avLst>
                <a:gd name="adj" fmla="val 50000"/>
              </a:avLst>
            </a:prstGeom>
            <a:solidFill>
              <a:srgbClr val="FFA500"/>
            </a:soli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1485900" y="1676400"/>
            <a:ext cx="2615324" cy="3695700"/>
            <a:chOff x="1485900" y="1676400"/>
            <a:chExt cx="2615324" cy="3695700"/>
          </a:xfrm>
        </p:grpSpPr>
        <p:sp>
          <p:nvSpPr>
            <p:cNvPr id="12" name="Freeform 12"/>
            <p:cNvSpPr/>
            <p:nvPr/>
          </p:nvSpPr>
          <p:spPr>
            <a:xfrm>
              <a:off x="1905000" y="2095500"/>
              <a:ext cx="9525" cy="3143250"/>
            </a:xfrm>
            <a:custGeom>
              <a:avLst/>
              <a:gdLst/>
              <a:ahLst/>
              <a:cxnLst/>
              <a:rect l="l" t="t" r="r" b="b"/>
              <a:pathLst>
                <a:path w="9525" h="3143250">
                  <a:moveTo>
                    <a:pt x="0" y="0"/>
                  </a:moveTo>
                  <a:lnTo>
                    <a:pt x="0" y="3143250"/>
                  </a:lnTo>
                </a:path>
              </a:pathLst>
            </a:custGeom>
            <a:solidFill>
              <a:srgbClr val="000000">
                <a:alpha val="50000"/>
              </a:srgbClr>
            </a:solidFill>
            <a:ln w="57150" cap="rnd">
              <a:solidFill>
                <a:srgbClr val="FF6B35">
                  <a:alpha val="50000"/>
                </a:srgbClr>
              </a:solidFill>
              <a:custDash>
                <a:ds d="166666" sp="133333"/>
              </a:custDash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1485900" y="1676400"/>
              <a:ext cx="2058655" cy="838200"/>
              <a:chOff x="1485900" y="1676400"/>
              <a:chExt cx="2058655" cy="838200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1485900" y="1676400"/>
                <a:ext cx="838200" cy="838200"/>
              </a:xfrm>
              <a:prstGeom prst="ellipse">
                <a:avLst/>
              </a:prstGeom>
              <a:solidFill>
                <a:srgbClr val="FFA500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801916" y="1961198"/>
                <a:ext cx="206169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🚀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2503170" y="1974532"/>
                <a:ext cx="104138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2D3436"/>
                    </a:solidFill>
                    <a:latin typeface="Segoe UI"/>
                    <a:ea typeface="Microsoft YaHei"/>
                    <a:cs typeface="Segoe UI"/>
                  </a:rPr>
                  <a:t>初级 FDE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1485900" y="2628900"/>
              <a:ext cx="2058655" cy="838200"/>
              <a:chOff x="1485900" y="2628900"/>
              <a:chExt cx="2058655" cy="838200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1485900" y="2628900"/>
                <a:ext cx="838200" cy="838200"/>
              </a:xfrm>
              <a:prstGeom prst="ellipse">
                <a:avLst/>
              </a:prstGeom>
              <a:solidFill>
                <a:srgbClr val="FF8C42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801916" y="2913698"/>
                <a:ext cx="206169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⚡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503170" y="2927032"/>
                <a:ext cx="104138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2D3436"/>
                    </a:solidFill>
                    <a:latin typeface="Segoe UI"/>
                    <a:ea typeface="Microsoft YaHei"/>
                    <a:cs typeface="Segoe UI"/>
                  </a:rPr>
                  <a:t>高级 FDE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485900" y="3581400"/>
              <a:ext cx="2248429" cy="838200"/>
              <a:chOff x="1485900" y="3581400"/>
              <a:chExt cx="2248429" cy="838200"/>
            </a:xfrm>
          </p:grpSpPr>
          <p:sp>
            <p:nvSpPr>
              <p:cNvPr id="21" name="Ellipse 21"/>
              <p:cNvSpPr/>
              <p:nvPr/>
            </p:nvSpPr>
            <p:spPr>
              <a:xfrm>
                <a:off x="1485900" y="3581400"/>
                <a:ext cx="838200" cy="838200"/>
              </a:xfrm>
              <a:prstGeom prst="ellipse">
                <a:avLst/>
              </a:prstGeom>
              <a:solidFill>
                <a:srgbClr val="FF6B35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801916" y="3866198"/>
                <a:ext cx="206169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🔥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2503170" y="3879532"/>
                <a:ext cx="1231159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2D3436"/>
                    </a:solidFill>
                    <a:latin typeface="Segoe UI"/>
                    <a:ea typeface="Microsoft YaHei"/>
                    <a:cs typeface="Segoe UI"/>
                  </a:rPr>
                  <a:t>Tech Lead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1485900" y="4533900"/>
              <a:ext cx="2615324" cy="838200"/>
              <a:chOff x="1485900" y="4533900"/>
              <a:chExt cx="2615324" cy="838200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1485900" y="4533900"/>
                <a:ext cx="838200" cy="838200"/>
              </a:xfrm>
              <a:prstGeom prst="ellipse">
                <a:avLst/>
              </a:prstGeom>
              <a:solidFill>
                <a:srgbClr val="2D3436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801916" y="4818698"/>
                <a:ext cx="206169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👑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2503170" y="4832032"/>
                <a:ext cx="159805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2D3436"/>
                    </a:solidFill>
                    <a:latin typeface="Segoe UI"/>
                    <a:ea typeface="Microsoft YaHei"/>
                    <a:cs typeface="Segoe UI"/>
                  </a:rPr>
                  <a:t>架构师 / 总监</a:t>
                </a:r>
              </a:p>
            </p:txBody>
          </p:sp>
        </p:grpSp>
      </p:grpSp>
      <p:grpSp>
        <p:nvGrpSpPr>
          <p:cNvPr id="45" name="Group 45"/>
          <p:cNvGrpSpPr/>
          <p:nvPr/>
        </p:nvGrpSpPr>
        <p:grpSpPr>
          <a:xfrm>
            <a:off x="2324100" y="2667000"/>
            <a:ext cx="7105650" cy="1333500"/>
            <a:chOff x="2324100" y="2667000"/>
            <a:chExt cx="7105650" cy="1333500"/>
          </a:xfrm>
        </p:grpSpPr>
        <p:sp>
          <p:nvSpPr>
            <p:cNvPr id="30" name="Freeform 30"/>
            <p:cNvSpPr/>
            <p:nvPr/>
          </p:nvSpPr>
          <p:spPr>
            <a:xfrm>
              <a:off x="2324100" y="3048000"/>
              <a:ext cx="2552700" cy="9525"/>
            </a:xfrm>
            <a:custGeom>
              <a:avLst/>
              <a:gdLst/>
              <a:ahLst/>
              <a:cxnLst/>
              <a:rect l="l" t="t" r="r" b="b"/>
              <a:pathLst>
                <a:path w="2552700" h="9525">
                  <a:moveTo>
                    <a:pt x="0" y="0"/>
                  </a:moveTo>
                  <a:cubicBezTo>
                    <a:pt x="990600" y="0"/>
                    <a:pt x="1841500" y="0"/>
                    <a:pt x="2552700" y="0"/>
                  </a:cubicBezTo>
                </a:path>
              </a:pathLst>
            </a:custGeom>
            <a:noFill/>
            <a:ln w="38100" cap="rnd">
              <a:solidFill>
                <a:srgbClr val="FFA500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2324100" y="3048000"/>
              <a:ext cx="4400550" cy="952500"/>
            </a:xfrm>
            <a:custGeom>
              <a:avLst/>
              <a:gdLst/>
              <a:ahLst/>
              <a:cxnLst/>
              <a:rect l="l" t="t" r="r" b="b"/>
              <a:pathLst>
                <a:path w="4400550" h="952500">
                  <a:moveTo>
                    <a:pt x="0" y="952500"/>
                  </a:moveTo>
                  <a:cubicBezTo>
                    <a:pt x="1498600" y="952500"/>
                    <a:pt x="2965450" y="635000"/>
                    <a:pt x="4400550" y="0"/>
                  </a:cubicBezTo>
                </a:path>
              </a:pathLst>
            </a:custGeom>
            <a:noFill/>
            <a:ln w="38100" cap="rnd">
              <a:solidFill>
                <a:srgbClr val="FF8C42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2324100" y="3048000"/>
              <a:ext cx="6305550" cy="952500"/>
            </a:xfrm>
            <a:custGeom>
              <a:avLst/>
              <a:gdLst/>
              <a:ahLst/>
              <a:cxnLst/>
              <a:rect l="l" t="t" r="r" b="b"/>
              <a:pathLst>
                <a:path w="6305550" h="952500">
                  <a:moveTo>
                    <a:pt x="0" y="952500"/>
                  </a:moveTo>
                  <a:cubicBezTo>
                    <a:pt x="2260600" y="952500"/>
                    <a:pt x="4362450" y="635000"/>
                    <a:pt x="6305550" y="0"/>
                  </a:cubicBezTo>
                </a:path>
              </a:pathLst>
            </a:custGeom>
            <a:noFill/>
            <a:ln w="38100" cap="rnd">
              <a:solidFill>
                <a:srgbClr val="FF6B35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4807553" y="2667000"/>
              <a:ext cx="862393" cy="1033462"/>
              <a:chOff x="4807553" y="2667000"/>
              <a:chExt cx="862393" cy="1033462"/>
            </a:xfrm>
          </p:grpSpPr>
          <p:sp>
            <p:nvSpPr>
              <p:cNvPr id="33" name="Ellipse 33"/>
              <p:cNvSpPr/>
              <p:nvPr/>
            </p:nvSpPr>
            <p:spPr>
              <a:xfrm>
                <a:off x="4857750" y="2667000"/>
                <a:ext cx="762000" cy="762000"/>
              </a:xfrm>
              <a:prstGeom prst="ellipse">
                <a:avLst/>
              </a:prstGeom>
              <a:solidFill>
                <a:srgbClr val="FFA500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5143595" y="2929890"/>
                <a:ext cx="19031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📊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807553" y="3426142"/>
                <a:ext cx="86239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2D3436"/>
                    </a:solidFill>
                    <a:latin typeface="Segoe UI"/>
                    <a:ea typeface="Microsoft YaHei"/>
                    <a:cs typeface="Segoe UI"/>
                  </a:rPr>
                  <a:t>产品经理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6402014" y="2667000"/>
              <a:ext cx="1483471" cy="1033462"/>
              <a:chOff x="6402014" y="2667000"/>
              <a:chExt cx="1483471" cy="1033462"/>
            </a:xfrm>
          </p:grpSpPr>
          <p:sp>
            <p:nvSpPr>
              <p:cNvPr id="37" name="Ellipse 37"/>
              <p:cNvSpPr/>
              <p:nvPr/>
            </p:nvSpPr>
            <p:spPr>
              <a:xfrm>
                <a:off x="6762750" y="2667000"/>
                <a:ext cx="762000" cy="762000"/>
              </a:xfrm>
              <a:prstGeom prst="ellipse">
                <a:avLst/>
              </a:prstGeom>
              <a:solidFill>
                <a:srgbClr val="FF8C42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6976301" y="2929890"/>
                <a:ext cx="334899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🛠️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402014" y="3426142"/>
                <a:ext cx="148347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2D3436"/>
                    </a:solidFill>
                    <a:latin typeface="Segoe UI"/>
                    <a:ea typeface="Microsoft YaHei"/>
                    <a:cs typeface="Segoe UI"/>
                  </a:rPr>
                  <a:t>解决方案架构师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8667750" y="2667000"/>
              <a:ext cx="762000" cy="1033462"/>
              <a:chOff x="8667750" y="2667000"/>
              <a:chExt cx="762000" cy="1033462"/>
            </a:xfrm>
          </p:grpSpPr>
          <p:sp>
            <p:nvSpPr>
              <p:cNvPr id="41" name="Ellipse 41"/>
              <p:cNvSpPr/>
              <p:nvPr/>
            </p:nvSpPr>
            <p:spPr>
              <a:xfrm>
                <a:off x="8667750" y="2667000"/>
                <a:ext cx="762000" cy="762000"/>
              </a:xfrm>
              <a:prstGeom prst="ellipse">
                <a:avLst/>
              </a:prstGeom>
              <a:solidFill>
                <a:srgbClr val="FF6B35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8953595" y="2929890"/>
                <a:ext cx="19031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🌍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721066" y="3426142"/>
                <a:ext cx="65536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2D3436"/>
                    </a:solidFill>
                    <a:latin typeface="Segoe UI"/>
                    <a:ea typeface="Microsoft YaHei"/>
                    <a:cs typeface="Segoe UI"/>
                  </a:rPr>
                  <a:t>创业者</a:t>
                </a:r>
              </a:p>
            </p:txBody>
          </p:sp>
        </p:grpSp>
      </p:grpSp>
      <p:grpSp>
        <p:nvGrpSpPr>
          <p:cNvPr id="51" name="Group 51"/>
          <p:cNvGrpSpPr/>
          <p:nvPr/>
        </p:nvGrpSpPr>
        <p:grpSpPr>
          <a:xfrm>
            <a:off x="4515432" y="3762375"/>
            <a:ext cx="3161136" cy="1809750"/>
            <a:chOff x="4515432" y="3762375"/>
            <a:chExt cx="3161136" cy="1809750"/>
          </a:xfrm>
        </p:grpSpPr>
        <p:sp>
          <p:nvSpPr>
            <p:cNvPr id="46" name="Ellipse 46"/>
            <p:cNvSpPr/>
            <p:nvPr/>
          </p:nvSpPr>
          <p:spPr>
            <a:xfrm>
              <a:off x="5191125" y="3762375"/>
              <a:ext cx="1809750" cy="180975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6B35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5286375" y="3857625"/>
              <a:ext cx="1619250" cy="1619250"/>
            </a:xfrm>
            <a:prstGeom prst="ellipse">
              <a:avLst/>
            </a:prstGeom>
            <a:noFill/>
            <a:ln w="19050">
              <a:solidFill>
                <a:srgbClr val="FFA500">
                  <a:alpha val="60000"/>
                </a:srgbClr>
              </a:solidFill>
              <a:custDash>
                <a:ds d="300000" sp="200000"/>
              </a:custDash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712714" y="42995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6B35"/>
                  </a:solidFill>
                  <a:latin typeface="Segoe UI"/>
                  <a:ea typeface="Microsoft YaHei"/>
                  <a:cs typeface="Segoe UI"/>
                </a:rPr>
                <a:t>核心积累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515432" y="4561046"/>
              <a:ext cx="316113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2D3436"/>
                  </a:solidFill>
                  <a:latin typeface="Segoe UI"/>
                  <a:ea typeface="Microsoft YaHei"/>
                  <a:cs typeface="Segoe UI"/>
                </a:rPr>
                <a:t>行业认知 × 客户资源 × 实战经验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622608" y="4887278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8C42"/>
                  </a:solidFill>
                  <a:latin typeface="Segoe UI"/>
                  <a:ea typeface="Microsoft YaHei"/>
                  <a:cs typeface="Segoe UI"/>
                </a:rPr>
                <a:t>长期复利效应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333500" y="6048375"/>
            <a:ext cx="9525000" cy="619125"/>
            <a:chOff x="1333500" y="6048375"/>
            <a:chExt cx="9525000" cy="619125"/>
          </a:xfrm>
        </p:grpSpPr>
        <p:sp>
          <p:nvSpPr>
            <p:cNvPr id="52" name="Rectangle 52"/>
            <p:cNvSpPr/>
            <p:nvPr/>
          </p:nvSpPr>
          <p:spPr>
            <a:xfrm>
              <a:off x="1333500" y="6048375"/>
              <a:ext cx="9525000" cy="619125"/>
            </a:xfrm>
            <a:prstGeom prst="roundRect">
              <a:avLst>
                <a:gd name="adj" fmla="val 49231"/>
              </a:avLst>
            </a:prstGeom>
            <a:solidFill>
              <a:srgbClr val="FF6B35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3243786" y="6235065"/>
              <a:ext cx="570442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💡 FDE 是通往 CTO / VP 极有含金量的职业跳板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9" grpId="0"/>
      <p:bldP spid="45" grpId="0"/>
      <p:bldP spid="51" grpId="0"/>
      <p:bldP spid="5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-1428750" y="-952500"/>
            <a:ext cx="14287500" cy="9525000"/>
            <a:chOff x="-1428750" y="-952500"/>
            <a:chExt cx="14287500" cy="9525000"/>
          </a:xfrm>
        </p:grpSpPr>
        <p:sp>
          <p:nvSpPr>
            <p:cNvPr id="3" name="Ellipse 3"/>
            <p:cNvSpPr/>
            <p:nvPr/>
          </p:nvSpPr>
          <p:spPr>
            <a:xfrm>
              <a:off x="9048750" y="-952500"/>
              <a:ext cx="3810000" cy="3810000"/>
            </a:xfrm>
            <a:prstGeom prst="ellipse">
              <a:avLst/>
            </a:prstGeom>
            <a:solidFill>
              <a:srgbClr val="FFA500">
                <a:alpha val="7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428750" y="3810000"/>
              <a:ext cx="4762500" cy="4762500"/>
            </a:xfrm>
            <a:prstGeom prst="ellipse">
              <a:avLst/>
            </a:prstGeom>
            <a:solidFill>
              <a:srgbClr val="FF8C42">
                <a:alpha val="6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3048000" y="381000"/>
              <a:ext cx="6096000" cy="6096000"/>
            </a:xfrm>
            <a:prstGeom prst="ellipse">
              <a:avLst/>
            </a:prstGeom>
            <a:solidFill>
              <a:srgbClr val="FF6B35">
                <a:alpha val="4000"/>
              </a:srgbClr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10001250" y="5873750"/>
              <a:ext cx="1428750" cy="603250"/>
            </a:xfrm>
            <a:custGeom>
              <a:avLst/>
              <a:gdLst/>
              <a:ahLst/>
              <a:cxnLst/>
              <a:rect l="l" t="t" r="r" b="b"/>
              <a:pathLst>
                <a:path w="1428750" h="603250">
                  <a:moveTo>
                    <a:pt x="0" y="603250"/>
                  </a:moveTo>
                  <a:cubicBezTo>
                    <a:pt x="444500" y="95250"/>
                    <a:pt x="920750" y="0"/>
                    <a:pt x="1428750" y="317500"/>
                  </a:cubicBezTo>
                </a:path>
              </a:pathLst>
            </a:custGeom>
            <a:noFill/>
            <a:ln w="47625" cap="rnd">
              <a:solidFill>
                <a:srgbClr val="FF6B35">
                  <a:alpha val="30000"/>
                </a:srgbClr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0953750" y="1238250"/>
              <a:ext cx="571500" cy="571500"/>
            </a:xfrm>
            <a:prstGeom prst="ellipse">
              <a:avLst/>
            </a:prstGeom>
            <a:solidFill>
              <a:srgbClr val="FF8C42">
                <a:alpha val="50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1449050" y="1066800"/>
              <a:ext cx="342900" cy="342900"/>
            </a:xfrm>
            <a:prstGeom prst="ellipse">
              <a:avLst/>
            </a:prstGeom>
            <a:solidFill>
              <a:srgbClr val="FFA500">
                <a:alpha val="60000"/>
              </a:srgb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381000" y="4572000"/>
              <a:ext cx="762000" cy="762000"/>
            </a:xfrm>
            <a:prstGeom prst="ellipse">
              <a:avLst/>
            </a:prstGeom>
            <a:solidFill>
              <a:srgbClr val="FF6B35">
                <a:alpha val="20000"/>
              </a:srgbClr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0" y="0"/>
            <a:ext cx="1524000" cy="152400"/>
            <a:chOff x="0" y="0"/>
            <a:chExt cx="1524000" cy="152400"/>
          </a:xfrm>
        </p:grpSpPr>
        <p:sp>
          <p:nvSpPr>
            <p:cNvPr id="11" name="Rectangle 11"/>
            <p:cNvSpPr/>
            <p:nvPr/>
          </p:nvSpPr>
          <p:spPr>
            <a:xfrm>
              <a:off x="0" y="0"/>
              <a:ext cx="1524000" cy="152400"/>
            </a:xfrm>
            <a:prstGeom prst="roundRect">
              <a:avLst>
                <a:gd name="adj" fmla="val 50000"/>
              </a:avLst>
            </a:prstGeom>
            <a:solidFill>
              <a:srgbClr val="FF6B35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180975" y="28575"/>
              <a:ext cx="95250" cy="95250"/>
            </a:xfrm>
            <a:prstGeom prst="ellipse">
              <a:avLst/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906780" y="611505"/>
            <a:ext cx="6219406" cy="912495"/>
            <a:chOff x="906780" y="611505"/>
            <a:chExt cx="6219406" cy="912495"/>
          </a:xfrm>
        </p:grpSpPr>
        <p:sp>
          <p:nvSpPr>
            <p:cNvPr id="14" name="TextBox 14"/>
            <p:cNvSpPr txBox="1"/>
            <p:nvPr/>
          </p:nvSpPr>
          <p:spPr>
            <a:xfrm>
              <a:off x="906780" y="611505"/>
              <a:ext cx="621940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F6B35"/>
                  </a:solidFill>
                  <a:latin typeface="Arial"/>
                  <a:ea typeface="Microsoft YaHei"/>
                  <a:cs typeface="Arial"/>
                </a:rPr>
                <a:t>FDE 的价值 — 管理层视角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33450" y="1219200"/>
              <a:ext cx="39814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D3436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聚焦业务增长、客户留存与技术品牌壁垒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2500" y="1905000"/>
            <a:ext cx="10287000" cy="4572000"/>
            <a:chOff x="952500" y="1905000"/>
            <a:chExt cx="10287000" cy="4572000"/>
          </a:xfrm>
        </p:grpSpPr>
        <p:grpSp>
          <p:nvGrpSpPr>
            <p:cNvPr id="22" name="Group 22"/>
            <p:cNvGrpSpPr/>
            <p:nvPr/>
          </p:nvGrpSpPr>
          <p:grpSpPr>
            <a:xfrm>
              <a:off x="952500" y="1905000"/>
              <a:ext cx="4762500" cy="2095500"/>
              <a:chOff x="952500" y="1905000"/>
              <a:chExt cx="4762500" cy="20955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952500" y="1905000"/>
                <a:ext cx="4762500" cy="2095500"/>
              </a:xfrm>
              <a:prstGeom prst="roundRect">
                <a:avLst>
                  <a:gd name="adj" fmla="val 7273"/>
                </a:avLst>
              </a:prstGeom>
              <a:solidFill>
                <a:srgbClr val="FFFFFF"/>
              </a:solidFill>
              <a:ln w="19050">
                <a:solidFill>
                  <a:srgbClr val="FFE5D9"/>
                </a:solidFill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952500" y="1905000"/>
                <a:ext cx="76200" cy="2095500"/>
              </a:xfrm>
              <a:prstGeom prst="roundRect">
                <a:avLst>
                  <a:gd name="adj" fmla="val 50000"/>
                </a:avLst>
              </a:prstGeom>
              <a:solidFill>
                <a:srgbClr val="FF6B35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303020" y="2265045"/>
                <a:ext cx="253746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>
                    <a:solidFill>
                      <a:srgbClr val="000000"/>
                    </a:solidFill>
                    <a:latin typeface="Segoe UI"/>
                    <a:ea typeface="Microsoft YaHei"/>
                    <a:cs typeface="Segoe UI"/>
                  </a:rPr>
                  <a:t>🏢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737360" y="2218372"/>
                <a:ext cx="3039904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2D3436"/>
                    </a:solidFill>
                    <a:latin typeface="Segoe UI"/>
                    <a:ea typeface="Microsoft YaHei"/>
                    <a:cs typeface="Segoe UI"/>
                  </a:rPr>
                  <a:t>缩短产品到市场的距离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743075" y="2600325"/>
                <a:ext cx="157162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FF6B35"/>
                    </a:solidFill>
                    <a:latin typeface="Segoe UI"/>
                    <a:ea typeface="Microsoft YaHei"/>
                    <a:cs typeface="Segoe UI"/>
                  </a:rPr>
                  <a:t>— 快速验证 PMF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6477000" y="1905000"/>
              <a:ext cx="4762500" cy="2095500"/>
              <a:chOff x="6477000" y="1905000"/>
              <a:chExt cx="4762500" cy="20955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6477000" y="1905000"/>
                <a:ext cx="4762500" cy="2095500"/>
              </a:xfrm>
              <a:prstGeom prst="roundRect">
                <a:avLst>
                  <a:gd name="adj" fmla="val 7273"/>
                </a:avLst>
              </a:prstGeom>
              <a:solidFill>
                <a:srgbClr val="FFFFFF"/>
              </a:solidFill>
              <a:ln w="19050">
                <a:solidFill>
                  <a:srgbClr val="FFE5D9"/>
                </a:solidFill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6477000" y="1905000"/>
                <a:ext cx="76200" cy="2095500"/>
              </a:xfrm>
              <a:prstGeom prst="roundRect">
                <a:avLst>
                  <a:gd name="adj" fmla="val 50000"/>
                </a:avLst>
              </a:prstGeom>
              <a:solidFill>
                <a:srgbClr val="FF6B35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6827520" y="2265045"/>
                <a:ext cx="253746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>
                    <a:solidFill>
                      <a:srgbClr val="000000"/>
                    </a:solidFill>
                    <a:latin typeface="Segoe UI"/>
                    <a:ea typeface="Microsoft YaHei"/>
                    <a:cs typeface="Segoe UI"/>
                  </a:rPr>
                  <a:t>📈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261860" y="2218372"/>
                <a:ext cx="3338941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2D3436"/>
                    </a:solidFill>
                    <a:latin typeface="Segoe UI"/>
                    <a:ea typeface="Microsoft YaHei"/>
                    <a:cs typeface="Segoe UI"/>
                  </a:rPr>
                  <a:t>提升客户成功率和续约率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267575" y="2600325"/>
                <a:ext cx="22288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FF6B35"/>
                    </a:solidFill>
                    <a:latin typeface="Segoe UI"/>
                    <a:ea typeface="Microsoft YaHei"/>
                    <a:cs typeface="Segoe UI"/>
                  </a:rPr>
                  <a:t>数据驱动服务持续优化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952500" y="4381500"/>
              <a:ext cx="4762500" cy="2095500"/>
              <a:chOff x="952500" y="4381500"/>
              <a:chExt cx="4762500" cy="209550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952500" y="4381500"/>
                <a:ext cx="4762500" cy="2095500"/>
              </a:xfrm>
              <a:prstGeom prst="roundRect">
                <a:avLst>
                  <a:gd name="adj" fmla="val 7273"/>
                </a:avLst>
              </a:prstGeom>
              <a:solidFill>
                <a:srgbClr val="FFFFFF"/>
              </a:solidFill>
              <a:ln w="19050">
                <a:solidFill>
                  <a:srgbClr val="FFE5D9"/>
                </a:solidFill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952500" y="4381500"/>
                <a:ext cx="76200" cy="2095500"/>
              </a:xfrm>
              <a:prstGeom prst="roundRect">
                <a:avLst>
                  <a:gd name="adj" fmla="val 50000"/>
                </a:avLst>
              </a:prstGeom>
              <a:solidFill>
                <a:srgbClr val="FF6B35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303020" y="4741545"/>
                <a:ext cx="253746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>
                    <a:solidFill>
                      <a:srgbClr val="000000"/>
                    </a:solidFill>
                    <a:latin typeface="Segoe UI"/>
                    <a:ea typeface="Microsoft YaHei"/>
                    <a:cs typeface="Segoe UI"/>
                  </a:rPr>
                  <a:t>💡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737360" y="4694872"/>
                <a:ext cx="1843754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2D3436"/>
                    </a:solidFill>
                    <a:latin typeface="Segoe UI"/>
                    <a:ea typeface="Microsoft YaHei"/>
                    <a:cs typeface="Segoe UI"/>
                  </a:rPr>
                  <a:t>驱动产品迭代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743075" y="5076825"/>
                <a:ext cx="380619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FF6B35"/>
                    </a:solidFill>
                    <a:latin typeface="Segoe UI"/>
                    <a:ea typeface="Microsoft YaHei"/>
                    <a:cs typeface="Segoe UI"/>
                  </a:rPr>
                  <a:t>— 来自一线的真实需求是最佳 roadmap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6477000" y="4381500"/>
              <a:ext cx="4762500" cy="2095500"/>
              <a:chOff x="6477000" y="4381500"/>
              <a:chExt cx="4762500" cy="209550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6477000" y="4381500"/>
                <a:ext cx="4762500" cy="2095500"/>
              </a:xfrm>
              <a:prstGeom prst="roundRect">
                <a:avLst>
                  <a:gd name="adj" fmla="val 7273"/>
                </a:avLst>
              </a:prstGeom>
              <a:solidFill>
                <a:srgbClr val="FFFFFF"/>
              </a:solidFill>
              <a:ln w="19050">
                <a:solidFill>
                  <a:srgbClr val="FFE5D9"/>
                </a:solidFill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6477000" y="4381500"/>
                <a:ext cx="76200" cy="2095500"/>
              </a:xfrm>
              <a:prstGeom prst="roundRect">
                <a:avLst>
                  <a:gd name="adj" fmla="val 50000"/>
                </a:avLst>
              </a:prstGeom>
              <a:solidFill>
                <a:srgbClr val="FF6B35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827520" y="4741545"/>
                <a:ext cx="253746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>
                    <a:solidFill>
                      <a:srgbClr val="000000"/>
                    </a:solidFill>
                    <a:latin typeface="Segoe UI"/>
                    <a:ea typeface="Microsoft YaHei"/>
                    <a:cs typeface="Segoe UI"/>
                  </a:rPr>
                  <a:t>🎯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7261860" y="4694872"/>
                <a:ext cx="1843754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2D3436"/>
                    </a:solidFill>
                    <a:latin typeface="Segoe UI"/>
                    <a:ea typeface="Microsoft YaHei"/>
                    <a:cs typeface="Segoe UI"/>
                  </a:rPr>
                  <a:t>打造技术品牌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7267575" y="5076825"/>
                <a:ext cx="307228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FF6B35"/>
                    </a:solidFill>
                    <a:latin typeface="Segoe UI"/>
                    <a:ea typeface="Microsoft YaHei"/>
                    <a:cs typeface="Segoe UI"/>
                  </a:rPr>
                  <a:t>— 给客户「有人兜底」的安全感</a:t>
                </a:r>
              </a:p>
            </p:txBody>
          </p:sp>
        </p:grpSp>
      </p:grpSp>
      <p:grpSp>
        <p:nvGrpSpPr>
          <p:cNvPr id="46" name="Group 46"/>
          <p:cNvGrpSpPr/>
          <p:nvPr/>
        </p:nvGrpSpPr>
        <p:grpSpPr>
          <a:xfrm>
            <a:off x="3333750" y="2952750"/>
            <a:ext cx="5534025" cy="2486025"/>
            <a:chOff x="3333750" y="2952750"/>
            <a:chExt cx="5534025" cy="2486025"/>
          </a:xfrm>
        </p:grpSpPr>
        <p:sp>
          <p:nvSpPr>
            <p:cNvPr id="42" name="Freeform 42"/>
            <p:cNvSpPr/>
            <p:nvPr/>
          </p:nvSpPr>
          <p:spPr>
            <a:xfrm>
              <a:off x="5715000" y="295275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FF6B35">
                  <a:alpha val="40000"/>
                </a:srgbClr>
              </a:solidFill>
              <a:custDash>
                <a:ds d="300000" sp="300000"/>
              </a:custDash>
            </a:ln>
          </p:spPr>
        </p:sp>
        <p:sp>
          <p:nvSpPr>
            <p:cNvPr id="43" name="Freeform 43"/>
            <p:cNvSpPr/>
            <p:nvPr/>
          </p:nvSpPr>
          <p:spPr>
            <a:xfrm>
              <a:off x="5715000" y="542925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FF6B35">
                  <a:alpha val="40000"/>
                </a:srgbClr>
              </a:solidFill>
              <a:custDash>
                <a:ds d="300000" sp="300000"/>
              </a:custDash>
            </a:ln>
          </p:spPr>
        </p:sp>
        <p:sp>
          <p:nvSpPr>
            <p:cNvPr id="44" name="Freeform 44"/>
            <p:cNvSpPr/>
            <p:nvPr/>
          </p:nvSpPr>
          <p:spPr>
            <a:xfrm>
              <a:off x="3333750" y="40005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9050">
              <a:solidFill>
                <a:srgbClr val="FF6B35">
                  <a:alpha val="40000"/>
                </a:srgbClr>
              </a:solidFill>
              <a:custDash>
                <a:ds d="300000" sp="300000"/>
              </a:custDash>
            </a:ln>
          </p:spPr>
        </p:sp>
        <p:sp>
          <p:nvSpPr>
            <p:cNvPr id="45" name="Freeform 45"/>
            <p:cNvSpPr/>
            <p:nvPr/>
          </p:nvSpPr>
          <p:spPr>
            <a:xfrm>
              <a:off x="8858250" y="40005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9050">
              <a:solidFill>
                <a:srgbClr val="FF6B35">
                  <a:alpha val="40000"/>
                </a:srgbClr>
              </a:solidFill>
              <a:custDash>
                <a:ds d="300000" sp="300000"/>
              </a:custDash>
            </a:ln>
          </p:spPr>
        </p:sp>
      </p:grpSp>
      <p:sp>
        <p:nvSpPr>
          <p:cNvPr id="47" name="TextBox 47"/>
          <p:cNvSpPr txBox="1"/>
          <p:nvPr/>
        </p:nvSpPr>
        <p:spPr>
          <a:xfrm>
            <a:off x="11605260" y="6537960"/>
            <a:ext cx="4248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3436">
                    <a:alphaMod val="50000"/>
                  </a:srgbClr>
                </a:solidFill>
                <a:latin typeface="Segoe UI"/>
                <a:ea typeface="Microsoft YaHei"/>
                <a:cs typeface="Segoe UI"/>
              </a:rPr>
              <a:t>8 / 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41" grpId="0"/>
      <p:bldP spid="4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3A2E28"/>
              </a:gs>
              <a:gs pos="100000">
                <a:srgbClr val="2D3436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524000" y="-1143000"/>
            <a:ext cx="9144000" cy="9144000"/>
          </a:xfrm>
          <a:prstGeom prst="ellipse">
            <a:avLst/>
          </a:prstGeom>
          <a:gradFill>
            <a:gsLst>
              <a:gs pos="0">
                <a:srgbClr val="FF6B35">
                  <a:alpha val="15000"/>
                </a:srgbClr>
              </a:gs>
              <a:gs pos="100000">
                <a:srgbClr val="FF6B3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-952500" y="857250"/>
            <a:ext cx="14097000" cy="5143500"/>
            <a:chOff x="-952500" y="857250"/>
            <a:chExt cx="14097000" cy="5143500"/>
          </a:xfrm>
        </p:grpSpPr>
        <p:sp>
          <p:nvSpPr>
            <p:cNvPr id="4" name="Freeform 4"/>
            <p:cNvSpPr/>
            <p:nvPr/>
          </p:nvSpPr>
          <p:spPr>
            <a:xfrm>
              <a:off x="-952500" y="1143000"/>
              <a:ext cx="14097000" cy="1905000"/>
            </a:xfrm>
            <a:custGeom>
              <a:avLst/>
              <a:gdLst/>
              <a:ahLst/>
              <a:cxnLst/>
              <a:rect l="l" t="t" r="r" b="b"/>
              <a:pathLst>
                <a:path w="14097000" h="1905000">
                  <a:moveTo>
                    <a:pt x="0" y="952500"/>
                  </a:moveTo>
                  <a:cubicBezTo>
                    <a:pt x="3619500" y="0"/>
                    <a:pt x="5524500" y="1905000"/>
                    <a:pt x="7810500" y="1238250"/>
                  </a:cubicBezTo>
                  <a:cubicBezTo>
                    <a:pt x="10096500" y="571500"/>
                    <a:pt x="11239500" y="285750"/>
                    <a:pt x="14097000" y="1619250"/>
                  </a:cubicBezTo>
                </a:path>
              </a:pathLst>
            </a:custGeom>
            <a:noFill/>
            <a:ln w="28575">
              <a:solidFill>
                <a:srgbClr val="FF6B35">
                  <a:alpha val="25000"/>
                </a:srgbClr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-952500" y="3810000"/>
              <a:ext cx="14097000" cy="1905000"/>
            </a:xfrm>
            <a:custGeom>
              <a:avLst/>
              <a:gdLst/>
              <a:ahLst/>
              <a:cxnLst/>
              <a:rect l="l" t="t" r="r" b="b"/>
              <a:pathLst>
                <a:path w="14097000" h="1905000">
                  <a:moveTo>
                    <a:pt x="0" y="952500"/>
                  </a:moveTo>
                  <a:cubicBezTo>
                    <a:pt x="4000500" y="1905000"/>
                    <a:pt x="5905500" y="0"/>
                    <a:pt x="8191500" y="476250"/>
                  </a:cubicBezTo>
                  <a:cubicBezTo>
                    <a:pt x="10477500" y="952500"/>
                    <a:pt x="11239500" y="1428750"/>
                    <a:pt x="14097000" y="0"/>
                  </a:cubicBezTo>
                </a:path>
              </a:pathLst>
            </a:custGeom>
            <a:noFill/>
            <a:ln w="19050">
              <a:solidFill>
                <a:srgbClr val="FFA500">
                  <a:alpha val="20000"/>
                </a:srgbClr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000125" y="1190625"/>
              <a:ext cx="1047750" cy="1047750"/>
            </a:xfrm>
            <a:prstGeom prst="ellipse">
              <a:avLst/>
            </a:prstGeom>
            <a:solidFill>
              <a:srgbClr val="FF8C42">
                <a:alpha val="8000"/>
              </a:srgb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0144125" y="4429125"/>
              <a:ext cx="1428750" cy="1428750"/>
            </a:xfrm>
            <a:prstGeom prst="ellipse">
              <a:avLst/>
            </a:prstGeom>
            <a:solidFill>
              <a:srgbClr val="FF6B35">
                <a:alpha val="8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000125" y="5000625"/>
              <a:ext cx="666750" cy="666750"/>
            </a:xfrm>
            <a:prstGeom prst="ellipse">
              <a:avLst/>
            </a:prstGeom>
            <a:solidFill>
              <a:srgbClr val="FFFFFF">
                <a:alpha val="6000"/>
              </a:srgb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0620375" y="1190625"/>
              <a:ext cx="857250" cy="857250"/>
            </a:xfrm>
            <a:prstGeom prst="ellipse">
              <a:avLst/>
            </a:prstGeom>
            <a:solidFill>
              <a:srgbClr val="FFFFFF">
                <a:alpha val="6000"/>
              </a:srgbClr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5857875" y="857250"/>
              <a:ext cx="476250" cy="428625"/>
            </a:xfrm>
            <a:custGeom>
              <a:avLst/>
              <a:gdLst/>
              <a:ahLst/>
              <a:cxnLst/>
              <a:rect l="l" t="t" r="r" b="b"/>
              <a:pathLst>
                <a:path w="476250" h="428625">
                  <a:moveTo>
                    <a:pt x="238125" y="0"/>
                  </a:moveTo>
                  <a:lnTo>
                    <a:pt x="476250" y="428625"/>
                  </a:lnTo>
                  <a:lnTo>
                    <a:pt x="0" y="428625"/>
                  </a:lnTo>
                  <a:close/>
                </a:path>
              </a:pathLst>
            </a:custGeom>
            <a:solidFill>
              <a:srgbClr val="FF6B35">
                <a:alpha val="15000"/>
              </a:srgbClr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5857875" y="5572125"/>
              <a:ext cx="476250" cy="428625"/>
            </a:xfrm>
            <a:custGeom>
              <a:avLst/>
              <a:gdLst/>
              <a:ahLst/>
              <a:cxnLst/>
              <a:rect l="l" t="t" r="r" b="b"/>
              <a:pathLst>
                <a:path w="476250" h="428625">
                  <a:moveTo>
                    <a:pt x="238125" y="428625"/>
                  </a:moveTo>
                  <a:lnTo>
                    <a:pt x="4762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500">
                <a:alpha val="15000"/>
              </a:srgbClr>
            </a:solidFill>
            <a:ln>
              <a:noFill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2962275" y="2444750"/>
            <a:ext cx="6267450" cy="635000"/>
            <a:chOff x="2962275" y="2444750"/>
            <a:chExt cx="6267450" cy="635000"/>
          </a:xfrm>
        </p:grpSpPr>
        <p:sp>
          <p:nvSpPr>
            <p:cNvPr id="13" name="Freeform 13"/>
            <p:cNvSpPr/>
            <p:nvPr/>
          </p:nvSpPr>
          <p:spPr>
            <a:xfrm>
              <a:off x="3048000" y="2444750"/>
              <a:ext cx="6096000" cy="635000"/>
            </a:xfrm>
            <a:custGeom>
              <a:avLst/>
              <a:gdLst/>
              <a:ahLst/>
              <a:cxnLst/>
              <a:rect l="l" t="t" r="r" b="b"/>
              <a:pathLst>
                <a:path w="6096000" h="635000">
                  <a:moveTo>
                    <a:pt x="0" y="508000"/>
                  </a:moveTo>
                  <a:cubicBezTo>
                    <a:pt x="1016000" y="63500"/>
                    <a:pt x="2032000" y="0"/>
                    <a:pt x="3048000" y="317500"/>
                  </a:cubicBezTo>
                  <a:cubicBezTo>
                    <a:pt x="4064000" y="635000"/>
                    <a:pt x="5080000" y="571500"/>
                    <a:pt x="6096000" y="127000"/>
                  </a:cubicBezTo>
                </a:path>
              </a:pathLst>
            </a:custGeom>
            <a:noFill/>
            <a:ln w="19050">
              <a:solidFill>
                <a:srgbClr val="FF6B35">
                  <a:alpha val="40000"/>
                </a:srgbClr>
              </a:solidFill>
              <a:custDash>
                <a:ds d="400000" sp="300000"/>
              </a:custDash>
            </a:ln>
          </p:spPr>
        </p:sp>
        <p:sp>
          <p:nvSpPr>
            <p:cNvPr id="14" name="Ellipse 14"/>
            <p:cNvSpPr/>
            <p:nvPr/>
          </p:nvSpPr>
          <p:spPr>
            <a:xfrm>
              <a:off x="2962275" y="2867025"/>
              <a:ext cx="171450" cy="171450"/>
            </a:xfrm>
            <a:prstGeom prst="ellipse">
              <a:avLst/>
            </a:prstGeom>
            <a:solidFill>
              <a:srgbClr val="FF6B35">
                <a:alpha val="70000"/>
              </a:srgb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962650" y="2628900"/>
              <a:ext cx="266700" cy="266700"/>
            </a:xfrm>
            <a:prstGeom prst="ellipse">
              <a:avLst/>
            </a:prstGeom>
            <a:solidFill>
              <a:srgbClr val="FFA500">
                <a:alpha val="80000"/>
              </a:srgbClr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9058275" y="2486025"/>
              <a:ext cx="171450" cy="171450"/>
            </a:xfrm>
            <a:prstGeom prst="ellipse">
              <a:avLst/>
            </a:prstGeom>
            <a:solidFill>
              <a:srgbClr val="FF6B35">
                <a:alpha val="70000"/>
              </a:srgbClr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3048000" y="2762250"/>
              <a:ext cx="3048000" cy="190500"/>
            </a:xfrm>
            <a:custGeom>
              <a:avLst/>
              <a:gdLst/>
              <a:ahLst/>
              <a:cxnLst/>
              <a:rect l="l" t="t" r="r" b="b"/>
              <a:pathLst>
                <a:path w="3048000" h="190500">
                  <a:moveTo>
                    <a:pt x="0" y="190500"/>
                  </a:moveTo>
                  <a:lnTo>
                    <a:pt x="3048000" y="0"/>
                  </a:lnTo>
                </a:path>
              </a:pathLst>
            </a:custGeom>
            <a:noFill/>
            <a:ln w="14288">
              <a:solidFill>
                <a:srgbClr val="FF6B35">
                  <a:alpha val="30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6096000" y="2571750"/>
              <a:ext cx="3048000" cy="190500"/>
            </a:xfrm>
            <a:custGeom>
              <a:avLst/>
              <a:gdLst/>
              <a:ahLst/>
              <a:cxnLst/>
              <a:rect l="l" t="t" r="r" b="b"/>
              <a:pathLst>
                <a:path w="3048000" h="190500">
                  <a:moveTo>
                    <a:pt x="0" y="190500"/>
                  </a:moveTo>
                  <a:lnTo>
                    <a:pt x="3048000" y="0"/>
                  </a:lnTo>
                </a:path>
              </a:pathLst>
            </a:custGeom>
            <a:noFill/>
            <a:ln w="14288">
              <a:solidFill>
                <a:srgbClr val="FF6B35">
                  <a:alpha val="30000"/>
                </a:srgbClr>
              </a:solidFill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3340798" y="2524125"/>
            <a:ext cx="5510403" cy="2924175"/>
            <a:chOff x="3340798" y="2524125"/>
            <a:chExt cx="5510403" cy="2924175"/>
          </a:xfrm>
        </p:grpSpPr>
        <p:sp>
          <p:nvSpPr>
            <p:cNvPr id="20" name="TextBox 20"/>
            <p:cNvSpPr txBox="1"/>
            <p:nvPr/>
          </p:nvSpPr>
          <p:spPr>
            <a:xfrm>
              <a:off x="4275534" y="2524125"/>
              <a:ext cx="3640931" cy="1524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0" b="1" dirty="0">
                  <a:solidFill>
                    <a:srgbClr val="FF6B35"/>
                  </a:solidFill>
                  <a:latin typeface="Arial"/>
                  <a:ea typeface="Microsoft YaHei"/>
                  <a:cs typeface="Arial"/>
                </a:rPr>
                <a:t>谢谢！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952826" y="3623310"/>
              <a:ext cx="2286348" cy="1158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7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Q &amp; A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4762500" y="4619625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noFill/>
            <a:ln w="47625" cap="rnd">
              <a:solidFill>
                <a:srgbClr val="FF6B35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340798" y="4899660"/>
              <a:ext cx="551040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dirty="0">
                  <a:solidFill>
                    <a:srgbClr val="FFFFFF">
                      <a:alphaMod val="95000"/>
                    </a:srgbClr>
                  </a:solidFill>
                  <a:latin typeface="Segoe UI"/>
                  <a:ea typeface="Microsoft YaHei"/>
                  <a:cs typeface="Segoe UI"/>
                </a:rPr>
                <a:t>FDE — 技术的前线，价值的起点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5830491" y="6315075"/>
            <a:ext cx="53101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FFFFF">
                    <a:alphaMod val="30000"/>
                  </a:srgbClr>
                </a:solidFill>
                <a:latin typeface="Arial"/>
                <a:ea typeface="Microsoft YaHei"/>
                <a:cs typeface="Arial"/>
              </a:rPr>
              <a:t>9 / 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
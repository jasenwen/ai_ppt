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0" y="1143000"/>
            <a:ext cx="12192000" cy="4581525"/>
            <a:chOff x="0" y="1143000"/>
            <a:chExt cx="12192000" cy="4581525"/>
          </a:xfrm>
        </p:grpSpPr>
        <p:sp>
          <p:nvSpPr>
            <p:cNvPr id="3" name="Ellipse 3"/>
            <p:cNvSpPr/>
            <p:nvPr/>
          </p:nvSpPr>
          <p:spPr>
            <a:xfrm>
              <a:off x="1095375" y="1666875"/>
              <a:ext cx="857250" cy="857250"/>
            </a:xfrm>
            <a:prstGeom prst="ellipse">
              <a:avLst/>
            </a:prstGeom>
            <a:solidFill>
              <a:srgbClr val="1A73E8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2019300" y="2590800"/>
              <a:ext cx="533400" cy="533400"/>
            </a:xfrm>
            <a:prstGeom prst="ellipse">
              <a:avLst/>
            </a:prstGeom>
            <a:solidFill>
              <a:srgbClr val="1A73E8">
                <a:alpha val="9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638300" y="3448050"/>
              <a:ext cx="342900" cy="342900"/>
            </a:xfrm>
            <a:prstGeom prst="ellipse">
              <a:avLst/>
            </a:prstGeom>
            <a:solidFill>
              <a:srgbClr val="1A73E8">
                <a:alpha val="12000"/>
              </a:srgb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1524000" y="20955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762000"/>
                  </a:lnTo>
                </a:path>
              </a:pathLst>
            </a:custGeom>
            <a:noFill/>
            <a:ln w="19050">
              <a:solidFill>
                <a:srgbClr val="1A73E8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809750" y="2857500"/>
              <a:ext cx="476250" cy="762000"/>
            </a:xfrm>
            <a:custGeom>
              <a:avLst/>
              <a:gdLst/>
              <a:ahLst/>
              <a:cxnLst/>
              <a:rect l="l" t="t" r="r" b="b"/>
              <a:pathLst>
                <a:path w="476250" h="762000">
                  <a:moveTo>
                    <a:pt x="47625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rgbClr val="1A73E8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524000" y="2095500"/>
              <a:ext cx="285750" cy="1524000"/>
            </a:xfrm>
            <a:custGeom>
              <a:avLst/>
              <a:gdLst/>
              <a:ahLst/>
              <a:cxnLst/>
              <a:rect l="l" t="t" r="r" b="b"/>
              <a:pathLst>
                <a:path w="285750" h="1524000">
                  <a:moveTo>
                    <a:pt x="0" y="0"/>
                  </a:moveTo>
                  <a:lnTo>
                    <a:pt x="285750" y="1524000"/>
                  </a:lnTo>
                </a:path>
              </a:pathLst>
            </a:custGeom>
            <a:noFill/>
            <a:ln w="9525">
              <a:solidFill>
                <a:srgbClr val="1A73E8">
                  <a:alpha val="5000"/>
                </a:srgbClr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906000" y="1905000"/>
              <a:ext cx="666750" cy="857250"/>
            </a:xfrm>
            <a:prstGeom prst="roundRect">
              <a:avLst>
                <a:gd name="adj" fmla="val 14286"/>
              </a:avLst>
            </a:prstGeom>
            <a:solidFill>
              <a:srgbClr val="4FC3F7">
                <a:alpha val="8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144125" y="2143125"/>
              <a:ext cx="666750" cy="857250"/>
            </a:xfrm>
            <a:prstGeom prst="roundRect">
              <a:avLst>
                <a:gd name="adj" fmla="val 14286"/>
              </a:avLst>
            </a:prstGeom>
            <a:solidFill>
              <a:srgbClr val="4FC3F7">
                <a:alpha val="12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382250" y="2381250"/>
              <a:ext cx="666750" cy="857250"/>
            </a:xfrm>
            <a:prstGeom prst="roundRect">
              <a:avLst>
                <a:gd name="adj" fmla="val 14286"/>
              </a:avLst>
            </a:prstGeom>
            <a:solidFill>
              <a:srgbClr val="4FC3F7">
                <a:alpha val="16000"/>
              </a:srgbClr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9906000" y="233362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4FC3F7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144125" y="25717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4FC3F7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382250" y="280987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4FC3F7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A73E8">
                  <a:alpha val="4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A73E8">
                  <a:alpha val="4000"/>
                </a:srgbClr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2724818" y="2286000"/>
            <a:ext cx="6742364" cy="2667000"/>
            <a:chOff x="2724818" y="2286000"/>
            <a:chExt cx="6742364" cy="2667000"/>
          </a:xfrm>
        </p:grpSpPr>
        <p:sp>
          <p:nvSpPr>
            <p:cNvPr id="18" name="Line 18"/>
            <p:cNvSpPr/>
            <p:nvPr/>
          </p:nvSpPr>
          <p:spPr>
            <a:xfrm>
              <a:off x="5334000" y="2286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38100" cap="rnd">
              <a:solidFill>
                <a:srgbClr val="4FC3F7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24818" y="2511742"/>
              <a:ext cx="6742364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知识图谱 vs RAG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5659" y="3647122"/>
              <a:ext cx="546068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A73E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大模型时代下两种知识增强范式的深度对比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19725" y="4267200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面向技术团队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048375" y="4857750"/>
              <a:ext cx="95250" cy="9525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5762625" y="49053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 cap="rnd">
              <a:solidFill>
                <a:srgbClr val="4FC3F7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238875" y="49053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 cap="rnd">
              <a:solidFill>
                <a:srgbClr val="4FC3F7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1384935" y="722948"/>
            <a:ext cx="1680210" cy="1105852"/>
            <a:chOff x="1384935" y="722948"/>
            <a:chExt cx="1680210" cy="1105852"/>
          </a:xfrm>
        </p:grpSpPr>
        <p:sp>
          <p:nvSpPr>
            <p:cNvPr id="3" name="TextBox 3"/>
            <p:cNvSpPr txBox="1"/>
            <p:nvPr/>
          </p:nvSpPr>
          <p:spPr>
            <a:xfrm>
              <a:off x="1384935" y="722948"/>
              <a:ext cx="1145762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1428750" y="13811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38100" cap="rnd">
              <a:solidFill>
                <a:srgbClr val="4FC3F7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413510" y="1584960"/>
              <a:ext cx="16516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TABLE OF CONTENTS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47800" y="1924050"/>
            <a:ext cx="3795522" cy="5105400"/>
            <a:chOff x="1447800" y="1924050"/>
            <a:chExt cx="3795522" cy="5105400"/>
          </a:xfrm>
        </p:grpSpPr>
        <p:sp>
          <p:nvSpPr>
            <p:cNvPr id="7" name="Ellipse 7"/>
            <p:cNvSpPr/>
            <p:nvPr/>
          </p:nvSpPr>
          <p:spPr>
            <a:xfrm>
              <a:off x="1447800" y="1924050"/>
              <a:ext cx="533400" cy="5334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97688" y="2028825"/>
              <a:ext cx="233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06955" y="1964055"/>
              <a:ext cx="158686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背景与问题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447800" y="2686050"/>
              <a:ext cx="533400" cy="5334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68934" y="27908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06955" y="2726055"/>
              <a:ext cx="25069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什么是知识图谱？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447800" y="3448050"/>
              <a:ext cx="533400" cy="5334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68934" y="35528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06955" y="3488055"/>
              <a:ext cx="187823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什么是 RAG？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1447800" y="4210050"/>
              <a:ext cx="533400" cy="5334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68934" y="43148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06955" y="4250055"/>
              <a:ext cx="18935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核心维度对比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447800" y="4972050"/>
              <a:ext cx="533400" cy="5334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68934" y="50768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06955" y="5012055"/>
              <a:ext cx="281368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应用场景与选型指南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447800" y="5734050"/>
              <a:ext cx="533400" cy="5334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68934" y="58388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06955" y="5774055"/>
              <a:ext cx="293636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GraphRAG：融合之道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447800" y="6496050"/>
              <a:ext cx="533400" cy="5334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68934" y="66008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06955" y="6536055"/>
              <a:ext cx="158686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总结与展望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428750"/>
            <a:ext cx="3019425" cy="4762500"/>
            <a:chOff x="8096250" y="1428750"/>
            <a:chExt cx="3019425" cy="4762500"/>
          </a:xfrm>
        </p:grpSpPr>
        <p:sp>
          <p:nvSpPr>
            <p:cNvPr id="29" name="Freeform 29"/>
            <p:cNvSpPr/>
            <p:nvPr/>
          </p:nvSpPr>
          <p:spPr>
            <a:xfrm>
              <a:off x="8382000" y="1714500"/>
              <a:ext cx="2286000" cy="2095500"/>
            </a:xfrm>
            <a:custGeom>
              <a:avLst/>
              <a:gdLst/>
              <a:ahLst/>
              <a:cxnLst/>
              <a:rect l="l" t="t" r="r" b="b"/>
              <a:pathLst>
                <a:path w="2286000" h="2095500">
                  <a:moveTo>
                    <a:pt x="0" y="0"/>
                  </a:moveTo>
                  <a:lnTo>
                    <a:pt x="952500" y="571500"/>
                  </a:lnTo>
                  <a:lnTo>
                    <a:pt x="1905000" y="285750"/>
                  </a:lnTo>
                  <a:lnTo>
                    <a:pt x="2286000" y="1333500"/>
                  </a:lnTo>
                  <a:lnTo>
                    <a:pt x="1333500" y="2095500"/>
                  </a:lnTo>
                  <a:lnTo>
                    <a:pt x="381000" y="1524000"/>
                  </a:lnTo>
                  <a:close/>
                </a:path>
              </a:pathLst>
            </a:custGeom>
            <a:noFill/>
            <a:ln w="23812">
              <a:solidFill>
                <a:srgbClr val="4FC3F7">
                  <a:alpha val="18000"/>
                </a:srgbClr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382000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952500" y="571500"/>
                  </a:moveTo>
                  <a:lnTo>
                    <a:pt x="1333500" y="2095500"/>
                  </a:lnTo>
                  <a:moveTo>
                    <a:pt x="1905000" y="285750"/>
                  </a:moveTo>
                  <a:lnTo>
                    <a:pt x="1333500" y="2095500"/>
                  </a:lnTo>
                  <a:moveTo>
                    <a:pt x="381000" y="1524000"/>
                  </a:moveTo>
                  <a:lnTo>
                    <a:pt x="1333500" y="2095500"/>
                  </a:lnTo>
                  <a:moveTo>
                    <a:pt x="0" y="0"/>
                  </a:moveTo>
                  <a:lnTo>
                    <a:pt x="381000" y="1524000"/>
                  </a:lnTo>
                </a:path>
              </a:pathLst>
            </a:custGeom>
            <a:noFill/>
            <a:ln w="19050">
              <a:solidFill>
                <a:srgbClr val="1A73E8">
                  <a:alpha val="18000"/>
                </a:srgbClr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296275" y="1628775"/>
              <a:ext cx="171450" cy="171450"/>
            </a:xfrm>
            <a:prstGeom prst="ellipse">
              <a:avLst/>
            </a:prstGeom>
            <a:solidFill>
              <a:srgbClr val="4FC3F7">
                <a:alpha val="18000"/>
              </a:srgb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9229725" y="2181225"/>
              <a:ext cx="209550" cy="209550"/>
            </a:xfrm>
            <a:prstGeom prst="ellipse">
              <a:avLst/>
            </a:prstGeom>
            <a:solidFill>
              <a:srgbClr val="1A73E8">
                <a:alpha val="18000"/>
              </a:srgb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210800" y="1924050"/>
              <a:ext cx="152400" cy="152400"/>
            </a:xfrm>
            <a:prstGeom prst="ellipse">
              <a:avLst/>
            </a:prstGeom>
            <a:solidFill>
              <a:srgbClr val="4FC3F7">
                <a:alpha val="18000"/>
              </a:srgb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572750" y="2952750"/>
              <a:ext cx="190500" cy="190500"/>
            </a:xfrm>
            <a:prstGeom prst="ellipse">
              <a:avLst/>
            </a:prstGeom>
            <a:solidFill>
              <a:srgbClr val="1A73E8">
                <a:alpha val="18000"/>
              </a:srgb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9582150" y="3676650"/>
              <a:ext cx="266700" cy="266700"/>
            </a:xfrm>
            <a:prstGeom prst="ellipse">
              <a:avLst/>
            </a:prstGeom>
            <a:solidFill>
              <a:srgbClr val="4FC3F7">
                <a:alpha val="18000"/>
              </a:srgb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8677275" y="3152775"/>
              <a:ext cx="171450" cy="171450"/>
            </a:xfrm>
            <a:prstGeom prst="ellipse">
              <a:avLst/>
            </a:prstGeom>
            <a:solidFill>
              <a:srgbClr val="1A73E8">
                <a:alpha val="18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144000" y="3048000"/>
              <a:ext cx="1905000" cy="2667000"/>
            </a:xfrm>
            <a:custGeom>
              <a:avLst/>
              <a:gdLst/>
              <a:ahLst/>
              <a:cxnLst/>
              <a:rect l="l" t="t" r="r" b="b"/>
              <a:pathLst>
                <a:path w="1905000" h="2667000">
                  <a:moveTo>
                    <a:pt x="1524000" y="0"/>
                  </a:moveTo>
                  <a:lnTo>
                    <a:pt x="1905000" y="1524000"/>
                  </a:lnTo>
                  <a:lnTo>
                    <a:pt x="1238250" y="2095500"/>
                  </a:lnTo>
                  <a:lnTo>
                    <a:pt x="0" y="2667000"/>
                  </a:lnTo>
                </a:path>
              </a:pathLst>
            </a:custGeom>
            <a:noFill/>
            <a:ln w="19050">
              <a:solidFill>
                <a:srgbClr val="1A73E8">
                  <a:alpha val="18000"/>
                </a:srgbClr>
              </a:solidFill>
              <a:custDash>
                <a:ds d="300000" sp="200000"/>
              </a:custDash>
            </a:ln>
          </p:spPr>
        </p:sp>
        <p:sp>
          <p:nvSpPr>
            <p:cNvPr id="38" name="Ellipse 38"/>
            <p:cNvSpPr/>
            <p:nvPr/>
          </p:nvSpPr>
          <p:spPr>
            <a:xfrm>
              <a:off x="10982325" y="4505325"/>
              <a:ext cx="133350" cy="133350"/>
            </a:xfrm>
            <a:prstGeom prst="ellipse">
              <a:avLst/>
            </a:prstGeom>
            <a:solidFill>
              <a:srgbClr val="4FC3F7">
                <a:alpha val="18000"/>
              </a:srgb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296525" y="5057775"/>
              <a:ext cx="171450" cy="171450"/>
            </a:xfrm>
            <a:prstGeom prst="ellipse">
              <a:avLst/>
            </a:prstGeom>
            <a:solidFill>
              <a:srgbClr val="1A73E8">
                <a:alpha val="18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086850" y="5657850"/>
              <a:ext cx="114300" cy="114300"/>
            </a:xfrm>
            <a:prstGeom prst="ellipse">
              <a:avLst/>
            </a:prstGeom>
            <a:solidFill>
              <a:srgbClr val="4FC3F7">
                <a:alpha val="18000"/>
              </a:srgbClr>
            </a:solidFill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8096250" y="142875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rgbClr val="4FC3F7">
                  <a:alpha val="18000"/>
                </a:srgbClr>
              </a:solidFill>
              <a:custDash>
                <a:ds d="200000" sp="800000"/>
              </a:custDash>
            </a:ln>
          </p:spPr>
        </p:sp>
        <p:sp>
          <p:nvSpPr>
            <p:cNvPr id="42" name="Line 42"/>
            <p:cNvSpPr/>
            <p:nvPr/>
          </p:nvSpPr>
          <p:spPr>
            <a:xfrm>
              <a:off x="10953750" y="142875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rgbClr val="4FC3F7">
                  <a:alpha val="18000"/>
                </a:srgbClr>
              </a:solidFill>
              <a:custDash>
                <a:ds d="200000" sp="800000"/>
              </a:custDash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415415" y="6458902"/>
            <a:ext cx="9361170" cy="213360"/>
            <a:chOff x="1415415" y="6458902"/>
            <a:chExt cx="9361170" cy="213360"/>
          </a:xfrm>
        </p:grpSpPr>
        <p:sp>
          <p:nvSpPr>
            <p:cNvPr id="44" name="TextBox 44"/>
            <p:cNvSpPr txBox="1"/>
            <p:nvPr/>
          </p:nvSpPr>
          <p:spPr>
            <a:xfrm>
              <a:off x="1415415" y="6458902"/>
              <a:ext cx="5020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02 / 21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32367" y="6458902"/>
              <a:ext cx="1744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KNOWLEDGE GRAPH &amp; RAG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666750" y="1143000"/>
            <a:ext cx="11049000" cy="5238750"/>
            <a:chOff x="666750" y="1143000"/>
            <a:chExt cx="11049000" cy="5238750"/>
          </a:xfrm>
        </p:grpSpPr>
        <p:sp>
          <p:nvSpPr>
            <p:cNvPr id="3" name="Rectangle 3"/>
            <p:cNvSpPr/>
            <p:nvPr/>
          </p:nvSpPr>
          <p:spPr>
            <a:xfrm>
              <a:off x="666750" y="1333500"/>
              <a:ext cx="76200" cy="41910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10096500" y="114300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0" y="0"/>
                  </a:moveTo>
                  <a:lnTo>
                    <a:pt x="1428750" y="0"/>
                  </a:lnTo>
                  <a:lnTo>
                    <a:pt x="1428750" y="1428750"/>
                  </a:lnTo>
                  <a:close/>
                </a:path>
              </a:pathLst>
            </a:custGeom>
            <a:solidFill>
              <a:srgbClr val="4FC3F7">
                <a:alpha val="1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477500" y="1524000"/>
              <a:ext cx="666750" cy="666750"/>
            </a:xfrm>
            <a:prstGeom prst="ellipse">
              <a:avLst/>
            </a:prstGeom>
            <a:noFill/>
            <a:ln w="19050">
              <a:solidFill>
                <a:srgbClr val="1A73E8">
                  <a:alpha val="35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0" y="1714500"/>
              <a:ext cx="285750" cy="285750"/>
            </a:xfrm>
            <a:prstGeom prst="ellipse">
              <a:avLst/>
            </a:prstGeom>
            <a:solidFill>
              <a:srgbClr val="4FC3F7">
                <a:alpha val="2000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906000" y="5143500"/>
              <a:ext cx="1809750" cy="1238250"/>
            </a:xfrm>
            <a:prstGeom prst="rect">
              <a:avLst/>
            </a:prstGeom>
            <a:noFill/>
            <a:ln w="9525">
              <a:solidFill>
                <a:srgbClr val="4FC3F7">
                  <a:alpha val="2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906000" y="55245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rgbClr val="4FC3F7">
                  <a:alpha val="2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906000" y="59055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rgbClr val="4FC3F7">
                  <a:alpha val="2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0477500" y="5143500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9525">
              <a:solidFill>
                <a:srgbClr val="4FC3F7">
                  <a:alpha val="2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1049000" y="5143500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9525">
              <a:solidFill>
                <a:srgbClr val="4FC3F7">
                  <a:alpha val="25000"/>
                </a:srgbClr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95375" y="1357312"/>
            <a:ext cx="3663315" cy="3900488"/>
            <a:chOff x="1095375" y="1357312"/>
            <a:chExt cx="3663315" cy="3900488"/>
          </a:xfrm>
        </p:grpSpPr>
        <p:sp>
          <p:nvSpPr>
            <p:cNvPr id="13" name="TextBox 13"/>
            <p:cNvSpPr txBox="1"/>
            <p:nvPr/>
          </p:nvSpPr>
          <p:spPr>
            <a:xfrm>
              <a:off x="1095375" y="1357312"/>
              <a:ext cx="1752183" cy="2286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6815" y="3087052"/>
              <a:ext cx="320825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背景与问题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238250" y="39052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47625" cap="rnd">
              <a:solidFill>
                <a:srgbClr val="4FC3F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09675" y="4424362"/>
              <a:ext cx="306395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1. 大模型的核心困境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3010" y="5013960"/>
              <a:ext cx="3535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探索技术演进路径中的关键瓶颈与结构性挑战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6268402"/>
            <a:ext cx="10300335" cy="218123"/>
            <a:chOff x="762000" y="6268402"/>
            <a:chExt cx="10300335" cy="218123"/>
          </a:xfrm>
        </p:grpSpPr>
        <p:sp>
          <p:nvSpPr>
            <p:cNvPr id="19" name="Line 19"/>
            <p:cNvSpPr/>
            <p:nvPr/>
          </p:nvSpPr>
          <p:spPr>
            <a:xfrm>
              <a:off x="762000" y="6477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E0E5E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644616" y="6268402"/>
              <a:ext cx="4177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7710" y="470535"/>
            <a:ext cx="3380994" cy="548640"/>
            <a:chOff x="727710" y="470535"/>
            <a:chExt cx="3380994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727710" y="470535"/>
              <a:ext cx="338099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大模型的知识困境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762000" y="952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38100" cap="rnd">
              <a:solidFill>
                <a:srgbClr val="4FC3F7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62000" y="1524000"/>
            <a:ext cx="10287000" cy="3810000"/>
            <a:chOff x="762000" y="1524000"/>
            <a:chExt cx="10287000" cy="3810000"/>
          </a:xfrm>
        </p:grpSpPr>
        <p:grpSp>
          <p:nvGrpSpPr>
            <p:cNvPr id="11" name="Group 11"/>
            <p:cNvGrpSpPr/>
            <p:nvPr/>
          </p:nvGrpSpPr>
          <p:grpSpPr>
            <a:xfrm>
              <a:off x="762000" y="1524000"/>
              <a:ext cx="4953000" cy="1714500"/>
              <a:chOff x="762000" y="1524000"/>
              <a:chExt cx="4953000" cy="1714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524000"/>
                <a:ext cx="4953000" cy="171450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714500"/>
                <a:ext cx="381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4819021" y="1611630"/>
                <a:ext cx="56069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3600" b="1" dirty="0">
                    <a:solidFill>
                      <a:srgbClr val="4FC3F7">
                        <a:alphaMod val="20000"/>
                      </a:srgbClr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26795" y="1869758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幻觉问题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2510" y="2251710"/>
                <a:ext cx="24841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模型可能生成与事实不符的内容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096000" y="1524000"/>
              <a:ext cx="4953000" cy="1714500"/>
              <a:chOff x="6096000" y="1524000"/>
              <a:chExt cx="4953000" cy="1714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096000" y="1524000"/>
                <a:ext cx="4953000" cy="171450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6096000" y="1714500"/>
                <a:ext cx="381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015004" y="1611630"/>
                <a:ext cx="698716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3600" b="1" dirty="0">
                    <a:solidFill>
                      <a:srgbClr val="4FC3F7">
                        <a:alphaMod val="20000"/>
                      </a:srgbClr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60795" y="1869758"/>
                <a:ext cx="13070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知识时效性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366510" y="2251710"/>
                <a:ext cx="24841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训练数据截止后无法感知新信息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62000" y="3619500"/>
              <a:ext cx="4953000" cy="1714500"/>
              <a:chOff x="762000" y="3619500"/>
              <a:chExt cx="4953000" cy="1714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62000" y="3619500"/>
                <a:ext cx="4953000" cy="171450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762000" y="3810000"/>
                <a:ext cx="381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681004" y="3707130"/>
                <a:ext cx="698716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3600" b="1" dirty="0">
                    <a:solidFill>
                      <a:srgbClr val="4FC3F7">
                        <a:alphaMod val="20000"/>
                      </a:srgbClr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26795" y="3965258"/>
                <a:ext cx="13070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领域专业性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32510" y="4347210"/>
                <a:ext cx="2308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通用模型在垂直领域表现不足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3619500"/>
              <a:ext cx="4953000" cy="1714500"/>
              <a:chOff x="6096000" y="3619500"/>
              <a:chExt cx="4953000" cy="1714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096000" y="3619500"/>
                <a:ext cx="4953000" cy="171450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6096000" y="3810000"/>
                <a:ext cx="381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015004" y="3707130"/>
                <a:ext cx="698716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3600" b="1" dirty="0">
                    <a:solidFill>
                      <a:srgbClr val="4FC3F7">
                        <a:alphaMod val="20000"/>
                      </a:srgbClr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360795" y="3965258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可解释性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366510" y="4347210"/>
                <a:ext cx="2308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黑盒推理，难以追溯知识来源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762000" y="5715000"/>
            <a:ext cx="10763250" cy="762000"/>
            <a:chOff x="762000" y="5715000"/>
            <a:chExt cx="10763250" cy="762000"/>
          </a:xfrm>
        </p:grpSpPr>
        <p:sp>
          <p:nvSpPr>
            <p:cNvPr id="31" name="Rectangle 31"/>
            <p:cNvSpPr/>
            <p:nvPr/>
          </p:nvSpPr>
          <p:spPr>
            <a:xfrm>
              <a:off x="762000" y="5715000"/>
              <a:ext cx="10668000" cy="762000"/>
            </a:xfrm>
            <a:prstGeom prst="roundRect">
              <a:avLst>
                <a:gd name="adj" fmla="val 15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20140" y="5996940"/>
              <a:ext cx="464169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→ 两种主流解决方案：知识图谱 &amp; RAG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11239500" y="6000750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750" h="190500">
                  <a:moveTo>
                    <a:pt x="0" y="95250"/>
                  </a:moveTo>
                  <a:lnTo>
                    <a:pt x="190500" y="95250"/>
                  </a:lnTo>
                  <a:lnTo>
                    <a:pt x="190500" y="0"/>
                  </a:lnTo>
                  <a:lnTo>
                    <a:pt x="285750" y="95250"/>
                  </a:lnTo>
                  <a:lnTo>
                    <a:pt x="190500" y="190500"/>
                  </a:lnTo>
                  <a:lnTo>
                    <a:pt x="19050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4FC3F7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1025616" y="6554152"/>
            <a:ext cx="417719" cy="213360"/>
            <a:chOff x="11025616" y="6554152"/>
            <a:chExt cx="417719" cy="213360"/>
          </a:xfrm>
        </p:grpSpPr>
        <p:sp>
          <p:nvSpPr>
            <p:cNvPr id="35" name="TextBox 35"/>
            <p:cNvSpPr txBox="1"/>
            <p:nvPr/>
          </p:nvSpPr>
          <p:spPr>
            <a:xfrm>
              <a:off x="11025616" y="6554152"/>
              <a:ext cx="4177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4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8FE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" y="0"/>
              <a:ext cx="12134850" cy="6858000"/>
            </a:xfrm>
            <a:prstGeom prst="rect">
              <a:avLst/>
            </a:prstGeom>
            <a:solidFill>
              <a:srgbClr val="F5F8FE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81050" y="1019175"/>
            <a:ext cx="5377434" cy="4067175"/>
            <a:chOff x="781050" y="1019175"/>
            <a:chExt cx="5377434" cy="4067175"/>
          </a:xfrm>
        </p:grpSpPr>
        <p:sp>
          <p:nvSpPr>
            <p:cNvPr id="6" name="TextBox 6"/>
            <p:cNvSpPr txBox="1"/>
            <p:nvPr/>
          </p:nvSpPr>
          <p:spPr>
            <a:xfrm>
              <a:off x="781050" y="1019175"/>
              <a:ext cx="2620185" cy="274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9160" y="3261360"/>
              <a:ext cx="5259324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什么是知识图谱？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40957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rgbClr val="4FC3F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2020" y="4598670"/>
              <a:ext cx="431977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1. 符号主义的知识组织方式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39000" y="1524000"/>
            <a:ext cx="3771900" cy="3257550"/>
            <a:chOff x="7239000" y="1524000"/>
            <a:chExt cx="3771900" cy="3257550"/>
          </a:xfrm>
        </p:grpSpPr>
        <p:sp>
          <p:nvSpPr>
            <p:cNvPr id="11" name="Line 11"/>
            <p:cNvSpPr/>
            <p:nvPr/>
          </p:nvSpPr>
          <p:spPr>
            <a:xfrm>
              <a:off x="7429500" y="1714500"/>
              <a:ext cx="1333500" cy="762000"/>
            </a:xfrm>
            <a:custGeom>
              <a:avLst/>
              <a:gdLst/>
              <a:ahLst/>
              <a:cxnLst/>
              <a:rect l="l" t="t" r="r" b="b"/>
              <a:pathLst>
                <a:path w="1333500" h="762000">
                  <a:moveTo>
                    <a:pt x="0" y="0"/>
                  </a:moveTo>
                  <a:lnTo>
                    <a:pt x="1333500" y="762000"/>
                  </a:lnTo>
                </a:path>
              </a:pathLst>
            </a:custGeom>
            <a:noFill/>
            <a:ln w="19050">
              <a:solidFill>
                <a:srgbClr val="1A73E8">
                  <a:alpha val="2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763000" y="190500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0" y="57150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rgbClr val="1A73E8">
                  <a:alpha val="2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763000" y="2476500"/>
              <a:ext cx="381000" cy="1524000"/>
            </a:xfrm>
            <a:custGeom>
              <a:avLst/>
              <a:gdLst/>
              <a:ahLst/>
              <a:cxnLst/>
              <a:rect l="l" t="t" r="r" b="b"/>
              <a:pathLst>
                <a:path w="381000" h="1524000">
                  <a:moveTo>
                    <a:pt x="0" y="0"/>
                  </a:moveTo>
                  <a:lnTo>
                    <a:pt x="381000" y="1524000"/>
                  </a:lnTo>
                </a:path>
              </a:pathLst>
            </a:custGeom>
            <a:noFill/>
            <a:ln w="19050">
              <a:solidFill>
                <a:srgbClr val="1A73E8">
                  <a:alpha val="2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096500" y="1905000"/>
              <a:ext cx="762000" cy="1143000"/>
            </a:xfrm>
            <a:custGeom>
              <a:avLst/>
              <a:gdLst/>
              <a:ahLst/>
              <a:cxnLst/>
              <a:rect l="l" t="t" r="r" b="b"/>
              <a:pathLst>
                <a:path w="762000" h="1143000">
                  <a:moveTo>
                    <a:pt x="0" y="0"/>
                  </a:moveTo>
                  <a:lnTo>
                    <a:pt x="762000" y="1143000"/>
                  </a:lnTo>
                </a:path>
              </a:pathLst>
            </a:custGeom>
            <a:noFill/>
            <a:ln w="19050">
              <a:solidFill>
                <a:srgbClr val="1A73E8">
                  <a:alpha val="2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144000" y="3619500"/>
              <a:ext cx="1143000" cy="381000"/>
            </a:xfrm>
            <a:custGeom>
              <a:avLst/>
              <a:gdLst/>
              <a:ahLst/>
              <a:cxnLst/>
              <a:rect l="l" t="t" r="r" b="b"/>
              <a:pathLst>
                <a:path w="1143000" h="381000">
                  <a:moveTo>
                    <a:pt x="0" y="38100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1A73E8">
                  <a:alpha val="2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287000" y="3048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57150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1A73E8">
                  <a:alpha val="2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429500" y="1714500"/>
              <a:ext cx="381000" cy="1714500"/>
            </a:xfrm>
            <a:custGeom>
              <a:avLst/>
              <a:gdLst/>
              <a:ahLst/>
              <a:cxnLst/>
              <a:rect l="l" t="t" r="r" b="b"/>
              <a:pathLst>
                <a:path w="381000" h="1714500">
                  <a:moveTo>
                    <a:pt x="0" y="0"/>
                  </a:moveTo>
                  <a:lnTo>
                    <a:pt x="381000" y="1714500"/>
                  </a:lnTo>
                </a:path>
              </a:pathLst>
            </a:custGeom>
            <a:noFill/>
            <a:ln w="19050">
              <a:solidFill>
                <a:srgbClr val="4FC3F7">
                  <a:alpha val="2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810500" y="342900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0" y="0"/>
                  </a:moveTo>
                  <a:lnTo>
                    <a:pt x="1333500" y="571500"/>
                  </a:lnTo>
                </a:path>
              </a:pathLst>
            </a:custGeom>
            <a:noFill/>
            <a:ln w="19050">
              <a:solidFill>
                <a:srgbClr val="4FC3F7">
                  <a:alpha val="2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810500" y="3429000"/>
              <a:ext cx="1714500" cy="1143000"/>
            </a:xfrm>
            <a:custGeom>
              <a:avLst/>
              <a:gdLst/>
              <a:ahLst/>
              <a:cxnLst/>
              <a:rect l="l" t="t" r="r" b="b"/>
              <a:pathLst>
                <a:path w="1714500" h="1143000">
                  <a:moveTo>
                    <a:pt x="0" y="0"/>
                  </a:moveTo>
                  <a:lnTo>
                    <a:pt x="1714500" y="1143000"/>
                  </a:lnTo>
                </a:path>
              </a:pathLst>
            </a:custGeom>
            <a:noFill/>
            <a:ln w="19050">
              <a:solidFill>
                <a:srgbClr val="4FC3F7">
                  <a:alpha val="2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9525000" y="3619500"/>
              <a:ext cx="762000" cy="952500"/>
            </a:xfrm>
            <a:custGeom>
              <a:avLst/>
              <a:gdLst/>
              <a:ahLst/>
              <a:cxnLst/>
              <a:rect l="l" t="t" r="r" b="b"/>
              <a:pathLst>
                <a:path w="762000" h="952500">
                  <a:moveTo>
                    <a:pt x="0" y="952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4FC3F7">
                  <a:alpha val="25000"/>
                </a:srgb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296150" y="1581150"/>
              <a:ext cx="266700" cy="2667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591550" y="2305050"/>
              <a:ext cx="342900" cy="3429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982200" y="1790700"/>
              <a:ext cx="228600" cy="2286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58100" y="3276600"/>
              <a:ext cx="304800" cy="3048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010650" y="3867150"/>
              <a:ext cx="266700" cy="2667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410700" y="4457700"/>
              <a:ext cx="228600" cy="2286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134600" y="3467100"/>
              <a:ext cx="304800" cy="3048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763250" y="2952750"/>
              <a:ext cx="190500" cy="1905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8496300" y="2209800"/>
              <a:ext cx="533400" cy="533400"/>
            </a:xfrm>
            <a:prstGeom prst="ellipse">
              <a:avLst/>
            </a:prstGeom>
            <a:noFill/>
            <a:ln w="9525">
              <a:solidFill>
                <a:srgbClr val="1A73E8">
                  <a:alpha val="15000"/>
                </a:srgbClr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581900" y="3200400"/>
              <a:ext cx="457200" cy="457200"/>
            </a:xfrm>
            <a:prstGeom prst="ellipse">
              <a:avLst/>
            </a:prstGeom>
            <a:noFill/>
            <a:ln w="9525">
              <a:solidFill>
                <a:srgbClr val="4FC3F7">
                  <a:alpha val="15000"/>
                </a:srgbClr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9315450" y="4362450"/>
              <a:ext cx="419100" cy="419100"/>
            </a:xfrm>
            <a:prstGeom prst="ellipse">
              <a:avLst/>
            </a:prstGeom>
            <a:noFill/>
            <a:ln w="9525">
              <a:solidFill>
                <a:srgbClr val="1A73E8">
                  <a:alpha val="15000"/>
                </a:srgbClr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0039350" y="3371850"/>
              <a:ext cx="495300" cy="495300"/>
            </a:xfrm>
            <a:prstGeom prst="ellipse">
              <a:avLst/>
            </a:prstGeom>
            <a:noFill/>
            <a:ln w="9525">
              <a:solidFill>
                <a:srgbClr val="4FC3F7">
                  <a:alpha val="15000"/>
                </a:srgbClr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239000" y="1524000"/>
              <a:ext cx="381000" cy="381000"/>
            </a:xfrm>
            <a:prstGeom prst="ellipse">
              <a:avLst/>
            </a:prstGeom>
            <a:noFill/>
            <a:ln w="9525">
              <a:solidFill>
                <a:srgbClr val="1A73E8">
                  <a:alpha val="10000"/>
                </a:srgbClr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706100" y="2895600"/>
              <a:ext cx="304800" cy="304800"/>
            </a:xfrm>
            <a:prstGeom prst="ellipse">
              <a:avLst/>
            </a:prstGeom>
            <a:noFill/>
            <a:ln w="9525">
              <a:solidFill>
                <a:srgbClr val="4FC3F7">
                  <a:alpha val="10000"/>
                </a:srgbClr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541318" y="6315075"/>
            <a:ext cx="717232" cy="304800"/>
            <a:chOff x="10541318" y="6315075"/>
            <a:chExt cx="717232" cy="304800"/>
          </a:xfrm>
        </p:grpSpPr>
        <p:sp>
          <p:nvSpPr>
            <p:cNvPr id="36" name="TextBox 36"/>
            <p:cNvSpPr txBox="1"/>
            <p:nvPr/>
          </p:nvSpPr>
          <p:spPr>
            <a:xfrm>
              <a:off x="10541318" y="6315075"/>
              <a:ext cx="7172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5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5805" y="501968"/>
            <a:ext cx="4923696" cy="993457"/>
            <a:chOff x="725805" y="501968"/>
            <a:chExt cx="4923696" cy="993457"/>
          </a:xfrm>
        </p:grpSpPr>
        <p:sp>
          <p:nvSpPr>
            <p:cNvPr id="3" name="TextBox 3"/>
            <p:cNvSpPr txBox="1"/>
            <p:nvPr/>
          </p:nvSpPr>
          <p:spPr>
            <a:xfrm>
              <a:off x="725805" y="501968"/>
              <a:ext cx="492369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知识图谱（KG）核心原理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762000" y="10477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47625" cap="rnd">
              <a:solidFill>
                <a:srgbClr val="4FC3F7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6760" y="1251585"/>
              <a:ext cx="27470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Knowledge Graph Core Principles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1619250"/>
            <a:ext cx="4953000" cy="4095750"/>
            <a:chOff x="762000" y="1619250"/>
            <a:chExt cx="4953000" cy="4095750"/>
          </a:xfrm>
        </p:grpSpPr>
        <p:grpSp>
          <p:nvGrpSpPr>
            <p:cNvPr id="12" name="Group 12"/>
            <p:cNvGrpSpPr/>
            <p:nvPr/>
          </p:nvGrpSpPr>
          <p:grpSpPr>
            <a:xfrm>
              <a:off x="762000" y="1619250"/>
              <a:ext cx="4953000" cy="1238250"/>
              <a:chOff x="762000" y="1619250"/>
              <a:chExt cx="4953000" cy="12382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619250"/>
                <a:ext cx="4953000" cy="1238250"/>
              </a:xfrm>
              <a:prstGeom prst="roundRect">
                <a:avLst>
                  <a:gd name="adj" fmla="val 10769"/>
                </a:avLst>
              </a:prstGeom>
              <a:solidFill>
                <a:srgbClr val="FFFFFF"/>
              </a:solidFill>
              <a:ln w="14288">
                <a:solidFill>
                  <a:srgbClr val="E0E7FF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23925" y="1781175"/>
                <a:ext cx="342900" cy="3429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55209" y="1878806"/>
                <a:ext cx="803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62075" y="1790700"/>
                <a:ext cx="141827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结构化三元组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65885" y="2108835"/>
                <a:ext cx="34831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基于 实体-关系-实体 三元组的结构化知识库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62000" y="3048000"/>
              <a:ext cx="4953000" cy="1238250"/>
              <a:chOff x="762000" y="3048000"/>
              <a:chExt cx="4953000" cy="1238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3048000"/>
                <a:ext cx="4953000" cy="1238250"/>
              </a:xfrm>
              <a:prstGeom prst="roundRect">
                <a:avLst>
                  <a:gd name="adj" fmla="val 10769"/>
                </a:avLst>
              </a:prstGeom>
              <a:solidFill>
                <a:srgbClr val="FFFFFF"/>
              </a:solidFill>
              <a:ln w="14288">
                <a:solidFill>
                  <a:srgbClr val="E0E7FF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923925" y="3209925"/>
                <a:ext cx="342900" cy="3429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33644" y="3307556"/>
                <a:ext cx="1234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362075" y="3219450"/>
                <a:ext cx="137226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Schema 先行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65885" y="3537585"/>
                <a:ext cx="272072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预定义本体（Ontology）约束语义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762000" y="4476750"/>
              <a:ext cx="4953000" cy="1238250"/>
              <a:chOff x="762000" y="4476750"/>
              <a:chExt cx="4953000" cy="12382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" y="4476750"/>
                <a:ext cx="4953000" cy="1238250"/>
              </a:xfrm>
              <a:prstGeom prst="roundRect">
                <a:avLst>
                  <a:gd name="adj" fmla="val 10769"/>
                </a:avLst>
              </a:prstGeom>
              <a:solidFill>
                <a:srgbClr val="FFFFFF"/>
              </a:solidFill>
              <a:ln w="14288">
                <a:solidFill>
                  <a:srgbClr val="E0E7FF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923925" y="4638675"/>
                <a:ext cx="342900" cy="3429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33644" y="4736306"/>
                <a:ext cx="1234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362075" y="4648200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推理机制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365885" y="4966335"/>
                <a:ext cx="365836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路径推理、规则推理、图算法（如 PageRank）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6477000" y="1619250"/>
            <a:ext cx="4953000" cy="2667000"/>
            <a:chOff x="6477000" y="1619250"/>
            <a:chExt cx="4953000" cy="2667000"/>
          </a:xfrm>
        </p:grpSpPr>
        <p:grpSp>
          <p:nvGrpSpPr>
            <p:cNvPr id="31" name="Group 31"/>
            <p:cNvGrpSpPr/>
            <p:nvPr/>
          </p:nvGrpSpPr>
          <p:grpSpPr>
            <a:xfrm>
              <a:off x="6477000" y="1619250"/>
              <a:ext cx="4953000" cy="1238250"/>
              <a:chOff x="6477000" y="1619250"/>
              <a:chExt cx="4953000" cy="12382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477000" y="1619250"/>
                <a:ext cx="4953000" cy="1238250"/>
              </a:xfrm>
              <a:prstGeom prst="roundRect">
                <a:avLst>
                  <a:gd name="adj" fmla="val 10769"/>
                </a:avLst>
              </a:prstGeom>
              <a:solidFill>
                <a:srgbClr val="FFFFFF"/>
              </a:solidFill>
              <a:ln w="14288">
                <a:solidFill>
                  <a:srgbClr val="E0E7FF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6638925" y="1781175"/>
                <a:ext cx="342900" cy="342900"/>
              </a:xfrm>
              <a:prstGeom prst="ellipse">
                <a:avLst/>
              </a:prstGeom>
              <a:solidFill>
                <a:srgbClr val="4FC3F7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748644" y="1878806"/>
                <a:ext cx="1234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077075" y="1790700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典型代表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080885" y="2108835"/>
                <a:ext cx="290474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Google Knowledge Graph、Wikidata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477000" y="3048000"/>
              <a:ext cx="4953000" cy="1238250"/>
              <a:chOff x="6477000" y="3048000"/>
              <a:chExt cx="4953000" cy="12382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477000" y="3048000"/>
                <a:ext cx="4953000" cy="1238250"/>
              </a:xfrm>
              <a:prstGeom prst="roundRect">
                <a:avLst>
                  <a:gd name="adj" fmla="val 10769"/>
                </a:avLst>
              </a:prstGeom>
              <a:solidFill>
                <a:srgbClr val="FFFFFF"/>
              </a:solidFill>
              <a:ln w="14288">
                <a:solidFill>
                  <a:srgbClr val="E0E7FF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6638925" y="3209925"/>
                <a:ext cx="342900" cy="342900"/>
              </a:xfrm>
              <a:prstGeom prst="ellipse">
                <a:avLst/>
              </a:prstGeom>
              <a:solidFill>
                <a:srgbClr val="4FC3F7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748644" y="3307556"/>
                <a:ext cx="1234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077075" y="3219450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核心特点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080885" y="3537585"/>
                <a:ext cx="24841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高精度、可解释、但构建成本高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3724275" y="2009775"/>
            <a:ext cx="3981450" cy="2676525"/>
            <a:chOff x="3724275" y="2009775"/>
            <a:chExt cx="3981450" cy="2676525"/>
          </a:xfrm>
        </p:grpSpPr>
        <p:sp>
          <p:nvSpPr>
            <p:cNvPr id="39" name="Line 39"/>
            <p:cNvSpPr/>
            <p:nvPr/>
          </p:nvSpPr>
          <p:spPr>
            <a:xfrm>
              <a:off x="3810000" y="2095500"/>
              <a:ext cx="1905000" cy="571500"/>
            </a:xfrm>
            <a:custGeom>
              <a:avLst/>
              <a:gdLst/>
              <a:ahLst/>
              <a:cxnLst/>
              <a:rect l="l" t="t" r="r" b="b"/>
              <a:pathLst>
                <a:path w="1905000" h="571500">
                  <a:moveTo>
                    <a:pt x="0" y="0"/>
                  </a:moveTo>
                  <a:lnTo>
                    <a:pt x="1905000" y="571500"/>
                  </a:lnTo>
                </a:path>
              </a:pathLst>
            </a:custGeom>
            <a:noFill/>
            <a:ln w="19050">
              <a:solidFill>
                <a:srgbClr val="1A73E8">
                  <a:alpha val="12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5715000" y="2095500"/>
              <a:ext cx="1905000" cy="571500"/>
            </a:xfrm>
            <a:custGeom>
              <a:avLst/>
              <a:gdLst/>
              <a:ahLst/>
              <a:cxnLst/>
              <a:rect l="l" t="t" r="r" b="b"/>
              <a:pathLst>
                <a:path w="1905000" h="571500">
                  <a:moveTo>
                    <a:pt x="0" y="57150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1A73E8">
                  <a:alpha val="12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5715000" y="26670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19050">
              <a:solidFill>
                <a:srgbClr val="4FC3F7">
                  <a:alpha val="12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3810000" y="20955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19050">
              <a:solidFill>
                <a:srgbClr val="4FC3F7">
                  <a:alpha val="12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7620000" y="20955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19050">
              <a:solidFill>
                <a:srgbClr val="1A73E8">
                  <a:alpha val="12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3810000" y="4000500"/>
              <a:ext cx="1905000" cy="571500"/>
            </a:xfrm>
            <a:custGeom>
              <a:avLst/>
              <a:gdLst/>
              <a:ahLst/>
              <a:cxnLst/>
              <a:rect l="l" t="t" r="r" b="b"/>
              <a:pathLst>
                <a:path w="1905000" h="571500">
                  <a:moveTo>
                    <a:pt x="0" y="0"/>
                  </a:moveTo>
                  <a:lnTo>
                    <a:pt x="1905000" y="571500"/>
                  </a:lnTo>
                </a:path>
              </a:pathLst>
            </a:custGeom>
            <a:noFill/>
            <a:ln w="19050">
              <a:solidFill>
                <a:srgbClr val="1A73E8">
                  <a:alpha val="12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5715000" y="4000500"/>
              <a:ext cx="1905000" cy="571500"/>
            </a:xfrm>
            <a:custGeom>
              <a:avLst/>
              <a:gdLst/>
              <a:ahLst/>
              <a:cxnLst/>
              <a:rect l="l" t="t" r="r" b="b"/>
              <a:pathLst>
                <a:path w="1905000" h="571500">
                  <a:moveTo>
                    <a:pt x="190500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4FC3F7">
                  <a:alpha val="12000"/>
                </a:srgbClr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3724275" y="2009775"/>
              <a:ext cx="171450" cy="171450"/>
            </a:xfrm>
            <a:prstGeom prst="ellipse">
              <a:avLst/>
            </a:prstGeom>
            <a:solidFill>
              <a:srgbClr val="1A73E8">
                <a:alpha val="12000"/>
              </a:srgb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5600700" y="2552700"/>
              <a:ext cx="228600" cy="228600"/>
            </a:xfrm>
            <a:prstGeom prst="ellipse">
              <a:avLst/>
            </a:prstGeom>
            <a:solidFill>
              <a:srgbClr val="4FC3F7">
                <a:alpha val="12000"/>
              </a:srgb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7534275" y="2009775"/>
              <a:ext cx="171450" cy="171450"/>
            </a:xfrm>
            <a:prstGeom prst="ellipse">
              <a:avLst/>
            </a:prstGeom>
            <a:solidFill>
              <a:srgbClr val="1A73E8">
                <a:alpha val="12000"/>
              </a:srgb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724275" y="3914775"/>
              <a:ext cx="171450" cy="171450"/>
            </a:xfrm>
            <a:prstGeom prst="ellipse">
              <a:avLst/>
            </a:prstGeom>
            <a:solidFill>
              <a:srgbClr val="4FC3F7">
                <a:alpha val="12000"/>
              </a:srgbClr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7534275" y="3914775"/>
              <a:ext cx="171450" cy="171450"/>
            </a:xfrm>
            <a:prstGeom prst="ellipse">
              <a:avLst/>
            </a:prstGeom>
            <a:solidFill>
              <a:srgbClr val="1A73E8">
                <a:alpha val="12000"/>
              </a:srgbClr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5600700" y="4457700"/>
              <a:ext cx="228600" cy="228600"/>
            </a:xfrm>
            <a:prstGeom prst="ellipse">
              <a:avLst/>
            </a:prstGeom>
            <a:solidFill>
              <a:srgbClr val="1A73E8">
                <a:alpha val="12000"/>
              </a:srgbClr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762000" y="6477000"/>
            <a:ext cx="10681335" cy="338138"/>
            <a:chOff x="762000" y="6477000"/>
            <a:chExt cx="10681335" cy="338138"/>
          </a:xfrm>
        </p:grpSpPr>
        <p:sp>
          <p:nvSpPr>
            <p:cNvPr id="53" name="Line 53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0E7FF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2000" y="657225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025616" y="6601778"/>
              <a:ext cx="4177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8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12529" y="327660"/>
            <a:ext cx="2966942" cy="548640"/>
            <a:chOff x="4612529" y="327660"/>
            <a:chExt cx="2966942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612529" y="327660"/>
              <a:ext cx="296694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知识图谱技术栈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0" y="80962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38100" cap="rnd">
              <a:solidFill>
                <a:srgbClr val="4FC3F7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333500" y="1143000"/>
            <a:ext cx="9525000" cy="762000"/>
            <a:chOff x="1333500" y="1143000"/>
            <a:chExt cx="9525000" cy="762000"/>
          </a:xfrm>
        </p:grpSpPr>
        <p:sp>
          <p:nvSpPr>
            <p:cNvPr id="6" name="Rectangle 6"/>
            <p:cNvSpPr/>
            <p:nvPr/>
          </p:nvSpPr>
          <p:spPr>
            <a:xfrm>
              <a:off x="1333500" y="1143000"/>
              <a:ext cx="9525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333500" y="11430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733550" y="1352550"/>
              <a:ext cx="342900" cy="3429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62157" y="145161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66950" y="1304925"/>
              <a:ext cx="23843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存储层 Storage Layer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70760" y="1565910"/>
              <a:ext cx="39037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Neo4j / NebulaGraph / JanusGraph（图数据库）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33500" y="2095500"/>
            <a:ext cx="9525000" cy="762000"/>
            <a:chOff x="1333500" y="2095500"/>
            <a:chExt cx="9525000" cy="762000"/>
          </a:xfrm>
        </p:grpSpPr>
        <p:sp>
          <p:nvSpPr>
            <p:cNvPr id="13" name="Rectangle 13"/>
            <p:cNvSpPr/>
            <p:nvPr/>
          </p:nvSpPr>
          <p:spPr>
            <a:xfrm>
              <a:off x="1333500" y="2095500"/>
              <a:ext cx="9525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333500" y="20955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733550" y="2305050"/>
              <a:ext cx="342900" cy="3429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39154" y="24041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66950" y="2257425"/>
              <a:ext cx="29594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构建层 Construction Layer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70760" y="2518410"/>
              <a:ext cx="28784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NLP 实体抽取 + 关系抽取 + 知识融合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33500" y="3048000"/>
            <a:ext cx="9525000" cy="762000"/>
            <a:chOff x="1333500" y="3048000"/>
            <a:chExt cx="9525000" cy="762000"/>
          </a:xfrm>
        </p:grpSpPr>
        <p:sp>
          <p:nvSpPr>
            <p:cNvPr id="20" name="Rectangle 20"/>
            <p:cNvSpPr/>
            <p:nvPr/>
          </p:nvSpPr>
          <p:spPr>
            <a:xfrm>
              <a:off x="1333500" y="3048000"/>
              <a:ext cx="9525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333500" y="30480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733550" y="3257550"/>
              <a:ext cx="342900" cy="3429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839154" y="33566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66950" y="3209925"/>
              <a:ext cx="217736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查询层 Query Layer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70760" y="3470910"/>
              <a:ext cx="22475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SPARQL / Cypher / Gremlin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3500" y="4000500"/>
            <a:ext cx="9525000" cy="762000"/>
            <a:chOff x="1333500" y="4000500"/>
            <a:chExt cx="9525000" cy="762000"/>
          </a:xfrm>
        </p:grpSpPr>
        <p:sp>
          <p:nvSpPr>
            <p:cNvPr id="27" name="Rectangle 27"/>
            <p:cNvSpPr/>
            <p:nvPr/>
          </p:nvSpPr>
          <p:spPr>
            <a:xfrm>
              <a:off x="1333500" y="4000500"/>
              <a:ext cx="9525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333500" y="40005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733550" y="4210050"/>
              <a:ext cx="342900" cy="3429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839154" y="43091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66950" y="4162425"/>
              <a:ext cx="25799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推理层 Reasoning Layer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70760" y="4423410"/>
              <a:ext cx="2124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规则引擎 / GNN / 符号推理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33500" y="4953000"/>
            <a:ext cx="9525000" cy="762000"/>
            <a:chOff x="1333500" y="4953000"/>
            <a:chExt cx="9525000" cy="762000"/>
          </a:xfrm>
        </p:grpSpPr>
        <p:sp>
          <p:nvSpPr>
            <p:cNvPr id="34" name="Rectangle 34"/>
            <p:cNvSpPr/>
            <p:nvPr/>
          </p:nvSpPr>
          <p:spPr>
            <a:xfrm>
              <a:off x="1333500" y="4953000"/>
              <a:ext cx="9525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333500" y="49530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733550" y="5162550"/>
              <a:ext cx="342900" cy="3429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39154" y="52616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66950" y="5114925"/>
              <a:ext cx="35115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与 LLM 结合 KG-LLM Integration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70760" y="5375910"/>
              <a:ext cx="13975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KG-LLM 双向增强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33500" y="1876425"/>
            <a:ext cx="57150" cy="3838575"/>
            <a:chOff x="1333500" y="1876425"/>
            <a:chExt cx="57150" cy="3838575"/>
          </a:xfrm>
        </p:grpSpPr>
        <p:sp>
          <p:nvSpPr>
            <p:cNvPr id="41" name="Line 41"/>
            <p:cNvSpPr/>
            <p:nvPr/>
          </p:nvSpPr>
          <p:spPr>
            <a:xfrm>
              <a:off x="1362075" y="19050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19050">
              <a:solidFill>
                <a:srgbClr val="CBD5E1"/>
              </a:solidFill>
              <a:custDash>
                <a:ds d="300000" sp="300000"/>
              </a:custDash>
            </a:ln>
          </p:spPr>
        </p:sp>
        <p:sp>
          <p:nvSpPr>
            <p:cNvPr id="42" name="Ellipse 42"/>
            <p:cNvSpPr/>
            <p:nvPr/>
          </p:nvSpPr>
          <p:spPr>
            <a:xfrm>
              <a:off x="1333500" y="1876425"/>
              <a:ext cx="57150" cy="5715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333500" y="2828925"/>
              <a:ext cx="57150" cy="5715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333500" y="3781425"/>
              <a:ext cx="57150" cy="5715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333500" y="4733925"/>
              <a:ext cx="57150" cy="5715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857250" y="952500"/>
            <a:ext cx="10610850" cy="5143500"/>
            <a:chOff x="857250" y="952500"/>
            <a:chExt cx="10610850" cy="5143500"/>
          </a:xfrm>
        </p:grpSpPr>
        <p:sp>
          <p:nvSpPr>
            <p:cNvPr id="47" name="Freeform 47"/>
            <p:cNvSpPr/>
            <p:nvPr/>
          </p:nvSpPr>
          <p:spPr>
            <a:xfrm>
              <a:off x="11049000" y="11430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</a:path>
              </a:pathLst>
            </a:custGeom>
            <a:noFill/>
            <a:ln w="19050">
              <a:solidFill>
                <a:srgbClr val="4FC3F7">
                  <a:alpha val="40000"/>
                </a:srgbClr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1391900" y="1485900"/>
              <a:ext cx="76200" cy="76200"/>
            </a:xfrm>
            <a:prstGeom prst="ellipse">
              <a:avLst/>
            </a:prstGeom>
            <a:solidFill>
              <a:srgbClr val="1A73E8">
                <a:alpha val="50000"/>
              </a:srgb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143000" y="53340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381000" y="381000"/>
                  </a:ln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4FC3F7">
                  <a:alpha val="40000"/>
                </a:srgbClr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485900" y="5295900"/>
              <a:ext cx="76200" cy="76200"/>
            </a:xfrm>
            <a:prstGeom prst="ellipse">
              <a:avLst/>
            </a:prstGeom>
            <a:solidFill>
              <a:srgbClr val="1A73E8">
                <a:alpha val="50000"/>
              </a:srgbClr>
            </a:solidFill>
            <a:ln>
              <a:noFill/>
            </a:ln>
          </p:spPr>
        </p:sp>
        <p:sp>
          <p:nvSpPr>
            <p:cNvPr id="51" name="Polygon 51"/>
            <p:cNvSpPr/>
            <p:nvPr/>
          </p:nvSpPr>
          <p:spPr>
            <a:xfrm>
              <a:off x="11144250" y="5905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lnTo>
                    <a:pt x="1905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4FC3F7">
                <a:alpha val="30000"/>
              </a:srgbClr>
            </a:solidFill>
            <a:ln>
              <a:noFill/>
            </a:ln>
          </p:spPr>
        </p:sp>
        <p:sp>
          <p:nvSpPr>
            <p:cNvPr id="52" name="Polygon 52"/>
            <p:cNvSpPr/>
            <p:nvPr/>
          </p:nvSpPr>
          <p:spPr>
            <a:xfrm>
              <a:off x="857250" y="952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lnTo>
                    <a:pt x="1905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1A73E8">
                <a:alpha val="20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6" grpId="0"/>
      <p:bldP spid="33" grpId="0"/>
      <p:bldP spid="40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762000" y="-571500"/>
            <a:ext cx="12001500" cy="7239000"/>
            <a:chOff x="762000" y="-571500"/>
            <a:chExt cx="12001500" cy="7239000"/>
          </a:xfrm>
        </p:grpSpPr>
        <p:sp>
          <p:nvSpPr>
            <p:cNvPr id="3" name="Ellipse 3"/>
            <p:cNvSpPr/>
            <p:nvPr/>
          </p:nvSpPr>
          <p:spPr>
            <a:xfrm>
              <a:off x="8572500" y="-571500"/>
              <a:ext cx="4191000" cy="4191000"/>
            </a:xfrm>
            <a:prstGeom prst="ellipse">
              <a:avLst/>
            </a:prstGeom>
            <a:solidFill>
              <a:srgbClr val="4FC3F7">
                <a:alpha val="8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239250" y="95250"/>
              <a:ext cx="2857500" cy="2857500"/>
            </a:xfrm>
            <a:prstGeom prst="ellipse">
              <a:avLst/>
            </a:prstGeom>
            <a:solidFill>
              <a:srgbClr val="1A73E8">
                <a:alpha val="5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762000" y="5524500"/>
              <a:ext cx="1333500" cy="1143000"/>
            </a:xfrm>
            <a:custGeom>
              <a:avLst/>
              <a:gdLst/>
              <a:ahLst/>
              <a:cxnLst/>
              <a:rect l="l" t="t" r="r" b="b"/>
              <a:pathLst>
                <a:path w="1333500" h="1143000">
                  <a:moveTo>
                    <a:pt x="0" y="0"/>
                  </a:moveTo>
                  <a:lnTo>
                    <a:pt x="1333500" y="0"/>
                  </a:lnTo>
                  <a:lnTo>
                    <a:pt x="857250" y="1143000"/>
                  </a:lnTo>
                  <a:close/>
                </a:path>
              </a:pathLst>
            </a:custGeom>
            <a:solidFill>
              <a:srgbClr val="1A73E8">
                <a:alpha val="4000"/>
              </a:srgb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1333500" y="22860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28575">
              <a:solidFill>
                <a:srgbClr val="4FC3F7"/>
              </a:solidFill>
              <a:custDash>
                <a:ds d="266666" sp="266666"/>
              </a:custDash>
            </a:ln>
          </p:spPr>
        </p:sp>
        <p:sp>
          <p:nvSpPr>
            <p:cNvPr id="7" name="Line 7"/>
            <p:cNvSpPr/>
            <p:nvPr/>
          </p:nvSpPr>
          <p:spPr>
            <a:xfrm>
              <a:off x="2476500" y="3762375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14288">
              <a:solidFill>
                <a:srgbClr val="1A73E8">
                  <a:alpha val="25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419350" y="3705225"/>
              <a:ext cx="114300" cy="1143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658350" y="3705225"/>
              <a:ext cx="114300" cy="1143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096500" y="5810250"/>
              <a:ext cx="133350" cy="133350"/>
            </a:xfrm>
            <a:prstGeom prst="rect">
              <a:avLst/>
            </a:prstGeom>
            <a:solidFill>
              <a:srgbClr val="4FC3F7">
                <a:alpha val="25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334625" y="6048375"/>
              <a:ext cx="133350" cy="133350"/>
            </a:xfrm>
            <a:prstGeom prst="rect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866900" y="6153150"/>
              <a:ext cx="76200" cy="76200"/>
            </a:xfrm>
            <a:prstGeom prst="ellipse">
              <a:avLst/>
            </a:prstGeom>
            <a:solidFill>
              <a:srgbClr val="4FC3F7">
                <a:alpha val="40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057400" y="6153150"/>
              <a:ext cx="76200" cy="76200"/>
            </a:xfrm>
            <a:prstGeom prst="ellipse">
              <a:avLst/>
            </a:prstGeom>
            <a:solidFill>
              <a:srgbClr val="4FC3F7">
                <a:alpha val="40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247900" y="6153150"/>
              <a:ext cx="76200" cy="76200"/>
            </a:xfrm>
            <a:prstGeom prst="ellipse">
              <a:avLst/>
            </a:prstGeom>
            <a:solidFill>
              <a:srgbClr val="4FC3F7">
                <a:alpha val="400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397284" y="1461135"/>
            <a:ext cx="1397432" cy="1463040"/>
            <a:chOff x="5397284" y="1461135"/>
            <a:chExt cx="1397432" cy="1463040"/>
          </a:xfrm>
        </p:grpSpPr>
        <p:sp>
          <p:nvSpPr>
            <p:cNvPr id="16" name="TextBox 16"/>
            <p:cNvSpPr txBox="1"/>
            <p:nvPr/>
          </p:nvSpPr>
          <p:spPr>
            <a:xfrm>
              <a:off x="5397284" y="1461135"/>
              <a:ext cx="1397432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157041" y="2474595"/>
            <a:ext cx="7877918" cy="1706880"/>
            <a:chOff x="2157041" y="2474595"/>
            <a:chExt cx="7877918" cy="1706880"/>
          </a:xfrm>
        </p:grpSpPr>
        <p:sp>
          <p:nvSpPr>
            <p:cNvPr id="18" name="TextBox 18"/>
            <p:cNvSpPr txBox="1"/>
            <p:nvPr/>
          </p:nvSpPr>
          <p:spPr>
            <a:xfrm>
              <a:off x="2157041" y="2474595"/>
              <a:ext cx="7877918" cy="1706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4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什么是 RAG？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67174" y="4000500"/>
            <a:ext cx="5457651" cy="766762"/>
            <a:chOff x="3367174" y="4000500"/>
            <a:chExt cx="5457651" cy="766762"/>
          </a:xfrm>
        </p:grpSpPr>
        <p:sp>
          <p:nvSpPr>
            <p:cNvPr id="20" name="Rectangle 20"/>
            <p:cNvSpPr/>
            <p:nvPr/>
          </p:nvSpPr>
          <p:spPr>
            <a:xfrm>
              <a:off x="3905250" y="4000500"/>
              <a:ext cx="4381500" cy="647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4FC3F7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67174" y="4066222"/>
              <a:ext cx="5457651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b="1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1. 检索增强生成的范式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37955" y="6282690"/>
            <a:ext cx="716089" cy="365760"/>
            <a:chOff x="5737955" y="6282690"/>
            <a:chExt cx="716089" cy="365760"/>
          </a:xfrm>
        </p:grpSpPr>
        <p:sp>
          <p:nvSpPr>
            <p:cNvPr id="23" name="TextBox 23"/>
            <p:cNvSpPr txBox="1"/>
            <p:nvPr/>
          </p:nvSpPr>
          <p:spPr>
            <a:xfrm>
              <a:off x="5737955" y="6282690"/>
              <a:ext cx="7160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2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1A73E8"/>
              </a:gs>
              <a:gs pos="100000">
                <a:srgbClr val="4FC3F7"/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47625"/>
            <a:ext cx="12192000" cy="809625"/>
            <a:chOff x="0" y="47625"/>
            <a:chExt cx="12192000" cy="809625"/>
          </a:xfrm>
        </p:grpSpPr>
        <p:sp>
          <p:nvSpPr>
            <p:cNvPr id="4" name="Rectangle 4"/>
            <p:cNvSpPr/>
            <p:nvPr/>
          </p:nvSpPr>
          <p:spPr>
            <a:xfrm>
              <a:off x="0" y="47625"/>
              <a:ext cx="12192000" cy="809625"/>
            </a:xfrm>
            <a:prstGeom prst="rect">
              <a:avLst/>
            </a:prstGeom>
            <a:gradFill>
              <a:gsLst>
                <a:gs pos="0">
                  <a:srgbClr val="1A73E8"/>
                </a:gs>
                <a:gs pos="100000">
                  <a:srgbClr val="4FC3F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29906" y="108585"/>
              <a:ext cx="253218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RAG 核心原理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040207" y="564356"/>
              <a:ext cx="4111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B3D9FF"/>
                  </a:solidFill>
                  <a:latin typeface="Segoe UI"/>
                  <a:ea typeface="Microsoft YaHei"/>
                  <a:cs typeface="Segoe UI"/>
                </a:rPr>
                <a:t>Retrieval-Augmented Generation — 检索增强生成架构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1047750"/>
            <a:ext cx="11049000" cy="1238250"/>
            <a:chOff x="571500" y="1047750"/>
            <a:chExt cx="11049000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047750"/>
              <a:ext cx="11049000" cy="1238250"/>
            </a:xfrm>
            <a:prstGeom prst="roundRect">
              <a:avLst>
                <a:gd name="adj" fmla="val 9231"/>
              </a:avLst>
            </a:prstGeom>
            <a:gradFill>
              <a:gsLst>
                <a:gs pos="0">
                  <a:srgbClr val="FFFFFF"/>
                </a:gs>
                <a:gs pos="100000">
                  <a:srgbClr val="F0F6FF"/>
                </a:gs>
              </a:gsLst>
              <a:lin ang="5400000" scaled="1"/>
            </a:gradFill>
            <a:ln>
              <a:noFill/>
            </a:ln>
            <a:effectLst>
              <a:outerShdw blurRad="76200" dist="34343" dir="3378595" algn="tl" rotWithShape="0">
                <a:srgbClr val="1A73E8">
                  <a:alpha val="900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571500" y="104775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868" y="124729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Segoe UI"/>
                  <a:ea typeface="Microsoft YaHei"/>
                  <a:cs typeface="Segoe UI"/>
                </a:rPr>
                <a:t>01 / 三段式架构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57250" y="1504950"/>
              <a:ext cx="2667000" cy="647700"/>
              <a:chOff x="857250" y="1504950"/>
              <a:chExt cx="2667000" cy="6477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857250" y="1504950"/>
                <a:ext cx="2667000" cy="647700"/>
              </a:xfrm>
              <a:prstGeom prst="roundRect">
                <a:avLst>
                  <a:gd name="adj" fmla="val 14706"/>
                </a:avLst>
              </a:prstGeom>
              <a:solidFill>
                <a:srgbClr val="1A73E8"/>
              </a:solidFill>
              <a:ln>
                <a:noFill/>
              </a:ln>
              <a:effectLst>
                <a:outerShdw blurRad="57150" dist="21299" dir="3806096" algn="tl" rotWithShape="0">
                  <a:srgbClr val="1A73E8">
                    <a:alpha val="60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676743" y="1625918"/>
                <a:ext cx="102801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Index 索引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22095" y="1884045"/>
                <a:ext cx="13373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B3D9FF"/>
                    </a:solidFill>
                    <a:latin typeface="Segoe UI"/>
                    <a:ea typeface="Microsoft YaHei"/>
                    <a:cs typeface="Segoe UI"/>
                  </a:rPr>
                  <a:t>文档入库与向量化存储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619500" y="1676400"/>
              <a:ext cx="495300" cy="114300"/>
              <a:chOff x="3619500" y="1676400"/>
              <a:chExt cx="495300" cy="114300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3619500" y="17335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28575" cap="rnd">
                <a:gradFill>
                  <a:gsLst>
                    <a:gs pos="0">
                      <a:srgbClr val="1A73E8"/>
                    </a:gs>
                    <a:gs pos="100000">
                      <a:srgbClr val="4FC3F7"/>
                    </a:gs>
                  </a:gsLst>
                  <a:lin ang="0" scaled="1"/>
                </a:gradFill>
              </a:ln>
            </p:spPr>
          </p:sp>
          <p:sp>
            <p:nvSpPr>
              <p:cNvPr id="16" name="Polygon 16"/>
              <p:cNvSpPr/>
              <p:nvPr/>
            </p:nvSpPr>
            <p:spPr>
              <a:xfrm>
                <a:off x="4000500" y="16764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4FC3F7"/>
              </a:solidFill>
              <a:ln>
                <a:noFill/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4191000" y="1504950"/>
              <a:ext cx="2667000" cy="647700"/>
              <a:chOff x="4191000" y="1504950"/>
              <a:chExt cx="2667000" cy="6477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191000" y="1504950"/>
                <a:ext cx="2667000" cy="647700"/>
              </a:xfrm>
              <a:prstGeom prst="roundRect">
                <a:avLst>
                  <a:gd name="adj" fmla="val 14706"/>
                </a:avLst>
              </a:prstGeom>
              <a:solidFill>
                <a:srgbClr val="4FC3F7"/>
              </a:solidFill>
              <a:ln>
                <a:noFill/>
              </a:ln>
              <a:effectLst>
                <a:outerShdw blurRad="57150" dist="21299" dir="3806096" algn="tl" rotWithShape="0">
                  <a:srgbClr val="1A73E8">
                    <a:alpha val="6000"/>
                  </a:srgbClr>
                </a:outerShdw>
              </a:effectLst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839697" y="1625918"/>
                <a:ext cx="136960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Retrieve 检索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21567" y="1884045"/>
                <a:ext cx="12058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语义相似度匹配召回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953250" y="1676400"/>
              <a:ext cx="495300" cy="114300"/>
              <a:chOff x="6953250" y="1676400"/>
              <a:chExt cx="495300" cy="114300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6953250" y="17335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28575" cap="rnd">
                <a:gradFill>
                  <a:gsLst>
                    <a:gs pos="0">
                      <a:srgbClr val="1A73E8"/>
                    </a:gs>
                    <a:gs pos="100000">
                      <a:srgbClr val="4FC3F7"/>
                    </a:gs>
                  </a:gsLst>
                  <a:lin ang="0" scaled="1"/>
                </a:gradFill>
              </a:ln>
            </p:spPr>
          </p:sp>
          <p:sp>
            <p:nvSpPr>
              <p:cNvPr id="23" name="Polygon 23"/>
              <p:cNvSpPr/>
              <p:nvPr/>
            </p:nvSpPr>
            <p:spPr>
              <a:xfrm>
                <a:off x="7334250" y="16764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4FC3F7"/>
              </a:solidFill>
              <a:ln>
                <a:noFill/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7524750" y="1504950"/>
              <a:ext cx="2667000" cy="647700"/>
              <a:chOff x="7524750" y="1504950"/>
              <a:chExt cx="2667000" cy="6477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524750" y="1504950"/>
                <a:ext cx="2667000" cy="647700"/>
              </a:xfrm>
              <a:prstGeom prst="roundRect">
                <a:avLst>
                  <a:gd name="adj" fmla="val 14706"/>
                </a:avLst>
              </a:prstGeom>
              <a:solidFill>
                <a:srgbClr val="1A73E8"/>
              </a:solidFill>
              <a:ln>
                <a:noFill/>
              </a:ln>
              <a:effectLst>
                <a:outerShdw blurRad="57150" dist="21299" dir="3806096" algn="tl" rotWithShape="0">
                  <a:srgbClr val="1A73E8">
                    <a:alpha val="60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147568" y="1625918"/>
                <a:ext cx="142136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Generate 生成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114014" y="1884045"/>
                <a:ext cx="14884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B3D9FF"/>
                    </a:solidFill>
                    <a:latin typeface="Segoe UI"/>
                    <a:ea typeface="Microsoft YaHei"/>
                    <a:cs typeface="Segoe UI"/>
                  </a:rPr>
                  <a:t>LLM 基于上下文生成回答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571500" y="2476500"/>
            <a:ext cx="5334000" cy="1905000"/>
            <a:chOff x="571500" y="2476500"/>
            <a:chExt cx="5334000" cy="1905000"/>
          </a:xfrm>
        </p:grpSpPr>
        <p:sp>
          <p:nvSpPr>
            <p:cNvPr id="30" name="Rectangle 30"/>
            <p:cNvSpPr/>
            <p:nvPr/>
          </p:nvSpPr>
          <p:spPr>
            <a:xfrm>
              <a:off x="571500" y="2476500"/>
              <a:ext cx="5334000" cy="1905000"/>
            </a:xfrm>
            <a:prstGeom prst="roundRect">
              <a:avLst>
                <a:gd name="adj" fmla="val 6000"/>
              </a:avLst>
            </a:prstGeom>
            <a:gradFill>
              <a:gsLst>
                <a:gs pos="0">
                  <a:srgbClr val="FFFFFF"/>
                </a:gs>
                <a:gs pos="100000">
                  <a:srgbClr val="F0F6FF"/>
                </a:gs>
              </a:gsLst>
              <a:lin ang="5400000" scaled="1"/>
            </a:gradFill>
            <a:ln>
              <a:noFill/>
            </a:ln>
            <a:effectLst>
              <a:outerShdw blurRad="76200" dist="34343" dir="3378595" algn="tl" rotWithShape="0">
                <a:srgbClr val="1A73E8">
                  <a:alpha val="90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571500" y="24765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4868" y="2676049"/>
              <a:ext cx="11087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Segoe UI"/>
                  <a:ea typeface="Microsoft YaHei"/>
                  <a:cs typeface="Segoe UI"/>
                </a:rPr>
                <a:t>02 / 向量化处理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857250" y="2971800"/>
              <a:ext cx="4524375" cy="1143000"/>
              <a:chOff x="857250" y="2971800"/>
              <a:chExt cx="4524375" cy="1143000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857250" y="2971800"/>
                <a:ext cx="1143000" cy="1143000"/>
                <a:chOff x="857250" y="2971800"/>
                <a:chExt cx="1143000" cy="1143000"/>
              </a:xfrm>
            </p:grpSpPr>
            <p:sp>
              <p:nvSpPr>
                <p:cNvPr id="33" name="Rectangle 33"/>
                <p:cNvSpPr/>
                <p:nvPr/>
              </p:nvSpPr>
              <p:spPr>
                <a:xfrm>
                  <a:off x="857250" y="2971800"/>
                  <a:ext cx="1143000" cy="11430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8F0FE"/>
                </a:solidFill>
                <a:ln w="14288">
                  <a:solidFill>
                    <a:srgbClr val="1A73E8"/>
                  </a:solidFill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1317736" y="3078480"/>
                  <a:ext cx="222028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100" dirty="0">
                      <a:solidFill>
                        <a:srgbClr val="1A73E8"/>
                      </a:solidFill>
                      <a:latin typeface="Segoe UI"/>
                      <a:ea typeface="Microsoft YaHei"/>
                      <a:cs typeface="Segoe UI"/>
                    </a:rPr>
                    <a:t>📄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1117330" y="3457099"/>
                  <a:ext cx="62284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1A73E8"/>
                      </a:solidFill>
                      <a:latin typeface="Segoe UI"/>
                      <a:ea typeface="Microsoft YaHei"/>
                      <a:cs typeface="Segoe UI"/>
                    </a:rPr>
                    <a:t>文档切片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191935" y="3652838"/>
                  <a:ext cx="47363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666666"/>
                      </a:solidFill>
                      <a:latin typeface="Segoe UI"/>
                      <a:ea typeface="Microsoft YaHei"/>
                      <a:cs typeface="Segoe UI"/>
                    </a:rPr>
                    <a:t>Chunking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200150" y="3843338"/>
                  <a:ext cx="4572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分段处理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2095500" y="3448050"/>
                <a:ext cx="381000" cy="95250"/>
                <a:chOff x="2095500" y="3448050"/>
                <a:chExt cx="381000" cy="95250"/>
              </a:xfrm>
            </p:grpSpPr>
            <p:sp>
              <p:nvSpPr>
                <p:cNvPr id="39" name="Line 39"/>
                <p:cNvSpPr/>
                <p:nvPr/>
              </p:nvSpPr>
              <p:spPr>
                <a:xfrm>
                  <a:off x="2095500" y="3495675"/>
                  <a:ext cx="285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9525">
                      <a:moveTo>
                        <a:pt x="0" y="0"/>
                      </a:moveTo>
                      <a:lnTo>
                        <a:pt x="285750" y="0"/>
                      </a:lnTo>
                    </a:path>
                  </a:pathLst>
                </a:custGeom>
                <a:noFill/>
                <a:ln w="19050" cap="rnd">
                  <a:solidFill>
                    <a:srgbClr val="1A73E8"/>
                  </a:solidFill>
                </a:ln>
              </p:spPr>
            </p:sp>
            <p:sp>
              <p:nvSpPr>
                <p:cNvPr id="40" name="Polygon 40"/>
                <p:cNvSpPr/>
                <p:nvPr/>
              </p:nvSpPr>
              <p:spPr>
                <a:xfrm>
                  <a:off x="2381250" y="34480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47625"/>
                      </a:lnTo>
                      <a:lnTo>
                        <a:pt x="0" y="95250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2524125" y="2971800"/>
                <a:ext cx="1143000" cy="1143000"/>
                <a:chOff x="2524125" y="2971800"/>
                <a:chExt cx="1143000" cy="1143000"/>
              </a:xfrm>
            </p:grpSpPr>
            <p:sp>
              <p:nvSpPr>
                <p:cNvPr id="42" name="Rectangle 42"/>
                <p:cNvSpPr/>
                <p:nvPr/>
              </p:nvSpPr>
              <p:spPr>
                <a:xfrm>
                  <a:off x="2524125" y="2971800"/>
                  <a:ext cx="1143000" cy="11430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8F0FE"/>
                </a:solidFill>
                <a:ln w="14288">
                  <a:solidFill>
                    <a:srgbClr val="1A73E8"/>
                  </a:solidFill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2984611" y="3078480"/>
                  <a:ext cx="222028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100" dirty="0">
                      <a:solidFill>
                        <a:srgbClr val="1A73E8"/>
                      </a:solidFill>
                      <a:latin typeface="Segoe UI"/>
                      <a:ea typeface="Microsoft YaHei"/>
                      <a:cs typeface="Segoe UI"/>
                    </a:rPr>
                    <a:t>🧠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2716922" y="3457099"/>
                  <a:ext cx="757407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1A73E8"/>
                      </a:solidFill>
                      <a:latin typeface="Segoe UI"/>
                      <a:ea typeface="Microsoft YaHei"/>
                      <a:cs typeface="Segoe UI"/>
                    </a:rPr>
                    <a:t>Embedding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2867025" y="3652838"/>
                  <a:ext cx="4572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666666"/>
                      </a:solidFill>
                      <a:latin typeface="Segoe UI"/>
                      <a:ea typeface="Microsoft YaHei"/>
                      <a:cs typeface="Segoe UI"/>
                    </a:rPr>
                    <a:t>嵌入模型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2836902" y="3843338"/>
                  <a:ext cx="51744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文本→向量</a:t>
                  </a:r>
                </a:p>
              </p:txBody>
            </p:sp>
          </p:grpSp>
          <p:grpSp>
            <p:nvGrpSpPr>
              <p:cNvPr id="50" name="Group 50"/>
              <p:cNvGrpSpPr/>
              <p:nvPr/>
            </p:nvGrpSpPr>
            <p:grpSpPr>
              <a:xfrm>
                <a:off x="3810000" y="3448050"/>
                <a:ext cx="381000" cy="95250"/>
                <a:chOff x="3810000" y="3448050"/>
                <a:chExt cx="381000" cy="95250"/>
              </a:xfrm>
            </p:grpSpPr>
            <p:sp>
              <p:nvSpPr>
                <p:cNvPr id="48" name="Line 48"/>
                <p:cNvSpPr/>
                <p:nvPr/>
              </p:nvSpPr>
              <p:spPr>
                <a:xfrm>
                  <a:off x="3810000" y="3495675"/>
                  <a:ext cx="285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9525">
                      <a:moveTo>
                        <a:pt x="0" y="0"/>
                      </a:moveTo>
                      <a:lnTo>
                        <a:pt x="285750" y="0"/>
                      </a:lnTo>
                    </a:path>
                  </a:pathLst>
                </a:custGeom>
                <a:noFill/>
                <a:ln w="19050" cap="rnd">
                  <a:solidFill>
                    <a:srgbClr val="1A73E8"/>
                  </a:solidFill>
                </a:ln>
              </p:spPr>
            </p:sp>
            <p:sp>
              <p:nvSpPr>
                <p:cNvPr id="49" name="Polygon 49"/>
                <p:cNvSpPr/>
                <p:nvPr/>
              </p:nvSpPr>
              <p:spPr>
                <a:xfrm>
                  <a:off x="4095750" y="34480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47625"/>
                      </a:lnTo>
                      <a:lnTo>
                        <a:pt x="0" y="95250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grpSp>
            <p:nvGrpSpPr>
              <p:cNvPr id="56" name="Group 56"/>
              <p:cNvGrpSpPr/>
              <p:nvPr/>
            </p:nvGrpSpPr>
            <p:grpSpPr>
              <a:xfrm>
                <a:off x="4238625" y="2971800"/>
                <a:ext cx="1143000" cy="1143000"/>
                <a:chOff x="4238625" y="2971800"/>
                <a:chExt cx="1143000" cy="1143000"/>
              </a:xfrm>
            </p:grpSpPr>
            <p:sp>
              <p:nvSpPr>
                <p:cNvPr id="51" name="Rectangle 51"/>
                <p:cNvSpPr/>
                <p:nvPr/>
              </p:nvSpPr>
              <p:spPr>
                <a:xfrm>
                  <a:off x="4238625" y="2971800"/>
                  <a:ext cx="1143000" cy="11430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8F0FE"/>
                </a:solidFill>
                <a:ln w="14288">
                  <a:solidFill>
                    <a:srgbClr val="1A73E8"/>
                  </a:solidFill>
                </a:ln>
              </p:spPr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4699111" y="3078480"/>
                  <a:ext cx="222028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100" dirty="0">
                      <a:solidFill>
                        <a:srgbClr val="1A73E8"/>
                      </a:solidFill>
                      <a:latin typeface="Segoe UI"/>
                      <a:ea typeface="Microsoft YaHei"/>
                      <a:cs typeface="Segoe UI"/>
                    </a:rPr>
                    <a:t>💾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4423946" y="3457099"/>
                  <a:ext cx="772358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1A73E8"/>
                      </a:solidFill>
                      <a:latin typeface="Segoe UI"/>
                      <a:ea typeface="Microsoft YaHei"/>
                      <a:cs typeface="Segoe UI"/>
                    </a:rPr>
                    <a:t>向量数据库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4543187" y="3652838"/>
                  <a:ext cx="53387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666666"/>
                      </a:solidFill>
                      <a:latin typeface="Segoe UI"/>
                      <a:ea typeface="Microsoft YaHei"/>
                      <a:cs typeface="Segoe UI"/>
                    </a:rPr>
                    <a:t>Vector DB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4471988" y="3843338"/>
                  <a:ext cx="6762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高效存储检索</a:t>
                  </a:r>
                </a:p>
              </p:txBody>
            </p:sp>
          </p:grpSp>
        </p:grpSp>
      </p:grpSp>
      <p:grpSp>
        <p:nvGrpSpPr>
          <p:cNvPr id="88" name="Group 88"/>
          <p:cNvGrpSpPr/>
          <p:nvPr/>
        </p:nvGrpSpPr>
        <p:grpSpPr>
          <a:xfrm>
            <a:off x="6191250" y="2476500"/>
            <a:ext cx="5429250" cy="1931194"/>
            <a:chOff x="6191250" y="2476500"/>
            <a:chExt cx="5429250" cy="1931194"/>
          </a:xfrm>
        </p:grpSpPr>
        <p:sp>
          <p:nvSpPr>
            <p:cNvPr id="59" name="Rectangle 59"/>
            <p:cNvSpPr/>
            <p:nvPr/>
          </p:nvSpPr>
          <p:spPr>
            <a:xfrm>
              <a:off x="6191250" y="2476500"/>
              <a:ext cx="5429250" cy="1905000"/>
            </a:xfrm>
            <a:prstGeom prst="roundRect">
              <a:avLst>
                <a:gd name="adj" fmla="val 6000"/>
              </a:avLst>
            </a:prstGeom>
            <a:gradFill>
              <a:gsLst>
                <a:gs pos="0">
                  <a:srgbClr val="FFFFFF"/>
                </a:gs>
                <a:gs pos="100000">
                  <a:srgbClr val="F0F6FF"/>
                </a:gs>
              </a:gsLst>
              <a:lin ang="5400000" scaled="1"/>
            </a:gradFill>
            <a:ln>
              <a:noFill/>
            </a:ln>
            <a:effectLst>
              <a:outerShdw blurRad="76200" dist="34343" dir="3378595" algn="tl" rotWithShape="0">
                <a:srgbClr val="1A73E8">
                  <a:alpha val="9000"/>
                </a:srgbClr>
              </a:outerShdw>
            </a:effectLst>
          </p:spPr>
        </p:sp>
        <p:sp>
          <p:nvSpPr>
            <p:cNvPr id="60" name="Rectangle 60"/>
            <p:cNvSpPr/>
            <p:nvPr/>
          </p:nvSpPr>
          <p:spPr>
            <a:xfrm>
              <a:off x="6191250" y="24765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64618" y="2676049"/>
              <a:ext cx="12582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Segoe UI"/>
                  <a:ea typeface="Microsoft YaHei"/>
                  <a:cs typeface="Segoe UI"/>
                </a:rPr>
                <a:t>03 / 语义检索机制</a:t>
              </a:r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6477000" y="2971800"/>
              <a:ext cx="2286000" cy="1435894"/>
              <a:chOff x="6477000" y="2971800"/>
              <a:chExt cx="2286000" cy="1435894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6477000" y="2971800"/>
                <a:ext cx="2286000" cy="1333500"/>
              </a:xfrm>
              <a:prstGeom prst="roundRect">
                <a:avLst>
                  <a:gd name="adj" fmla="val 714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125510" y="3112770"/>
                <a:ext cx="98898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A73E8"/>
                    </a:solidFill>
                    <a:latin typeface="Segoe UI"/>
                    <a:ea typeface="Microsoft YaHei"/>
                    <a:cs typeface="Segoe UI"/>
                  </a:rPr>
                  <a:t>余弦相似度计算</a:t>
                </a:r>
              </a:p>
            </p:txBody>
          </p:sp>
          <p:grpSp>
            <p:nvGrpSpPr>
              <p:cNvPr id="76" name="Group 76"/>
              <p:cNvGrpSpPr/>
              <p:nvPr/>
            </p:nvGrpSpPr>
            <p:grpSpPr>
              <a:xfrm>
                <a:off x="6657975" y="3371850"/>
                <a:ext cx="2105025" cy="1035844"/>
                <a:chOff x="6657975" y="3371850"/>
                <a:chExt cx="2105025" cy="1035844"/>
              </a:xfrm>
            </p:grpSpPr>
            <p:sp>
              <p:nvSpPr>
                <p:cNvPr id="64" name="TextBox 64"/>
                <p:cNvSpPr txBox="1"/>
                <p:nvPr/>
              </p:nvSpPr>
              <p:spPr>
                <a:xfrm>
                  <a:off x="6657975" y="3386138"/>
                  <a:ext cx="40243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555555"/>
                      </a:solidFill>
                      <a:latin typeface="Segoe UI"/>
                      <a:ea typeface="Microsoft YaHei"/>
                      <a:cs typeface="Segoe UI"/>
                    </a:rPr>
                    <a:t>Query:</a:t>
                  </a:r>
                </a:p>
              </p:txBody>
            </p:sp>
            <p:sp>
              <p:nvSpPr>
                <p:cNvPr id="65" name="Rectangle 65"/>
                <p:cNvSpPr/>
                <p:nvPr/>
              </p:nvSpPr>
              <p:spPr>
                <a:xfrm>
                  <a:off x="7048500" y="3371850"/>
                  <a:ext cx="1714500" cy="152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1A73E8">
                    <a:alpha val="70000"/>
                  </a:srgbClr>
                </a:solidFill>
                <a:ln>
                  <a:noFill/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7283494" y="3413284"/>
                  <a:ext cx="1244513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75" dirty="0">
                      <a:solidFill>
                        <a:srgbClr val="FFFFFF"/>
                      </a:solidFill>
                      <a:latin typeface="Segoe UI"/>
                      <a:ea typeface="Microsoft YaHei"/>
                      <a:cs typeface="Segoe UI"/>
                    </a:rPr>
                    <a:t>[0.23, -0.45, 0.78, ...]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6657975" y="3671888"/>
                  <a:ext cx="29289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555555"/>
                      </a:solidFill>
                      <a:latin typeface="Segoe UI"/>
                      <a:ea typeface="Microsoft YaHei"/>
                      <a:cs typeface="Segoe UI"/>
                    </a:rPr>
                    <a:t>Doc1:</a:t>
                  </a:r>
                </a:p>
              </p:txBody>
            </p:sp>
            <p:sp>
              <p:nvSpPr>
                <p:cNvPr id="68" name="Rectangle 68"/>
                <p:cNvSpPr/>
                <p:nvPr/>
              </p:nvSpPr>
              <p:spPr>
                <a:xfrm>
                  <a:off x="7048500" y="3657600"/>
                  <a:ext cx="1714500" cy="152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4FC3F7">
                    <a:alpha val="60000"/>
                  </a:srgbClr>
                </a:solidFill>
                <a:ln>
                  <a:noFill/>
                </a:ln>
              </p:spPr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7143012" y="3699034"/>
                  <a:ext cx="1525476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75" dirty="0">
                      <a:solidFill>
                        <a:srgbClr val="FFFFFF"/>
                      </a:solidFill>
                      <a:latin typeface="Segoe UI"/>
                      <a:ea typeface="Microsoft YaHei"/>
                      <a:cs typeface="Segoe UI"/>
                    </a:rPr>
                    <a:t>[0.21, -0.42, 0.81, ...] → 0.96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6657975" y="3957638"/>
                  <a:ext cx="32027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555555"/>
                      </a:solidFill>
                      <a:latin typeface="Segoe UI"/>
                      <a:ea typeface="Microsoft YaHei"/>
                      <a:cs typeface="Segoe UI"/>
                    </a:rPr>
                    <a:t>Doc2:</a:t>
                  </a:r>
                </a:p>
              </p:txBody>
            </p:sp>
            <p:sp>
              <p:nvSpPr>
                <p:cNvPr id="71" name="Rectangle 71"/>
                <p:cNvSpPr/>
                <p:nvPr/>
              </p:nvSpPr>
              <p:spPr>
                <a:xfrm>
                  <a:off x="7048500" y="3943350"/>
                  <a:ext cx="1714500" cy="152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4FC3F7">
                    <a:alpha val="40000"/>
                  </a:srgbClr>
                </a:solidFill>
                <a:ln>
                  <a:noFill/>
                </a:ln>
              </p:spPr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7130689" y="3984784"/>
                  <a:ext cx="1550122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75" dirty="0">
                      <a:solidFill>
                        <a:srgbClr val="FFFFFF"/>
                      </a:solidFill>
                      <a:latin typeface="Segoe UI"/>
                      <a:ea typeface="Microsoft YaHei"/>
                      <a:cs typeface="Segoe UI"/>
                    </a:rPr>
                    <a:t>[0.55, 0.12, -0.33, ...] → 0.42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6657975" y="4243388"/>
                  <a:ext cx="32027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555555"/>
                      </a:solidFill>
                      <a:latin typeface="Segoe UI"/>
                      <a:ea typeface="Microsoft YaHei"/>
                      <a:cs typeface="Segoe UI"/>
                    </a:rPr>
                    <a:t>Doc3:</a:t>
                  </a:r>
                </a:p>
              </p:txBody>
            </p:sp>
            <p:sp>
              <p:nvSpPr>
                <p:cNvPr id="74" name="Rectangle 74"/>
                <p:cNvSpPr/>
                <p:nvPr/>
              </p:nvSpPr>
              <p:spPr>
                <a:xfrm>
                  <a:off x="7048500" y="4229100"/>
                  <a:ext cx="1714500" cy="152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4FC3F7">
                    <a:alpha val="50000"/>
                  </a:srgbClr>
                </a:solidFill>
                <a:ln>
                  <a:noFill/>
                </a:ln>
              </p:spPr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7130689" y="4270534"/>
                  <a:ext cx="1550122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75" dirty="0">
                      <a:solidFill>
                        <a:srgbClr val="FFFFFF"/>
                      </a:solidFill>
                      <a:latin typeface="Segoe UI"/>
                      <a:ea typeface="Microsoft YaHei"/>
                      <a:cs typeface="Segoe UI"/>
                    </a:rPr>
                    <a:t>[0.19, -0.48, 0.75, ...] → 0.93</a:t>
                  </a:r>
                </a:p>
              </p:txBody>
            </p:sp>
          </p:grpSp>
        </p:grpSp>
        <p:grpSp>
          <p:nvGrpSpPr>
            <p:cNvPr id="87" name="Group 87"/>
            <p:cNvGrpSpPr/>
            <p:nvPr/>
          </p:nvGrpSpPr>
          <p:grpSpPr>
            <a:xfrm>
              <a:off x="8953500" y="2971800"/>
              <a:ext cx="2381250" cy="1333500"/>
              <a:chOff x="8953500" y="2971800"/>
              <a:chExt cx="2381250" cy="133350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8953500" y="2971800"/>
                <a:ext cx="2381250" cy="1333500"/>
              </a:xfrm>
              <a:prstGeom prst="roundRect">
                <a:avLst>
                  <a:gd name="adj" fmla="val 714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9646184" y="3112770"/>
                <a:ext cx="9958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A73E8"/>
                    </a:solidFill>
                    <a:latin typeface="Segoe UI"/>
                    <a:ea typeface="Microsoft YaHei"/>
                    <a:cs typeface="Segoe UI"/>
                  </a:rPr>
                  <a:t>Top-K 召回策略</a:t>
                </a:r>
              </a:p>
            </p:txBody>
          </p:sp>
          <p:grpSp>
            <p:nvGrpSpPr>
              <p:cNvPr id="86" name="Group 86"/>
              <p:cNvGrpSpPr/>
              <p:nvPr/>
            </p:nvGrpSpPr>
            <p:grpSpPr>
              <a:xfrm>
                <a:off x="9144000" y="3371850"/>
                <a:ext cx="2000250" cy="914400"/>
                <a:chOff x="9144000" y="3371850"/>
                <a:chExt cx="2000250" cy="914400"/>
              </a:xfrm>
            </p:grpSpPr>
            <p:sp>
              <p:nvSpPr>
                <p:cNvPr id="80" name="Rectangle 80"/>
                <p:cNvSpPr/>
                <p:nvPr/>
              </p:nvSpPr>
              <p:spPr>
                <a:xfrm>
                  <a:off x="9144000" y="3371850"/>
                  <a:ext cx="2000250" cy="266700"/>
                </a:xfrm>
                <a:prstGeom prst="roundRect">
                  <a:avLst>
                    <a:gd name="adj" fmla="val 21429"/>
                  </a:avLst>
                </a:prstGeom>
                <a:solidFill>
                  <a:srgbClr val="1A73E8"/>
                </a:solidFill>
                <a:ln>
                  <a:noFill/>
                </a:ln>
              </p:spPr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9542671" y="3455670"/>
                  <a:ext cx="120290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FFFFFF"/>
                      </a:solidFill>
                      <a:latin typeface="Segoe UI"/>
                      <a:ea typeface="Microsoft YaHei"/>
                      <a:cs typeface="Segoe UI"/>
                    </a:rPr>
                    <a:t>⭐ Doc1 (sim=0.96)</a:t>
                  </a:r>
                </a:p>
              </p:txBody>
            </p:sp>
            <p:sp>
              <p:nvSpPr>
                <p:cNvPr id="82" name="Rectangle 82"/>
                <p:cNvSpPr/>
                <p:nvPr/>
              </p:nvSpPr>
              <p:spPr>
                <a:xfrm>
                  <a:off x="9144000" y="3695700"/>
                  <a:ext cx="2000250" cy="266700"/>
                </a:xfrm>
                <a:prstGeom prst="roundRect">
                  <a:avLst>
                    <a:gd name="adj" fmla="val 21429"/>
                  </a:avLst>
                </a:prstGeom>
                <a:solidFill>
                  <a:srgbClr val="4FC3F7">
                    <a:alpha val="70000"/>
                  </a:srgbClr>
                </a:solidFill>
                <a:ln>
                  <a:noFill/>
                </a:ln>
              </p:spPr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9525419" y="3779520"/>
                  <a:ext cx="123741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FFFFFF"/>
                      </a:solidFill>
                      <a:latin typeface="Segoe UI"/>
                      <a:ea typeface="Microsoft YaHei"/>
                      <a:cs typeface="Segoe UI"/>
                    </a:rPr>
                    <a:t>⭐ Doc3 (sim=0.93)</a:t>
                  </a:r>
                </a:p>
              </p:txBody>
            </p:sp>
            <p:sp>
              <p:nvSpPr>
                <p:cNvPr id="84" name="Rectangle 84"/>
                <p:cNvSpPr/>
                <p:nvPr/>
              </p:nvSpPr>
              <p:spPr>
                <a:xfrm>
                  <a:off x="9144000" y="4019550"/>
                  <a:ext cx="2000250" cy="266700"/>
                </a:xfrm>
                <a:prstGeom prst="roundRect">
                  <a:avLst>
                    <a:gd name="adj" fmla="val 21429"/>
                  </a:avLst>
                </a:prstGeom>
                <a:solidFill>
                  <a:srgbClr val="4FC3F7">
                    <a:alpha val="40000"/>
                  </a:srgbClr>
                </a:solidFill>
                <a:ln>
                  <a:noFill/>
                </a:ln>
              </p:spPr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9525419" y="4103370"/>
                  <a:ext cx="123741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FFFFFF"/>
                      </a:solidFill>
                      <a:latin typeface="Segoe UI"/>
                      <a:ea typeface="Microsoft YaHei"/>
                      <a:cs typeface="Segoe UI"/>
                    </a:rPr>
                    <a:t>⭐ Doc5 (sim=0.89)</a:t>
                  </a:r>
                </a:p>
              </p:txBody>
            </p:sp>
          </p:grpSp>
        </p:grpSp>
      </p:grpSp>
      <p:grpSp>
        <p:nvGrpSpPr>
          <p:cNvPr id="111" name="Group 111"/>
          <p:cNvGrpSpPr/>
          <p:nvPr/>
        </p:nvGrpSpPr>
        <p:grpSpPr>
          <a:xfrm>
            <a:off x="571500" y="4572000"/>
            <a:ext cx="11049000" cy="1047750"/>
            <a:chOff x="571500" y="4572000"/>
            <a:chExt cx="11049000" cy="1047750"/>
          </a:xfrm>
        </p:grpSpPr>
        <p:sp>
          <p:nvSpPr>
            <p:cNvPr id="89" name="Rectangle 89"/>
            <p:cNvSpPr/>
            <p:nvPr/>
          </p:nvSpPr>
          <p:spPr>
            <a:xfrm>
              <a:off x="571500" y="4572000"/>
              <a:ext cx="11049000" cy="1047750"/>
            </a:xfrm>
            <a:prstGeom prst="roundRect">
              <a:avLst>
                <a:gd name="adj" fmla="val 10909"/>
              </a:avLst>
            </a:prstGeom>
            <a:gradFill>
              <a:gsLst>
                <a:gs pos="0">
                  <a:srgbClr val="FFFFFF"/>
                </a:gs>
                <a:gs pos="100000">
                  <a:srgbClr val="F0F6FF"/>
                </a:gs>
              </a:gsLst>
              <a:lin ang="5400000" scaled="1"/>
            </a:gradFill>
            <a:ln>
              <a:noFill/>
            </a:ln>
            <a:effectLst>
              <a:outerShdw blurRad="76200" dist="34343" dir="3378595" algn="tl" rotWithShape="0">
                <a:srgbClr val="1A73E8">
                  <a:alpha val="9000"/>
                </a:srgbClr>
              </a:outerShdw>
            </a:effectLst>
          </p:spPr>
        </p:sp>
        <p:sp>
          <p:nvSpPr>
            <p:cNvPr id="90" name="Rectangle 90"/>
            <p:cNvSpPr/>
            <p:nvPr/>
          </p:nvSpPr>
          <p:spPr>
            <a:xfrm>
              <a:off x="571500" y="457200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44868" y="4771549"/>
              <a:ext cx="1557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Segoe UI"/>
                  <a:ea typeface="Microsoft YaHei"/>
                  <a:cs typeface="Segoe UI"/>
                </a:rPr>
                <a:t>04 / 上下文注入与推理</a:t>
              </a:r>
            </a:p>
          </p:txBody>
        </p:sp>
        <p:grpSp>
          <p:nvGrpSpPr>
            <p:cNvPr id="95" name="Group 95"/>
            <p:cNvGrpSpPr/>
            <p:nvPr/>
          </p:nvGrpSpPr>
          <p:grpSpPr>
            <a:xfrm>
              <a:off x="857250" y="5029200"/>
              <a:ext cx="2857500" cy="523875"/>
              <a:chOff x="857250" y="5029200"/>
              <a:chExt cx="2857500" cy="523875"/>
            </a:xfrm>
          </p:grpSpPr>
          <p:sp>
            <p:nvSpPr>
              <p:cNvPr id="92" name="Rectangle 92"/>
              <p:cNvSpPr/>
              <p:nvPr/>
            </p:nvSpPr>
            <p:spPr>
              <a:xfrm>
                <a:off x="857250" y="5029200"/>
                <a:ext cx="285750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1A73E8">
                  <a:alpha val="8000"/>
                </a:srgbClr>
              </a:solidFill>
              <a:ln w="9525">
                <a:solidFill>
                  <a:srgbClr val="1A73E8">
                    <a:alpha val="8000"/>
                  </a:srgbClr>
                </a:solidFill>
                <a:custDash>
                  <a:ds d="400000" sp="300000"/>
                </a:custDash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989648" y="5149691"/>
                <a:ext cx="108368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1A73E8"/>
                    </a:solidFill>
                    <a:latin typeface="Segoe UI"/>
                    <a:ea typeface="Microsoft YaHei"/>
                    <a:cs typeface="Segoe UI"/>
                  </a:rPr>
                  <a:t>[System Prompt]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990600" y="5348288"/>
                <a:ext cx="138826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你是一个有帮助的AI助手...</a:t>
                </a:r>
              </a:p>
            </p:txBody>
          </p:sp>
        </p:grpSp>
        <p:sp>
          <p:nvSpPr>
            <p:cNvPr id="96" name="TextBox 96"/>
            <p:cNvSpPr txBox="1"/>
            <p:nvPr/>
          </p:nvSpPr>
          <p:spPr>
            <a:xfrm>
              <a:off x="3758856" y="5120640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FC3F7"/>
                  </a:solidFill>
                  <a:latin typeface="Segoe UI"/>
                  <a:ea typeface="Microsoft YaHei"/>
                  <a:cs typeface="Segoe UI"/>
                </a:rPr>
                <a:t>+</a:t>
              </a:r>
            </a:p>
          </p:txBody>
        </p:sp>
        <p:grpSp>
          <p:nvGrpSpPr>
            <p:cNvPr id="100" name="Group 100"/>
            <p:cNvGrpSpPr/>
            <p:nvPr/>
          </p:nvGrpSpPr>
          <p:grpSpPr>
            <a:xfrm>
              <a:off x="4048125" y="5029200"/>
              <a:ext cx="2857500" cy="523875"/>
              <a:chOff x="4048125" y="5029200"/>
              <a:chExt cx="2857500" cy="523875"/>
            </a:xfrm>
          </p:grpSpPr>
          <p:sp>
            <p:nvSpPr>
              <p:cNvPr id="97" name="Rectangle 97"/>
              <p:cNvSpPr/>
              <p:nvPr/>
            </p:nvSpPr>
            <p:spPr>
              <a:xfrm>
                <a:off x="4048125" y="5029200"/>
                <a:ext cx="285750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4FC3F7">
                  <a:alpha val="12000"/>
                </a:srgbClr>
              </a:solidFill>
              <a:ln w="9525">
                <a:solidFill>
                  <a:srgbClr val="4FC3F7">
                    <a:alpha val="12000"/>
                  </a:srgbClr>
                </a:solidFill>
                <a:custDash>
                  <a:ds d="400000" sp="300000"/>
                </a:custDash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4180522" y="5149691"/>
                <a:ext cx="15897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1A73E8"/>
                    </a:solidFill>
                    <a:latin typeface="Segoe UI"/>
                    <a:ea typeface="Microsoft YaHei"/>
                    <a:cs typeface="Segoe UI"/>
                  </a:rPr>
                  <a:t>[Context from Retrieval]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4181475" y="5348288"/>
                <a:ext cx="129516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根据检索到的文档片段...</a:t>
                </a:r>
              </a:p>
            </p:txBody>
          </p:sp>
        </p:grpSp>
        <p:sp>
          <p:nvSpPr>
            <p:cNvPr id="101" name="TextBox 101"/>
            <p:cNvSpPr txBox="1"/>
            <p:nvPr/>
          </p:nvSpPr>
          <p:spPr>
            <a:xfrm>
              <a:off x="6997356" y="5120640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FC3F7"/>
                  </a:solidFill>
                  <a:latin typeface="Segoe UI"/>
                  <a:ea typeface="Microsoft YaHei"/>
                  <a:cs typeface="Segoe UI"/>
                </a:rPr>
                <a:t>+</a:t>
              </a:r>
            </a:p>
          </p:txBody>
        </p:sp>
        <p:grpSp>
          <p:nvGrpSpPr>
            <p:cNvPr id="105" name="Group 105"/>
            <p:cNvGrpSpPr/>
            <p:nvPr/>
          </p:nvGrpSpPr>
          <p:grpSpPr>
            <a:xfrm>
              <a:off x="7286625" y="5029200"/>
              <a:ext cx="1905000" cy="523875"/>
              <a:chOff x="7286625" y="5029200"/>
              <a:chExt cx="1905000" cy="523875"/>
            </a:xfrm>
          </p:grpSpPr>
          <p:sp>
            <p:nvSpPr>
              <p:cNvPr id="102" name="Rectangle 102"/>
              <p:cNvSpPr/>
              <p:nvPr/>
            </p:nvSpPr>
            <p:spPr>
              <a:xfrm>
                <a:off x="7286625" y="5029200"/>
                <a:ext cx="190500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1A73E8">
                  <a:alpha val="8000"/>
                </a:srgbClr>
              </a:solidFill>
              <a:ln w="9525">
                <a:solidFill>
                  <a:srgbClr val="1A73E8">
                    <a:alpha val="8000"/>
                  </a:srgbClr>
                </a:solidFill>
                <a:custDash>
                  <a:ds d="400000" sp="300000"/>
                </a:custDash>
              </a:ln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7419022" y="5149691"/>
                <a:ext cx="84963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1A73E8"/>
                    </a:solidFill>
                    <a:latin typeface="Segoe UI"/>
                    <a:ea typeface="Microsoft YaHei"/>
                    <a:cs typeface="Segoe UI"/>
                  </a:rPr>
                  <a:t>[User Query]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7419975" y="5348288"/>
                <a:ext cx="96654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用户提出的问题...</a:t>
                </a:r>
              </a:p>
            </p:txBody>
          </p:sp>
        </p:grpSp>
        <p:sp>
          <p:nvSpPr>
            <p:cNvPr id="106" name="TextBox 106"/>
            <p:cNvSpPr txBox="1"/>
            <p:nvPr/>
          </p:nvSpPr>
          <p:spPr>
            <a:xfrm>
              <a:off x="9283356" y="5120640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A73E8"/>
                  </a:solidFill>
                  <a:latin typeface="Segoe UI"/>
                  <a:ea typeface="Microsoft YaHei"/>
                  <a:cs typeface="Segoe UI"/>
                </a:rPr>
                <a:t>=</a:t>
              </a:r>
            </a:p>
          </p:txBody>
        </p:sp>
        <p:grpSp>
          <p:nvGrpSpPr>
            <p:cNvPr id="110" name="Group 110"/>
            <p:cNvGrpSpPr/>
            <p:nvPr/>
          </p:nvGrpSpPr>
          <p:grpSpPr>
            <a:xfrm>
              <a:off x="9572625" y="5029200"/>
              <a:ext cx="1857375" cy="523875"/>
              <a:chOff x="9572625" y="5029200"/>
              <a:chExt cx="1857375" cy="523875"/>
            </a:xfrm>
          </p:grpSpPr>
          <p:sp>
            <p:nvSpPr>
              <p:cNvPr id="107" name="Rectangle 107"/>
              <p:cNvSpPr/>
              <p:nvPr/>
            </p:nvSpPr>
            <p:spPr>
              <a:xfrm>
                <a:off x="9572625" y="5029200"/>
                <a:ext cx="1857375" cy="523875"/>
              </a:xfrm>
              <a:prstGeom prst="roundRect">
                <a:avLst>
                  <a:gd name="adj" fmla="val 14545"/>
                </a:avLst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10097036" y="5149691"/>
                <a:ext cx="79902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LLM 生成回答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9939338" y="5348288"/>
                <a:ext cx="111442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B3D9FF"/>
                    </a:solidFill>
                    <a:latin typeface="Segoe UI"/>
                    <a:ea typeface="Microsoft YaHei"/>
                    <a:cs typeface="Segoe UI"/>
                  </a:rPr>
                  <a:t>基于完整上下文的输出</a:t>
                </a:r>
              </a:p>
            </p:txBody>
          </p:sp>
        </p:grpSp>
      </p:grpSp>
      <p:grpSp>
        <p:nvGrpSpPr>
          <p:cNvPr id="128" name="Group 128"/>
          <p:cNvGrpSpPr/>
          <p:nvPr/>
        </p:nvGrpSpPr>
        <p:grpSpPr>
          <a:xfrm>
            <a:off x="571500" y="5810250"/>
            <a:ext cx="11049000" cy="809625"/>
            <a:chOff x="571500" y="5810250"/>
            <a:chExt cx="11049000" cy="809625"/>
          </a:xfrm>
        </p:grpSpPr>
        <p:sp>
          <p:nvSpPr>
            <p:cNvPr id="112" name="Rectangle 112"/>
            <p:cNvSpPr/>
            <p:nvPr/>
          </p:nvSpPr>
          <p:spPr>
            <a:xfrm>
              <a:off x="571500" y="5810250"/>
              <a:ext cx="11049000" cy="809625"/>
            </a:xfrm>
            <a:prstGeom prst="roundRect">
              <a:avLst>
                <a:gd name="adj" fmla="val 14118"/>
              </a:avLst>
            </a:prstGeom>
            <a:gradFill>
              <a:gsLst>
                <a:gs pos="0">
                  <a:srgbClr val="FFFFFF"/>
                </a:gs>
                <a:gs pos="100000">
                  <a:srgbClr val="F0F6FF"/>
                </a:gs>
              </a:gsLst>
              <a:lin ang="5400000" scaled="1"/>
            </a:gradFill>
            <a:ln>
              <a:noFill/>
            </a:ln>
            <a:effectLst>
              <a:outerShdw blurRad="76200" dist="34343" dir="3378595" algn="tl" rotWithShape="0">
                <a:srgbClr val="1A73E8">
                  <a:alpha val="9000"/>
                </a:srgbClr>
              </a:outerShdw>
            </a:effectLst>
          </p:spPr>
        </p:sp>
        <p:sp>
          <p:nvSpPr>
            <p:cNvPr id="113" name="Rectangle 113"/>
            <p:cNvSpPr/>
            <p:nvPr/>
          </p:nvSpPr>
          <p:spPr>
            <a:xfrm>
              <a:off x="571500" y="5810250"/>
              <a:ext cx="57150" cy="809625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44868" y="5990749"/>
              <a:ext cx="9592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Segoe UI"/>
                  <a:ea typeface="Microsoft YaHei"/>
                  <a:cs typeface="Segoe UI"/>
                </a:rPr>
                <a:t>05 / 核心特点</a:t>
              </a:r>
            </a:p>
          </p:txBody>
        </p:sp>
        <p:grpSp>
          <p:nvGrpSpPr>
            <p:cNvPr id="117" name="Group 117"/>
            <p:cNvGrpSpPr/>
            <p:nvPr/>
          </p:nvGrpSpPr>
          <p:grpSpPr>
            <a:xfrm>
              <a:off x="857250" y="6210300"/>
              <a:ext cx="1333500" cy="304800"/>
              <a:chOff x="857250" y="6210300"/>
              <a:chExt cx="1333500" cy="304800"/>
            </a:xfrm>
          </p:grpSpPr>
          <p:sp>
            <p:nvSpPr>
              <p:cNvPr id="115" name="Rectangle 115"/>
              <p:cNvSpPr/>
              <p:nvPr/>
            </p:nvSpPr>
            <p:spPr>
              <a:xfrm>
                <a:off x="857250" y="6210300"/>
                <a:ext cx="13335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1108870" y="6313170"/>
                <a:ext cx="8302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✓ 灵活可扩展</a:t>
                </a:r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2286000" y="6210300"/>
              <a:ext cx="1333500" cy="304800"/>
              <a:chOff x="2286000" y="6210300"/>
              <a:chExt cx="1333500" cy="304800"/>
            </a:xfrm>
          </p:grpSpPr>
          <p:sp>
            <p:nvSpPr>
              <p:cNvPr id="118" name="Rectangle 118"/>
              <p:cNvSpPr/>
              <p:nvPr/>
            </p:nvSpPr>
            <p:spPr>
              <a:xfrm>
                <a:off x="2286000" y="6210300"/>
                <a:ext cx="13335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2537620" y="6313170"/>
                <a:ext cx="8302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✓ 低成本部署</a:t>
                </a:r>
              </a:p>
            </p:txBody>
          </p:sp>
        </p:grpSp>
        <p:grpSp>
          <p:nvGrpSpPr>
            <p:cNvPr id="123" name="Group 123"/>
            <p:cNvGrpSpPr/>
            <p:nvPr/>
          </p:nvGrpSpPr>
          <p:grpSpPr>
            <a:xfrm>
              <a:off x="3714750" y="6210300"/>
              <a:ext cx="1333500" cy="304800"/>
              <a:chOff x="3714750" y="6210300"/>
              <a:chExt cx="1333500" cy="304800"/>
            </a:xfrm>
          </p:grpSpPr>
          <p:sp>
            <p:nvSpPr>
              <p:cNvPr id="121" name="Rectangle 121"/>
              <p:cNvSpPr/>
              <p:nvPr/>
            </p:nvSpPr>
            <p:spPr>
              <a:xfrm>
                <a:off x="3714750" y="6210300"/>
                <a:ext cx="13335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22" name="TextBox 122"/>
              <p:cNvSpPr txBox="1"/>
              <p:nvPr/>
            </p:nvSpPr>
            <p:spPr>
              <a:xfrm>
                <a:off x="3897361" y="6313170"/>
                <a:ext cx="9682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✓ 实时更新知识</a:t>
                </a: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5334000" y="6210300"/>
              <a:ext cx="3238500" cy="304800"/>
              <a:chOff x="5334000" y="6210300"/>
              <a:chExt cx="3238500" cy="304800"/>
            </a:xfrm>
          </p:grpSpPr>
          <p:sp>
            <p:nvSpPr>
              <p:cNvPr id="124" name="Rectangle 124"/>
              <p:cNvSpPr/>
              <p:nvPr/>
            </p:nvSpPr>
            <p:spPr>
              <a:xfrm>
                <a:off x="5334000" y="6210300"/>
                <a:ext cx="32385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FFF3E0"/>
              </a:solidFill>
              <a:ln w="14288">
                <a:solidFill>
                  <a:srgbClr val="FF9800"/>
                </a:solidFill>
              </a:ln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5592701" y="6313170"/>
                <a:ext cx="27210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E65100"/>
                    </a:solidFill>
                    <a:latin typeface="Segoe UI"/>
                    <a:ea typeface="Microsoft YaHei"/>
                    <a:cs typeface="Segoe UI"/>
                  </a:rPr>
                  <a:t>⚠ 精度受限于检索质量 (Retrieval Quality)</a:t>
                </a:r>
              </a:p>
            </p:txBody>
          </p:sp>
        </p:grpSp>
        <p:sp>
          <p:nvSpPr>
            <p:cNvPr id="127" name="TextBox 127"/>
            <p:cNvSpPr txBox="1"/>
            <p:nvPr/>
          </p:nvSpPr>
          <p:spPr>
            <a:xfrm>
              <a:off x="8847772" y="6311741"/>
              <a:ext cx="18283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检索召回率直接影响最终生成效果</a:t>
              </a:r>
            </a:p>
          </p:txBody>
        </p:sp>
      </p:grpSp>
      <p:sp>
        <p:nvSpPr>
          <p:cNvPr id="129" name="TextBox 129"/>
          <p:cNvSpPr txBox="1"/>
          <p:nvPr/>
        </p:nvSpPr>
        <p:spPr>
          <a:xfrm>
            <a:off x="11464385" y="657034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AAAAA"/>
                </a:solidFill>
                <a:latin typeface="Segoe UI"/>
                <a:ea typeface="Microsoft YaHei"/>
                <a:cs typeface="Segoe UI"/>
              </a:rPr>
              <a:t>9 / 21</a:t>
            </a:r>
          </a:p>
        </p:txBody>
      </p:sp>
      <p:grpSp>
        <p:nvGrpSpPr>
          <p:cNvPr id="139" name="Group 139"/>
          <p:cNvGrpSpPr/>
          <p:nvPr/>
        </p:nvGrpSpPr>
        <p:grpSpPr>
          <a:xfrm>
            <a:off x="11401425" y="6257925"/>
            <a:ext cx="438150" cy="438150"/>
            <a:chOff x="11401425" y="6257925"/>
            <a:chExt cx="438150" cy="438150"/>
          </a:xfrm>
        </p:grpSpPr>
        <p:sp>
          <p:nvSpPr>
            <p:cNvPr id="130" name="Ellipse 130"/>
            <p:cNvSpPr/>
            <p:nvPr/>
          </p:nvSpPr>
          <p:spPr>
            <a:xfrm>
              <a:off x="11401425" y="6257925"/>
              <a:ext cx="57150" cy="5715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11591925" y="6257925"/>
              <a:ext cx="57150" cy="5715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11782425" y="6257925"/>
              <a:ext cx="57150" cy="5715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11401425" y="6448425"/>
              <a:ext cx="57150" cy="5715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11591925" y="6448425"/>
              <a:ext cx="57150" cy="5715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11782425" y="6448425"/>
              <a:ext cx="57150" cy="5715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11401425" y="6638925"/>
              <a:ext cx="57150" cy="5715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11591925" y="6638925"/>
              <a:ext cx="57150" cy="5715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11782425" y="6638925"/>
              <a:ext cx="57150" cy="5715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8" grpId="0"/>
      <p:bldP spid="88" grpId="0"/>
      <p:bldP spid="111" grpId="0"/>
      <p:bldP spid="1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239250" y="-571500"/>
            <a:ext cx="3429000" cy="3429000"/>
          </a:xfrm>
          <a:prstGeom prst="ellipse">
            <a:avLst/>
          </a:prstGeom>
          <a:solidFill>
            <a:srgbClr val="4FC3F7">
              <a:alpha val="6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287000" y="571500"/>
            <a:ext cx="2286000" cy="2286000"/>
          </a:xfrm>
          <a:prstGeom prst="ellipse">
            <a:avLst/>
          </a:prstGeom>
          <a:solidFill>
            <a:srgbClr val="1A73E8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18210" y="565785"/>
            <a:ext cx="21181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RAG 技术栈</a:t>
            </a:r>
          </a:p>
        </p:txBody>
      </p:sp>
      <p:sp>
        <p:nvSpPr>
          <p:cNvPr id="6" name="Rectangle 6"/>
          <p:cNvSpPr/>
          <p:nvPr/>
        </p:nvSpPr>
        <p:spPr>
          <a:xfrm>
            <a:off x="952500" y="1000125"/>
            <a:ext cx="476250" cy="3810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952500" y="1428750"/>
            <a:ext cx="5334000" cy="952500"/>
            <a:chOff x="952500" y="1428750"/>
            <a:chExt cx="5334000" cy="952500"/>
          </a:xfrm>
        </p:grpSpPr>
        <p:sp>
          <p:nvSpPr>
            <p:cNvPr id="7" name="Rectangle 7"/>
            <p:cNvSpPr/>
            <p:nvPr/>
          </p:nvSpPr>
          <p:spPr>
            <a:xfrm>
              <a:off x="952500" y="1428750"/>
              <a:ext cx="53340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8F0FE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142875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81100" y="1609725"/>
              <a:ext cx="304800" cy="3048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97162" y="1696402"/>
              <a:ext cx="726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2105" y="1616392"/>
              <a:ext cx="15248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Embedding 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04962" y="1878806"/>
              <a:ext cx="22960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text-embedding-3 / BGE / E5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2500" y="2571750"/>
            <a:ext cx="5334000" cy="952500"/>
            <a:chOff x="952500" y="2571750"/>
            <a:chExt cx="5334000" cy="952500"/>
          </a:xfrm>
        </p:grpSpPr>
        <p:sp>
          <p:nvSpPr>
            <p:cNvPr id="14" name="Rectangle 14"/>
            <p:cNvSpPr/>
            <p:nvPr/>
          </p:nvSpPr>
          <p:spPr>
            <a:xfrm>
              <a:off x="952500" y="2571750"/>
              <a:ext cx="53340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8F0FE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52500" y="257175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181100" y="2752725"/>
              <a:ext cx="304800" cy="3048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77993" y="28394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02105" y="275939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向量数据库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04962" y="3021806"/>
              <a:ext cx="29203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Milvus / Pinecone / Qdrant / Chroma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2500" y="3714750"/>
            <a:ext cx="5334000" cy="952500"/>
            <a:chOff x="952500" y="3714750"/>
            <a:chExt cx="5334000" cy="952500"/>
          </a:xfrm>
        </p:grpSpPr>
        <p:sp>
          <p:nvSpPr>
            <p:cNvPr id="21" name="Rectangle 21"/>
            <p:cNvSpPr/>
            <p:nvPr/>
          </p:nvSpPr>
          <p:spPr>
            <a:xfrm>
              <a:off x="952500" y="3714750"/>
              <a:ext cx="53340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8F0F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52500" y="371475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181100" y="3895725"/>
              <a:ext cx="304800" cy="3048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77993" y="39824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02105" y="39023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检索策略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04962" y="4164806"/>
              <a:ext cx="25506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Dense Retrieval + BM25 混合检索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67500" y="2571750"/>
            <a:ext cx="5334000" cy="952500"/>
            <a:chOff x="6667500" y="2571750"/>
            <a:chExt cx="5334000" cy="952500"/>
          </a:xfrm>
        </p:grpSpPr>
        <p:sp>
          <p:nvSpPr>
            <p:cNvPr id="28" name="Rectangle 28"/>
            <p:cNvSpPr/>
            <p:nvPr/>
          </p:nvSpPr>
          <p:spPr>
            <a:xfrm>
              <a:off x="6667500" y="2571750"/>
              <a:ext cx="53340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8F0FE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67500" y="257175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896100" y="2752725"/>
              <a:ext cx="304800" cy="3048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92993" y="28394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17105" y="27593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优化技术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19962" y="3021806"/>
              <a:ext cx="25753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RAPTOR / HyDE / Self-RAG / CRAG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67500" y="3714750"/>
            <a:ext cx="5334000" cy="952500"/>
            <a:chOff x="6667500" y="3714750"/>
            <a:chExt cx="5334000" cy="952500"/>
          </a:xfrm>
        </p:grpSpPr>
        <p:sp>
          <p:nvSpPr>
            <p:cNvPr id="35" name="Rectangle 35"/>
            <p:cNvSpPr/>
            <p:nvPr/>
          </p:nvSpPr>
          <p:spPr>
            <a:xfrm>
              <a:off x="6667500" y="3714750"/>
              <a:ext cx="53340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8F0F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67500" y="371475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896100" y="3895725"/>
              <a:ext cx="304800" cy="3048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92993" y="39824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17105" y="3902392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框架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19962" y="4164806"/>
              <a:ext cx="27560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LangChain / LlamaIndex / Haystack</a:t>
              </a:r>
            </a:p>
          </p:txBody>
        </p:sp>
      </p:grpSp>
      <p:sp>
        <p:nvSpPr>
          <p:cNvPr id="42" name="Line 42"/>
          <p:cNvSpPr/>
          <p:nvPr/>
        </p:nvSpPr>
        <p:spPr>
          <a:xfrm>
            <a:off x="952500" y="64770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9525">
            <a:solidFill>
              <a:srgbClr val="E0E7F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0789110" y="660177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 / 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7" grpId="0"/>
      <p:bldP spid="34" grpId="0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-95250" y="-571500"/>
            <a:ext cx="12763500" cy="7810500"/>
            <a:chOff x="-95250" y="-571500"/>
            <a:chExt cx="12763500" cy="7810500"/>
          </a:xfrm>
        </p:grpSpPr>
        <p:sp>
          <p:nvSpPr>
            <p:cNvPr id="3" name="Ellipse 3"/>
            <p:cNvSpPr/>
            <p:nvPr/>
          </p:nvSpPr>
          <p:spPr>
            <a:xfrm>
              <a:off x="9239250" y="-571500"/>
              <a:ext cx="3429000" cy="3429000"/>
            </a:xfrm>
            <a:prstGeom prst="ellipse">
              <a:avLst/>
            </a:prstGeom>
            <a:solidFill>
              <a:srgbClr val="4FC3F7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95250" y="4572000"/>
              <a:ext cx="2667000" cy="2667000"/>
            </a:xfrm>
            <a:prstGeom prst="ellipse">
              <a:avLst/>
            </a:prstGeom>
            <a:solidFill>
              <a:srgbClr val="1A73E8">
                <a:alpha val="5000"/>
              </a:srgbClr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0" y="133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4288">
              <a:solidFill>
                <a:srgbClr val="E0E7FF">
                  <a:alpha val="6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E0E7FF">
                  <a:alpha val="30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333500"/>
              <a:ext cx="4572000" cy="3619500"/>
            </a:xfrm>
            <a:prstGeom prst="roundRect">
              <a:avLst>
                <a:gd name="adj" fmla="val 4211"/>
              </a:avLst>
            </a:prstGeom>
            <a:noFill/>
            <a:ln w="19050">
              <a:solidFill>
                <a:srgbClr val="E0E7FF">
                  <a:alpha val="40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667500" y="1333500"/>
              <a:ext cx="4572000" cy="3619500"/>
            </a:xfrm>
            <a:prstGeom prst="roundRect">
              <a:avLst>
                <a:gd name="adj" fmla="val 4211"/>
              </a:avLst>
            </a:prstGeom>
            <a:noFill/>
            <a:ln w="19050">
              <a:solidFill>
                <a:srgbClr val="E0E7FF">
                  <a:alpha val="40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094640" y="532448"/>
            <a:ext cx="4002719" cy="1048702"/>
            <a:chOff x="4094640" y="532448"/>
            <a:chExt cx="4002719" cy="1048702"/>
          </a:xfrm>
        </p:grpSpPr>
        <p:sp>
          <p:nvSpPr>
            <p:cNvPr id="10" name="TextBox 10"/>
            <p:cNvSpPr txBox="1"/>
            <p:nvPr/>
          </p:nvSpPr>
          <p:spPr>
            <a:xfrm>
              <a:off x="4094640" y="532448"/>
              <a:ext cx="4002719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04 核心维度对比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91251" y="1170622"/>
              <a:ext cx="36094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知识图谱 vs RAG — 全面对决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381500" y="15716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28575" cap="rnd">
              <a:solidFill>
                <a:srgbClr val="1A73E8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52500" y="1809750"/>
            <a:ext cx="4572000" cy="3238500"/>
            <a:chOff x="952500" y="1809750"/>
            <a:chExt cx="4572000" cy="3238500"/>
          </a:xfrm>
        </p:grpSpPr>
        <p:sp>
          <p:nvSpPr>
            <p:cNvPr id="14" name="Rectangle 14"/>
            <p:cNvSpPr/>
            <p:nvPr/>
          </p:nvSpPr>
          <p:spPr>
            <a:xfrm>
              <a:off x="952500" y="1809750"/>
              <a:ext cx="4572000" cy="32385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9050">
              <a:solidFill>
                <a:srgbClr val="D0D9F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52500" y="1809750"/>
              <a:ext cx="4572000" cy="666750"/>
            </a:xfrm>
            <a:prstGeom prst="roundRect">
              <a:avLst>
                <a:gd name="adj" fmla="val 22857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165199" y="2011680"/>
              <a:ext cx="214660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知识图谱 (KG)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266825" y="2695575"/>
              <a:ext cx="133350" cy="13335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552575" y="2647950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基于实体与关系构建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266825" y="3171825"/>
              <a:ext cx="133350" cy="13335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52575" y="3124200"/>
              <a:ext cx="1790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支持多跳复杂推理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1266825" y="3648075"/>
              <a:ext cx="133350" cy="13335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52575" y="3600450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高可解释性与透明度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266825" y="4124325"/>
              <a:ext cx="133350" cy="13335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52575" y="4076700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适合静态领域知识库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266825" y="4600575"/>
              <a:ext cx="133350" cy="13335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52575" y="4552950"/>
              <a:ext cx="21302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需人工/算法维护结构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67500" y="1809750"/>
            <a:ext cx="4572000" cy="3238500"/>
            <a:chOff x="6667500" y="1809750"/>
            <a:chExt cx="4572000" cy="3238500"/>
          </a:xfrm>
        </p:grpSpPr>
        <p:sp>
          <p:nvSpPr>
            <p:cNvPr id="28" name="Rectangle 28"/>
            <p:cNvSpPr/>
            <p:nvPr/>
          </p:nvSpPr>
          <p:spPr>
            <a:xfrm>
              <a:off x="6667500" y="1809750"/>
              <a:ext cx="4572000" cy="32385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9050">
              <a:solidFill>
                <a:srgbClr val="D0D9F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67500" y="1809750"/>
              <a:ext cx="4572000" cy="666750"/>
            </a:xfrm>
            <a:prstGeom prst="roundRect">
              <a:avLst>
                <a:gd name="adj" fmla="val 22857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91638" y="2011680"/>
              <a:ext cx="23237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RAG (检索增强)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981825" y="2695575"/>
              <a:ext cx="133350" cy="13335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67575" y="2647950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直接关联原始文档片段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981825" y="3171825"/>
              <a:ext cx="133350" cy="13335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67575" y="3124200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响应速度快，延迟低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981825" y="3648075"/>
              <a:ext cx="133350" cy="13335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67575" y="3600450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天然支持实时数据更新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981825" y="4124325"/>
              <a:ext cx="133350" cy="13335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67575" y="4076700"/>
              <a:ext cx="1790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依赖向量检索精度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981825" y="4600575"/>
              <a:ext cx="133350" cy="13335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67575" y="4552950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易受噪声与幻觉影响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52500" y="5238750"/>
            <a:ext cx="10287000" cy="1143000"/>
            <a:chOff x="952500" y="5238750"/>
            <a:chExt cx="10287000" cy="1143000"/>
          </a:xfrm>
        </p:grpSpPr>
        <p:sp>
          <p:nvSpPr>
            <p:cNvPr id="42" name="Rectangle 42"/>
            <p:cNvSpPr/>
            <p:nvPr/>
          </p:nvSpPr>
          <p:spPr>
            <a:xfrm>
              <a:off x="952500" y="5238750"/>
              <a:ext cx="10287000" cy="104775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9050">
              <a:solidFill>
                <a:srgbClr val="D0D9F0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4286250" y="52387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19050">
              <a:solidFill>
                <a:srgbClr val="E0E7FF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8096250" y="52387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19050">
              <a:solidFill>
                <a:srgbClr val="E0E7F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140268" y="54102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评估维度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712142" y="54102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知识图谱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92426" y="5410200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010728" y="5807392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逻辑推理深度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70972" y="5791200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80972" y="5791200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★★☆☆☆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010728" y="6093142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实时信息获取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70972" y="6076950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★★☆☆☆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80972" y="6076950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7" grpId="0"/>
      <p:bldP spid="41" grpId="0"/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3900" y="438150"/>
            <a:ext cx="10706100" cy="609600"/>
            <a:chOff x="723900" y="438150"/>
            <a:chExt cx="10706100" cy="609600"/>
          </a:xfrm>
        </p:grpSpPr>
        <p:sp>
          <p:nvSpPr>
            <p:cNvPr id="3" name="TextBox 3"/>
            <p:cNvSpPr txBox="1"/>
            <p:nvPr/>
          </p:nvSpPr>
          <p:spPr>
            <a:xfrm>
              <a:off x="723900" y="438150"/>
              <a:ext cx="283654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知识表示方式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67403" y="567690"/>
              <a:ext cx="7949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12 / 21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952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DCE8FA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62000" y="1143000"/>
            <a:ext cx="5143500" cy="3619500"/>
            <a:chOff x="762000" y="1143000"/>
            <a:chExt cx="5143500" cy="3619500"/>
          </a:xfrm>
        </p:grpSpPr>
        <p:sp>
          <p:nvSpPr>
            <p:cNvPr id="7" name="Rectangle 7"/>
            <p:cNvSpPr/>
            <p:nvPr/>
          </p:nvSpPr>
          <p:spPr>
            <a:xfrm>
              <a:off x="762000" y="1143000"/>
              <a:ext cx="5143500" cy="361950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19050">
              <a:solidFill>
                <a:srgbClr val="DCE8F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257300" y="1447800"/>
              <a:ext cx="723900" cy="628650"/>
              <a:chOff x="1257300" y="1447800"/>
              <a:chExt cx="723900" cy="62865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257300" y="1543050"/>
                <a:ext cx="152400" cy="1524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828800" y="1447800"/>
                <a:ext cx="152400" cy="1524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638300" y="1924050"/>
                <a:ext cx="152400" cy="1524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333500" y="1524000"/>
                <a:ext cx="571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0">
                    <a:moveTo>
                      <a:pt x="0" y="95250"/>
                    </a:moveTo>
                    <a:lnTo>
                      <a:pt x="571500" y="0"/>
                    </a:lnTo>
                  </a:path>
                </a:pathLst>
              </a:custGeom>
              <a:noFill/>
              <a:ln w="19050">
                <a:solidFill>
                  <a:srgbClr val="1A73E8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1333500" y="161925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0"/>
                    </a:moveTo>
                    <a:lnTo>
                      <a:pt x="381000" y="381000"/>
                    </a:lnTo>
                  </a:path>
                </a:pathLst>
              </a:custGeom>
              <a:noFill/>
              <a:ln w="19050">
                <a:solidFill>
                  <a:srgbClr val="1A73E8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714500" y="1524000"/>
                <a:ext cx="190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476250">
                    <a:moveTo>
                      <a:pt x="19050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19050">
                <a:solidFill>
                  <a:srgbClr val="1A73E8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08710" y="2280285"/>
              <a:ext cx="172478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知识图谱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3950" y="2790825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44444"/>
                  </a:solidFill>
                  <a:latin typeface="Arial"/>
                  <a:ea typeface="Microsoft YaHei"/>
                  <a:cs typeface="Arial"/>
                </a:rPr>
                <a:t>显式符号化表示，结构化三元组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7760" y="3299460"/>
              <a:ext cx="17743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实体-关系-属性建模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7760" y="3585210"/>
              <a:ext cx="17567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逻辑推理与规则引擎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7760" y="3870960"/>
              <a:ext cx="17567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强可解释性与确定性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43000" y="4286250"/>
              <a:ext cx="4381500" cy="285750"/>
            </a:xfrm>
            <a:prstGeom prst="roundRect">
              <a:avLst>
                <a:gd name="adj" fmla="val 20000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72540" y="4363402"/>
              <a:ext cx="1107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可解释性 ★★★★★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1143000"/>
            <a:ext cx="5143500" cy="3619500"/>
            <a:chOff x="6286500" y="1143000"/>
            <a:chExt cx="5143500" cy="3619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143000"/>
              <a:ext cx="5143500" cy="361950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19050">
              <a:solidFill>
                <a:srgbClr val="DCE8FA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667500" y="1428750"/>
              <a:ext cx="1478280" cy="476250"/>
              <a:chOff x="6667500" y="1428750"/>
              <a:chExt cx="1478280" cy="476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667500" y="1428750"/>
                <a:ext cx="381000" cy="476250"/>
              </a:xfrm>
              <a:prstGeom prst="roundRect">
                <a:avLst>
                  <a:gd name="adj" fmla="val 10000"/>
                </a:avLst>
              </a:prstGeom>
              <a:solidFill>
                <a:srgbClr val="4FC3F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6762750" y="157162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4FC3F7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6762750" y="16668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4FC3F7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6762750" y="1762125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4FC3F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143750" y="161925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47625"/>
                    </a:moveTo>
                    <a:lnTo>
                      <a:pt x="190500" y="47625"/>
                    </a:lnTo>
                    <a:lnTo>
                      <a:pt x="142875" y="0"/>
                    </a:lnTo>
                    <a:moveTo>
                      <a:pt x="190500" y="47625"/>
                    </a:moveTo>
                    <a:lnTo>
                      <a:pt x="142875" y="95250"/>
                    </a:lnTo>
                  </a:path>
                </a:pathLst>
              </a:custGeom>
              <a:noFill/>
              <a:ln w="19050">
                <a:solidFill>
                  <a:srgbClr val="4FC3F7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7429500" y="1571625"/>
                <a:ext cx="5715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4FC3F7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465695" y="1607820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FC3F7"/>
                    </a:solidFill>
                    <a:latin typeface="Arial"/>
                    <a:ea typeface="Microsoft YaHei"/>
                    <a:cs typeface="Arial"/>
                  </a:rPr>
                  <a:t>[0.1, 0.8]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6633210" y="2280285"/>
              <a:ext cx="75176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48450" y="2790825"/>
              <a:ext cx="35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44444"/>
                  </a:solidFill>
                  <a:latin typeface="Arial"/>
                  <a:ea typeface="Microsoft YaHei"/>
                  <a:cs typeface="Arial"/>
                </a:rPr>
                <a:t>隐式语义表示，非结构化文档向量化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2260" y="3299460"/>
              <a:ext cx="19320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高维稠密向量空间映射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2260" y="3585210"/>
              <a:ext cx="21073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相似度检索与上下文增强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2260" y="3870960"/>
              <a:ext cx="19320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弱可解释性与概率生成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67500" y="4286250"/>
              <a:ext cx="4381500" cy="285750"/>
            </a:xfrm>
            <a:prstGeom prst="roundRect">
              <a:avLst>
                <a:gd name="adj" fmla="val 20000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040" y="4363402"/>
              <a:ext cx="1107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检索效率 ★★★★★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524500" y="2571750"/>
            <a:ext cx="762000" cy="762000"/>
            <a:chOff x="5524500" y="2571750"/>
            <a:chExt cx="762000" cy="762000"/>
          </a:xfrm>
        </p:grpSpPr>
        <p:sp>
          <p:nvSpPr>
            <p:cNvPr id="40" name="Ellipse 40"/>
            <p:cNvSpPr/>
            <p:nvPr/>
          </p:nvSpPr>
          <p:spPr>
            <a:xfrm>
              <a:off x="5524500" y="2571750"/>
              <a:ext cx="762000" cy="762000"/>
            </a:xfrm>
            <a:prstGeom prst="ellipse">
              <a:avLst/>
            </a:prstGeom>
            <a:solidFill>
              <a:srgbClr val="F5F8FE"/>
            </a:solidFill>
            <a:ln w="28575">
              <a:solidFill>
                <a:srgbClr val="1A73E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30821" y="28346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VS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5143500"/>
            <a:ext cx="10668000" cy="952500"/>
            <a:chOff x="762000" y="5143500"/>
            <a:chExt cx="10668000" cy="952500"/>
          </a:xfrm>
        </p:grpSpPr>
        <p:sp>
          <p:nvSpPr>
            <p:cNvPr id="43" name="Rectangle 43"/>
            <p:cNvSpPr/>
            <p:nvPr/>
          </p:nvSpPr>
          <p:spPr>
            <a:xfrm>
              <a:off x="762000" y="5143500"/>
              <a:ext cx="10668000" cy="952500"/>
            </a:xfrm>
            <a:prstGeom prst="roundRect">
              <a:avLst>
                <a:gd name="adj" fmla="val 12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02334" y="5345430"/>
              <a:ext cx="478733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本质区别：符号主义 vs 连接主义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9" grpId="0"/>
      <p:bldP spid="42" grpId="0"/>
      <p:bldP spid="4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16280" y="421005"/>
            <a:ext cx="10713720" cy="731520"/>
            <a:chOff x="716280" y="421005"/>
            <a:chExt cx="10713720" cy="731520"/>
          </a:xfrm>
        </p:grpSpPr>
        <p:sp>
          <p:nvSpPr>
            <p:cNvPr id="3" name="TextBox 3"/>
            <p:cNvSpPr txBox="1"/>
            <p:nvPr/>
          </p:nvSpPr>
          <p:spPr>
            <a:xfrm>
              <a:off x="716280" y="421005"/>
              <a:ext cx="395592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A73E8"/>
                  </a:solidFill>
                  <a:latin typeface="Segoe UI"/>
                  <a:ea typeface="Microsoft YaHei"/>
                  <a:cs typeface="Segoe UI"/>
                </a:rPr>
                <a:t>检索与推理机制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67403" y="424815"/>
              <a:ext cx="7949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13 / 21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953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4FC3F7">
                  <a:alpha val="60000"/>
                </a:srgbClr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62000" y="1428750"/>
            <a:ext cx="5143500" cy="4191000"/>
            <a:chOff x="762000" y="1428750"/>
            <a:chExt cx="5143500" cy="4191000"/>
          </a:xfrm>
        </p:grpSpPr>
        <p:sp>
          <p:nvSpPr>
            <p:cNvPr id="7" name="Rectangle 7"/>
            <p:cNvSpPr/>
            <p:nvPr/>
          </p:nvSpPr>
          <p:spPr>
            <a:xfrm>
              <a:off x="762000" y="1428750"/>
              <a:ext cx="5143500" cy="41910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9525">
              <a:solidFill>
                <a:srgbClr val="E0E7FF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09650" y="1676400"/>
              <a:ext cx="457200" cy="457200"/>
            </a:xfrm>
            <a:prstGeom prst="ellipse">
              <a:avLst/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95375" y="17621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47625" y="142875"/>
                  </a:moveTo>
                  <a:lnTo>
                    <a:pt x="238125" y="142875"/>
                  </a:lnTo>
                  <a:moveTo>
                    <a:pt x="142875" y="47625"/>
                  </a:moveTo>
                  <a:lnTo>
                    <a:pt x="142875" y="238125"/>
                  </a:lnTo>
                  <a:moveTo>
                    <a:pt x="0" y="0"/>
                  </a:moveTo>
                  <a:lnTo>
                    <a:pt x="285750" y="285750"/>
                  </a:lnTo>
                  <a:moveTo>
                    <a:pt x="0" y="28575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rgbClr val="1A73E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88770" y="172212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73E8"/>
                  </a:solidFill>
                  <a:latin typeface="Segoe UI"/>
                  <a:ea typeface="Microsoft YaHei"/>
                  <a:cs typeface="Segoe UI"/>
                </a:rPr>
                <a:t>知识图谱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43000" y="2476500"/>
              <a:ext cx="76200" cy="22860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0640" y="2472690"/>
              <a:ext cx="10972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精确匹配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2952750"/>
              <a:ext cx="76200" cy="22860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10640" y="2948940"/>
              <a:ext cx="8343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图遍历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43000" y="3429000"/>
              <a:ext cx="76200" cy="22860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10640" y="3425190"/>
              <a:ext cx="10972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多跳推理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4895850" y="1847850"/>
              <a:ext cx="114300" cy="114300"/>
            </a:xfrm>
            <a:prstGeom prst="ellipse">
              <a:avLst/>
            </a:prstGeom>
            <a:solidFill>
              <a:srgbClr val="4FC3F7">
                <a:alpha val="5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533900" y="2343150"/>
              <a:ext cx="76200" cy="76200"/>
            </a:xfrm>
            <a:prstGeom prst="ellipse">
              <a:avLst/>
            </a:prstGeom>
            <a:solidFill>
              <a:srgbClr val="1A73E8">
                <a:alpha val="3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067300" y="2781300"/>
              <a:ext cx="152400" cy="152400"/>
            </a:xfrm>
            <a:prstGeom prst="ellipse">
              <a:avLst/>
            </a:prstGeom>
            <a:solidFill>
              <a:srgbClr val="4FC3F7">
                <a:alpha val="40000"/>
              </a:srgbClr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4572000" y="1905000"/>
              <a:ext cx="381000" cy="476250"/>
            </a:xfrm>
            <a:custGeom>
              <a:avLst/>
              <a:gdLst/>
              <a:ahLst/>
              <a:cxnLst/>
              <a:rect l="l" t="t" r="r" b="b"/>
              <a:pathLst>
                <a:path w="381000" h="476250">
                  <a:moveTo>
                    <a:pt x="38100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572000" y="2381250"/>
              <a:ext cx="571500" cy="476250"/>
            </a:xfrm>
            <a:custGeom>
              <a:avLst/>
              <a:gdLst/>
              <a:ahLst/>
              <a:cxnLst/>
              <a:rect l="l" t="t" r="r" b="b"/>
              <a:pathLst>
                <a:path w="571500" h="476250">
                  <a:moveTo>
                    <a:pt x="0" y="0"/>
                  </a:moveTo>
                  <a:lnTo>
                    <a:pt x="571500" y="476250"/>
                  </a:lnTo>
                </a:path>
              </a:pathLst>
            </a:custGeom>
            <a:noFill/>
            <a:ln w="9525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43000" y="4000500"/>
              <a:ext cx="4381500" cy="381000"/>
            </a:xfrm>
            <a:prstGeom prst="roundRect">
              <a:avLst>
                <a:gd name="adj" fmla="val 2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16355" y="4102418"/>
              <a:ext cx="17008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73E8"/>
                  </a:solidFill>
                  <a:latin typeface="Segoe UI"/>
                  <a:ea typeface="Microsoft YaHei"/>
                  <a:cs typeface="Segoe UI"/>
                </a:rPr>
                <a:t>确定性推理 ★★★★★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30855" y="4102418"/>
              <a:ext cx="16214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开放式语义 ☆☆☆☆☆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1428750"/>
            <a:ext cx="5143500" cy="4191000"/>
            <a:chOff x="6286500" y="1428750"/>
            <a:chExt cx="5143500" cy="41910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428750"/>
              <a:ext cx="5143500" cy="41910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9525">
              <a:solidFill>
                <a:srgbClr val="E0E7FF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534150" y="1676400"/>
              <a:ext cx="457200" cy="457200"/>
            </a:xfrm>
            <a:prstGeom prst="ellipse">
              <a:avLst/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667500" y="1778000"/>
              <a:ext cx="190500" cy="254000"/>
            </a:xfrm>
            <a:custGeom>
              <a:avLst/>
              <a:gdLst/>
              <a:ahLst/>
              <a:cxnLst/>
              <a:rect l="l" t="t" r="r" b="b"/>
              <a:pathLst>
                <a:path w="190500" h="254000">
                  <a:moveTo>
                    <a:pt x="0" y="127000"/>
                  </a:moveTo>
                  <a:cubicBezTo>
                    <a:pt x="63500" y="0"/>
                    <a:pt x="127000" y="0"/>
                    <a:pt x="190500" y="127000"/>
                  </a:cubicBezTo>
                  <a:cubicBezTo>
                    <a:pt x="127000" y="254000"/>
                    <a:pt x="63500" y="254000"/>
                    <a:pt x="0" y="127000"/>
                  </a:cubicBezTo>
                  <a:close/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6724650" y="1866900"/>
              <a:ext cx="76200" cy="762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13270" y="1722120"/>
              <a:ext cx="668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73E8"/>
                  </a:solidFill>
                  <a:latin typeface="Segoe UI"/>
                  <a:ea typeface="Microsoft YaHei"/>
                  <a:cs typeface="Segoe UI"/>
                </a:rPr>
                <a:t>RAG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67500" y="2476500"/>
              <a:ext cx="76200" cy="22860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35140" y="2472690"/>
              <a:ext cx="16230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模糊语义检索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67500" y="2952750"/>
              <a:ext cx="76200" cy="22860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35140" y="2948940"/>
              <a:ext cx="166249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LLM 隐式推理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9144000" y="1778000"/>
              <a:ext cx="1143000" cy="254000"/>
            </a:xfrm>
            <a:custGeom>
              <a:avLst/>
              <a:gdLst/>
              <a:ahLst/>
              <a:cxnLst/>
              <a:rect l="l" t="t" r="r" b="b"/>
              <a:pathLst>
                <a:path w="1143000" h="254000">
                  <a:moveTo>
                    <a:pt x="1143000" y="127000"/>
                  </a:moveTo>
                  <a:cubicBezTo>
                    <a:pt x="952500" y="254000"/>
                    <a:pt x="762000" y="254000"/>
                    <a:pt x="571500" y="127000"/>
                  </a:cubicBezTo>
                  <a:cubicBezTo>
                    <a:pt x="381000" y="0"/>
                    <a:pt x="190500" y="0"/>
                    <a:pt x="0" y="127000"/>
                  </a:cubicBezTo>
                </a:path>
              </a:pathLst>
            </a:custGeom>
            <a:noFill/>
            <a:ln w="19050">
              <a:solidFill>
                <a:srgbClr val="4FC3F7">
                  <a:alpha val="30000"/>
                </a:srgbClr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144000" y="2159000"/>
              <a:ext cx="1143000" cy="254000"/>
            </a:xfrm>
            <a:custGeom>
              <a:avLst/>
              <a:gdLst/>
              <a:ahLst/>
              <a:cxnLst/>
              <a:rect l="l" t="t" r="r" b="b"/>
              <a:pathLst>
                <a:path w="1143000" h="254000">
                  <a:moveTo>
                    <a:pt x="1143000" y="127000"/>
                  </a:moveTo>
                  <a:cubicBezTo>
                    <a:pt x="952500" y="254000"/>
                    <a:pt x="762000" y="254000"/>
                    <a:pt x="571500" y="127000"/>
                  </a:cubicBezTo>
                  <a:cubicBezTo>
                    <a:pt x="381000" y="0"/>
                    <a:pt x="190500" y="0"/>
                    <a:pt x="0" y="127000"/>
                  </a:cubicBezTo>
                </a:path>
              </a:pathLst>
            </a:custGeom>
            <a:noFill/>
            <a:ln w="19050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67500" y="4000500"/>
              <a:ext cx="4381500" cy="381000"/>
            </a:xfrm>
            <a:prstGeom prst="roundRect">
              <a:avLst>
                <a:gd name="adj" fmla="val 2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40855" y="4102418"/>
              <a:ext cx="17008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73E8"/>
                  </a:solidFill>
                  <a:latin typeface="Segoe UI"/>
                  <a:ea typeface="Microsoft YaHei"/>
                  <a:cs typeface="Segoe UI"/>
                </a:rPr>
                <a:t>确定性推理 ☆☆☆☆☆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55355" y="4102418"/>
              <a:ext cx="16214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开放式语义 ★★★★★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286000" y="5810250"/>
            <a:ext cx="7620000" cy="571500"/>
            <a:chOff x="2286000" y="5810250"/>
            <a:chExt cx="7620000" cy="571500"/>
          </a:xfrm>
        </p:grpSpPr>
        <p:sp>
          <p:nvSpPr>
            <p:cNvPr id="41" name="Rectangle 41"/>
            <p:cNvSpPr/>
            <p:nvPr/>
          </p:nvSpPr>
          <p:spPr>
            <a:xfrm>
              <a:off x="2286000" y="5810250"/>
              <a:ext cx="7620000" cy="57150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028530" y="5961698"/>
              <a:ext cx="613494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A73E8"/>
                  </a:solidFill>
                  <a:latin typeface="Segoe UI"/>
                  <a:ea typeface="Microsoft YaHei"/>
                  <a:cs typeface="Segoe UI"/>
                </a:rPr>
                <a:t>KG 擅长确定性推理，RAG 擅长开放式语义理解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76250" y="190500"/>
            <a:ext cx="11144250" cy="6572250"/>
            <a:chOff x="476250" y="190500"/>
            <a:chExt cx="11144250" cy="6572250"/>
          </a:xfrm>
        </p:grpSpPr>
        <p:sp>
          <p:nvSpPr>
            <p:cNvPr id="44" name="Ellipse 44"/>
            <p:cNvSpPr/>
            <p:nvPr/>
          </p:nvSpPr>
          <p:spPr>
            <a:xfrm>
              <a:off x="10382250" y="190500"/>
              <a:ext cx="1143000" cy="1143000"/>
            </a:xfrm>
            <a:prstGeom prst="ellipse">
              <a:avLst/>
            </a:prstGeom>
            <a:solidFill>
              <a:srgbClr val="4FC3F7">
                <a:alpha val="15000"/>
              </a:srgb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0858500" y="666750"/>
              <a:ext cx="762000" cy="76200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476250" y="5715000"/>
              <a:ext cx="952500" cy="952500"/>
            </a:xfrm>
            <a:prstGeom prst="ellipse">
              <a:avLst/>
            </a:prstGeom>
            <a:solidFill>
              <a:srgbClr val="4FC3F7">
                <a:alpha val="15000"/>
              </a:srgb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52500" y="6191250"/>
              <a:ext cx="571500" cy="57150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2286000" y="469583"/>
            <a:ext cx="7620000" cy="640080"/>
            <a:chOff x="2286000" y="469583"/>
            <a:chExt cx="7620000" cy="640080"/>
          </a:xfrm>
        </p:grpSpPr>
        <p:sp>
          <p:nvSpPr>
            <p:cNvPr id="3" name="TextBox 3"/>
            <p:cNvSpPr txBox="1"/>
            <p:nvPr/>
          </p:nvSpPr>
          <p:spPr>
            <a:xfrm>
              <a:off x="4365284" y="469583"/>
              <a:ext cx="346143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核心能力对比表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286000" y="1095375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38100">
              <a:solidFill>
                <a:srgbClr val="4FC3F7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2286000" y="1238250"/>
            <a:ext cx="7620000" cy="5143500"/>
            <a:chOff x="2286000" y="1238250"/>
            <a:chExt cx="7620000" cy="5143500"/>
          </a:xfrm>
        </p:grpSpPr>
        <p:sp>
          <p:nvSpPr>
            <p:cNvPr id="6" name="Rectangle 6"/>
            <p:cNvSpPr/>
            <p:nvPr/>
          </p:nvSpPr>
          <p:spPr>
            <a:xfrm>
              <a:off x="2286000" y="1238250"/>
              <a:ext cx="7620000" cy="571500"/>
            </a:xfrm>
            <a:prstGeom prst="rect">
              <a:avLst/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457450" y="1362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评估维度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40642" y="1362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知识图谱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68426" y="136207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86000" y="1809750"/>
              <a:ext cx="7620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86000" y="1809750"/>
              <a:ext cx="57150" cy="762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459355" y="2045018"/>
              <a:ext cx="625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精确性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03388" y="1980248"/>
              <a:ext cx="8327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60888" y="1980248"/>
              <a:ext cx="8327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★★★☆☆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286000" y="2571750"/>
              <a:ext cx="7620000" cy="762000"/>
            </a:xfrm>
            <a:prstGeom prst="rect">
              <a:avLst/>
            </a:prstGeom>
            <a:solidFill>
              <a:srgbClr val="F0F5F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286000" y="2571750"/>
              <a:ext cx="57150" cy="762000"/>
            </a:xfrm>
            <a:prstGeom prst="rect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59355" y="2807018"/>
              <a:ext cx="625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召回率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03388" y="2742248"/>
              <a:ext cx="8327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★★★☆☆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0888" y="2742248"/>
              <a:ext cx="8327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286000" y="3333750"/>
              <a:ext cx="7620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286000" y="3333750"/>
              <a:ext cx="57150" cy="762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59355" y="35690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构建成本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03388" y="3504248"/>
              <a:ext cx="8327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★★☆☆☆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60888" y="3504248"/>
              <a:ext cx="8327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286000" y="4095750"/>
              <a:ext cx="7620000" cy="762000"/>
            </a:xfrm>
            <a:prstGeom prst="rect">
              <a:avLst/>
            </a:prstGeom>
            <a:solidFill>
              <a:srgbClr val="F0F5F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86000" y="4095750"/>
              <a:ext cx="57150" cy="762000"/>
            </a:xfrm>
            <a:prstGeom prst="rect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459355" y="43310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可解释性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03388" y="4266248"/>
              <a:ext cx="8327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60888" y="4266248"/>
              <a:ext cx="8327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★★★☆☆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86000" y="4857750"/>
              <a:ext cx="7620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286000" y="4857750"/>
              <a:ext cx="57150" cy="762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459355" y="5093018"/>
              <a:ext cx="625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实时性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03388" y="5028248"/>
              <a:ext cx="8327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★★☆☆☆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60888" y="5028248"/>
              <a:ext cx="8327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286000" y="5619750"/>
              <a:ext cx="7620000" cy="762000"/>
            </a:xfrm>
            <a:prstGeom prst="rect">
              <a:avLst/>
            </a:prstGeom>
            <a:solidFill>
              <a:srgbClr val="F0F5FF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286000" y="5619750"/>
              <a:ext cx="57150" cy="762000"/>
            </a:xfrm>
            <a:prstGeom prst="rect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459355" y="5855018"/>
              <a:ext cx="625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扩展性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03388" y="5790248"/>
              <a:ext cx="8327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★★★☆☆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60888" y="5790248"/>
              <a:ext cx="8327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2286000" y="18097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E0E6ED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2286000" y="25717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E0E6ED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2286000" y="33337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E0E6ED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2286000" y="40957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E0E6ED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2286000" y="48577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E0E6ED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2286000" y="56197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E0E6ED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4191000" y="1238250"/>
              <a:ext cx="9525" cy="5143500"/>
            </a:xfrm>
            <a:custGeom>
              <a:avLst/>
              <a:gdLst/>
              <a:ahLst/>
              <a:cxnLst/>
              <a:rect l="l" t="t" r="r" b="b"/>
              <a:pathLst>
                <a:path w="9525" h="5143500">
                  <a:moveTo>
                    <a:pt x="0" y="0"/>
                  </a:moveTo>
                  <a:lnTo>
                    <a:pt x="0" y="5143500"/>
                  </a:lnTo>
                </a:path>
              </a:pathLst>
            </a:custGeom>
            <a:noFill/>
            <a:ln w="9525">
              <a:solidFill>
                <a:srgbClr val="E0E6ED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7048500" y="1238250"/>
              <a:ext cx="9525" cy="5143500"/>
            </a:xfrm>
            <a:custGeom>
              <a:avLst/>
              <a:gdLst/>
              <a:ahLst/>
              <a:cxnLst/>
              <a:rect l="l" t="t" r="r" b="b"/>
              <a:pathLst>
                <a:path w="9525" h="5143500">
                  <a:moveTo>
                    <a:pt x="0" y="0"/>
                  </a:moveTo>
                  <a:lnTo>
                    <a:pt x="0" y="5143500"/>
                  </a:lnTo>
                </a:path>
              </a:pathLst>
            </a:custGeom>
            <a:noFill/>
            <a:ln w="9525">
              <a:solidFill>
                <a:srgbClr val="E0E6ED"/>
              </a:solidFill>
            </a:ln>
          </p:spPr>
        </p:sp>
      </p:grpSp>
      <p:sp>
        <p:nvSpPr>
          <p:cNvPr id="49" name="TextBox 49"/>
          <p:cNvSpPr txBox="1"/>
          <p:nvPr/>
        </p:nvSpPr>
        <p:spPr>
          <a:xfrm>
            <a:off x="10979610" y="6554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14 / 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096500" y="-381000"/>
            <a:ext cx="2286000" cy="2286000"/>
          </a:xfrm>
          <a:prstGeom prst="ellipse">
            <a:avLst/>
          </a:prstGeom>
          <a:solidFill>
            <a:srgbClr val="4FC3F7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90500" y="5429250"/>
            <a:ext cx="1524000" cy="1524000"/>
          </a:xfrm>
          <a:prstGeom prst="ellipse">
            <a:avLst/>
          </a:prstGeom>
          <a:solidFill>
            <a:srgbClr val="1A73E8">
              <a:alpha val="3000"/>
            </a:srgbClr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133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0E7FF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727710" y="661035"/>
            <a:ext cx="6468427" cy="1301115"/>
            <a:chOff x="727710" y="661035"/>
            <a:chExt cx="6468427" cy="1301115"/>
          </a:xfrm>
        </p:grpSpPr>
        <p:sp>
          <p:nvSpPr>
            <p:cNvPr id="6" name="TextBox 6"/>
            <p:cNvSpPr txBox="1"/>
            <p:nvPr/>
          </p:nvSpPr>
          <p:spPr>
            <a:xfrm>
              <a:off x="727710" y="661035"/>
              <a:ext cx="437471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05 应用场景与选型指南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119062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38100">
              <a:solidFill>
                <a:srgbClr val="4FC3F7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995862" y="1535430"/>
              <a:ext cx="220027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什么场景选谁？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2095500"/>
            <a:ext cx="4953000" cy="4381500"/>
            <a:chOff x="762000" y="2095500"/>
            <a:chExt cx="4953000" cy="4381500"/>
          </a:xfrm>
        </p:grpSpPr>
        <p:sp>
          <p:nvSpPr>
            <p:cNvPr id="10" name="Rectangle 10"/>
            <p:cNvSpPr/>
            <p:nvPr/>
          </p:nvSpPr>
          <p:spPr>
            <a:xfrm>
              <a:off x="762000" y="2095500"/>
              <a:ext cx="4953000" cy="438150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9525">
              <a:solidFill>
                <a:srgbClr val="E0E7F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2095500"/>
              <a:ext cx="4953000" cy="571500"/>
            </a:xfrm>
            <a:prstGeom prst="roundRect">
              <a:avLst>
                <a:gd name="adj" fmla="val 26667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4890" y="2263140"/>
              <a:ext cx="3399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场景一：高并发 / 实时计算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2510" y="28232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适用场景：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3462" y="3117056"/>
              <a:ext cx="1975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海量日志实时采集与分析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3462" y="3402806"/>
              <a:ext cx="18112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金融交易高频撮合系统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3688556"/>
              <a:ext cx="18770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IoT设备毫秒级指令下发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2510" y="415671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核心指标评估：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47750" y="4476750"/>
              <a:ext cx="4381500" cy="952500"/>
            </a:xfrm>
            <a:prstGeom prst="roundRect">
              <a:avLst>
                <a:gd name="adj" fmla="val 8000"/>
              </a:avLst>
            </a:prstGeom>
            <a:solidFill>
              <a:srgbClr val="F5F8FE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1047750" y="44767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E0E7FF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47750" y="47625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E0E7FF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47750" y="50482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E0E7FF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047750" y="53340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E0E7FF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857500" y="447675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E0E7F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24915" y="4601528"/>
              <a:ext cx="9544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吞吐量 (TPS)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4915" y="4887278"/>
              <a:ext cx="747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延迟 (ms)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24915" y="517302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扩展性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34665" y="460152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34665" y="488727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34665" y="517302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★★★★☆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477000" y="2095500"/>
            <a:ext cx="4953000" cy="4381500"/>
            <a:chOff x="6477000" y="2095500"/>
            <a:chExt cx="4953000" cy="4381500"/>
          </a:xfrm>
        </p:grpSpPr>
        <p:sp>
          <p:nvSpPr>
            <p:cNvPr id="31" name="Rectangle 31"/>
            <p:cNvSpPr/>
            <p:nvPr/>
          </p:nvSpPr>
          <p:spPr>
            <a:xfrm>
              <a:off x="6477000" y="2095500"/>
              <a:ext cx="4953000" cy="438150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9525">
              <a:solidFill>
                <a:srgbClr val="E0E7F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7000" y="2095500"/>
              <a:ext cx="4953000" cy="571500"/>
            </a:xfrm>
            <a:prstGeom prst="roundRect">
              <a:avLst>
                <a:gd name="adj" fmla="val 26667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39890" y="2263140"/>
              <a:ext cx="367557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场景二：复杂业务 / 数据分析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47510" y="28232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适用场景：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48462" y="311705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电商订单全链路追踪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48462" y="340280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用户画像与精准营销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8462" y="368855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跨域数据仓库与报表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7510" y="415671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核心指标评估：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62750" y="4476750"/>
              <a:ext cx="4381500" cy="952500"/>
            </a:xfrm>
            <a:prstGeom prst="roundRect">
              <a:avLst>
                <a:gd name="adj" fmla="val 8000"/>
              </a:avLst>
            </a:prstGeom>
            <a:solidFill>
              <a:srgbClr val="F5F8FE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6762750" y="44767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E0E7FF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6762750" y="47625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E0E7FF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6762750" y="50482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E0E7FF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6762750" y="53340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E0E7FF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8572500" y="447675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E0E7F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39915" y="4601528"/>
              <a:ext cx="9544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吞吐量 (TPS)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39915" y="4887278"/>
              <a:ext cx="747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延迟 (ms)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39915" y="517302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扩展性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49665" y="460152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★★★☆☆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49665" y="488727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49665" y="517302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" y="6458902"/>
            <a:ext cx="10681335" cy="213360"/>
            <a:chOff x="762000" y="6458902"/>
            <a:chExt cx="10681335" cy="213360"/>
          </a:xfrm>
        </p:grpSpPr>
        <p:sp>
          <p:nvSpPr>
            <p:cNvPr id="52" name="TextBox 52"/>
            <p:cNvSpPr txBox="1"/>
            <p:nvPr/>
          </p:nvSpPr>
          <p:spPr>
            <a:xfrm>
              <a:off x="10979610" y="6458902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15 / 21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0E7FF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429000" cy="3429000"/>
          </a:xfrm>
          <a:prstGeom prst="ellipse">
            <a:avLst/>
          </a:prstGeom>
          <a:solidFill>
            <a:srgbClr val="E8F0FE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4953000"/>
            <a:ext cx="2286000" cy="2286000"/>
          </a:xfrm>
          <a:prstGeom prst="ellipse">
            <a:avLst/>
          </a:prstGeom>
          <a:solidFill>
            <a:srgbClr val="E8F0FE">
              <a:alpha val="5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0287000" y="4953000"/>
            <a:ext cx="1905000" cy="952500"/>
          </a:xfrm>
          <a:custGeom>
            <a:avLst/>
            <a:gdLst/>
            <a:ahLst/>
            <a:cxnLst/>
            <a:rect l="l" t="t" r="r" b="b"/>
            <a:pathLst>
              <a:path w="1905000" h="952500">
                <a:moveTo>
                  <a:pt x="0" y="952500"/>
                </a:moveTo>
                <a:lnTo>
                  <a:pt x="952500" y="0"/>
                </a:lnTo>
                <a:lnTo>
                  <a:pt x="1905000" y="952500"/>
                </a:lnTo>
                <a:close/>
              </a:path>
            </a:pathLst>
          </a:custGeom>
          <a:solidFill>
            <a:srgbClr val="4FC3F7">
              <a:alpha val="8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190500" y="952500"/>
            <a:ext cx="952500" cy="1905000"/>
          </a:xfrm>
          <a:custGeom>
            <a:avLst/>
            <a:gdLst/>
            <a:ahLst/>
            <a:cxnLst/>
            <a:rect l="l" t="t" r="r" b="b"/>
            <a:pathLst>
              <a:path w="952500" h="1905000">
                <a:moveTo>
                  <a:pt x="0" y="0"/>
                </a:moveTo>
                <a:lnTo>
                  <a:pt x="952500" y="952500"/>
                </a:lnTo>
                <a:lnTo>
                  <a:pt x="0" y="1905000"/>
                </a:lnTo>
                <a:close/>
              </a:path>
            </a:pathLst>
          </a:custGeom>
          <a:solidFill>
            <a:srgbClr val="1A73E8">
              <a:alpha val="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7710" y="32766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场景推荐矩阵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857250"/>
            <a:ext cx="1333500" cy="47625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762000" y="1143000"/>
            <a:ext cx="5334000" cy="2638425"/>
            <a:chOff x="762000" y="1143000"/>
            <a:chExt cx="5334000" cy="2638425"/>
          </a:xfrm>
        </p:grpSpPr>
        <p:sp>
          <p:nvSpPr>
            <p:cNvPr id="9" name="Rectangle 9"/>
            <p:cNvSpPr/>
            <p:nvPr/>
          </p:nvSpPr>
          <p:spPr>
            <a:xfrm>
              <a:off x="762000" y="1143000"/>
              <a:ext cx="533400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E0E7E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143000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71550" y="2019300"/>
              <a:ext cx="533400" cy="533400"/>
            </a:xfrm>
            <a:prstGeom prst="ellipse">
              <a:avLst/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143000" y="2219325"/>
              <a:ext cx="190500" cy="133350"/>
            </a:xfrm>
            <a:custGeom>
              <a:avLst/>
              <a:gdLst/>
              <a:ahLst/>
              <a:cxnLst/>
              <a:rect l="l" t="t" r="r" b="b"/>
              <a:pathLst>
                <a:path w="190500" h="133350">
                  <a:moveTo>
                    <a:pt x="0" y="66675"/>
                  </a:moveTo>
                  <a:lnTo>
                    <a:pt x="66675" y="133350"/>
                  </a:lnTo>
                  <a:lnTo>
                    <a:pt x="190500" y="0"/>
                  </a:lnTo>
                </a:path>
              </a:pathLst>
            </a:custGeom>
            <a:noFill/>
            <a:ln w="28575" cap="rnd">
              <a:solidFill>
                <a:srgbClr val="1A73E8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45920" y="206025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B44"/>
                  </a:solidFill>
                  <a:latin typeface="Arial"/>
                  <a:ea typeface="Microsoft YaHei"/>
                  <a:cs typeface="Arial"/>
                </a:rPr>
                <a:t>知识图谱优先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51635" y="2537460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金融风控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51635" y="28708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医疗诊断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51635" y="3204210"/>
              <a:ext cx="705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反欺诈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51635" y="353758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法规合规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77000" y="1143000"/>
            <a:ext cx="5334000" cy="2476500"/>
            <a:chOff x="6477000" y="1143000"/>
            <a:chExt cx="5334000" cy="2476500"/>
          </a:xfrm>
        </p:grpSpPr>
        <p:sp>
          <p:nvSpPr>
            <p:cNvPr id="19" name="Rectangle 19"/>
            <p:cNvSpPr/>
            <p:nvPr/>
          </p:nvSpPr>
          <p:spPr>
            <a:xfrm>
              <a:off x="6477000" y="1143000"/>
              <a:ext cx="533400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E0E7E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77000" y="1143000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686550" y="2019300"/>
              <a:ext cx="533400" cy="533400"/>
            </a:xfrm>
            <a:prstGeom prst="ellipse">
              <a:avLst/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858000" y="2219325"/>
              <a:ext cx="190500" cy="133350"/>
            </a:xfrm>
            <a:custGeom>
              <a:avLst/>
              <a:gdLst/>
              <a:ahLst/>
              <a:cxnLst/>
              <a:rect l="l" t="t" r="r" b="b"/>
              <a:pathLst>
                <a:path w="190500" h="133350">
                  <a:moveTo>
                    <a:pt x="0" y="66675"/>
                  </a:moveTo>
                  <a:lnTo>
                    <a:pt x="66675" y="133350"/>
                  </a:lnTo>
                  <a:lnTo>
                    <a:pt x="190500" y="0"/>
                  </a:lnTo>
                </a:path>
              </a:pathLst>
            </a:custGeom>
            <a:noFill/>
            <a:ln w="28575" cap="rnd">
              <a:solidFill>
                <a:srgbClr val="4FC3F7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60920" y="2060258"/>
              <a:ext cx="10413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B44"/>
                  </a:solidFill>
                  <a:latin typeface="Arial"/>
                  <a:ea typeface="Microsoft YaHei"/>
                  <a:cs typeface="Arial"/>
                </a:rPr>
                <a:t>RAG 优先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6635" y="2537460"/>
              <a:ext cx="14062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企业知识库问答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6635" y="28708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客服系统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6635" y="3204210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文档摘要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4000500"/>
            <a:ext cx="5334000" cy="2476500"/>
            <a:chOff x="762000" y="4000500"/>
            <a:chExt cx="5334000" cy="2476500"/>
          </a:xfrm>
        </p:grpSpPr>
        <p:sp>
          <p:nvSpPr>
            <p:cNvPr id="28" name="Rectangle 28"/>
            <p:cNvSpPr/>
            <p:nvPr/>
          </p:nvSpPr>
          <p:spPr>
            <a:xfrm>
              <a:off x="762000" y="4000500"/>
              <a:ext cx="533400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E0E7E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2000" y="4000500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71550" y="4876800"/>
              <a:ext cx="533400" cy="533400"/>
            </a:xfrm>
            <a:prstGeom prst="ellipse">
              <a:avLst/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143000" y="5076825"/>
              <a:ext cx="190500" cy="133350"/>
            </a:xfrm>
            <a:custGeom>
              <a:avLst/>
              <a:gdLst/>
              <a:ahLst/>
              <a:cxnLst/>
              <a:rect l="l" t="t" r="r" b="b"/>
              <a:pathLst>
                <a:path w="190500" h="133350">
                  <a:moveTo>
                    <a:pt x="0" y="66675"/>
                  </a:moveTo>
                  <a:lnTo>
                    <a:pt x="66675" y="133350"/>
                  </a:lnTo>
                  <a:lnTo>
                    <a:pt x="190500" y="0"/>
                  </a:lnTo>
                </a:path>
              </a:pathLst>
            </a:custGeom>
            <a:noFill/>
            <a:ln w="28575" cap="rnd">
              <a:solidFill>
                <a:srgbClr val="1A73E8"/>
              </a:solidFill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645920" y="49177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B44"/>
                  </a:solidFill>
                  <a:latin typeface="Arial"/>
                  <a:ea typeface="Microsoft YaHei"/>
                  <a:cs typeface="Arial"/>
                </a:rPr>
                <a:t>两者结合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51635" y="539496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智能问答 + 复杂推理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51635" y="5728335"/>
              <a:ext cx="18268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典型架构：GraphRAG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77000" y="4000500"/>
            <a:ext cx="5334000" cy="2476500"/>
            <a:chOff x="6477000" y="4000500"/>
            <a:chExt cx="5334000" cy="2476500"/>
          </a:xfrm>
        </p:grpSpPr>
        <p:sp>
          <p:nvSpPr>
            <p:cNvPr id="36" name="Rectangle 36"/>
            <p:cNvSpPr/>
            <p:nvPr/>
          </p:nvSpPr>
          <p:spPr>
            <a:xfrm>
              <a:off x="6477000" y="4000500"/>
              <a:ext cx="533400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E0E7EF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7000" y="4000500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686550" y="4876800"/>
              <a:ext cx="533400" cy="533400"/>
            </a:xfrm>
            <a:prstGeom prst="ellipse">
              <a:avLst/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858000" y="5076825"/>
              <a:ext cx="190500" cy="133350"/>
            </a:xfrm>
            <a:custGeom>
              <a:avLst/>
              <a:gdLst/>
              <a:ahLst/>
              <a:cxnLst/>
              <a:rect l="l" t="t" r="r" b="b"/>
              <a:pathLst>
                <a:path w="190500" h="133350">
                  <a:moveTo>
                    <a:pt x="0" y="66675"/>
                  </a:moveTo>
                  <a:lnTo>
                    <a:pt x="66675" y="133350"/>
                  </a:lnTo>
                  <a:lnTo>
                    <a:pt x="190500" y="0"/>
                  </a:lnTo>
                </a:path>
              </a:pathLst>
            </a:custGeom>
            <a:noFill/>
            <a:ln w="28575" cap="rnd">
              <a:solidFill>
                <a:srgbClr val="4FC3F7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60920" y="491775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B44"/>
                  </a:solidFill>
                  <a:latin typeface="Arial"/>
                  <a:ea typeface="Microsoft YaHei"/>
                  <a:cs typeface="Arial"/>
                </a:rPr>
                <a:t>选型三要素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6635" y="5394960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数据质量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66635" y="57283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推理深度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66635" y="6061710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更新频率</a:t>
              </a:r>
            </a:p>
          </p:txBody>
        </p:sp>
      </p:grpSp>
      <p:sp>
        <p:nvSpPr>
          <p:cNvPr id="45" name="Line 45"/>
          <p:cNvSpPr/>
          <p:nvPr/>
        </p:nvSpPr>
        <p:spPr>
          <a:xfrm>
            <a:off x="762000" y="6572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E7EF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0789110" y="645890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C9BB5"/>
                </a:solidFill>
                <a:latin typeface="Arial"/>
                <a:ea typeface="Microsoft YaHei"/>
                <a:cs typeface="Arial"/>
              </a:rPr>
              <a:t>16 / 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35" grpId="0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952500" y="571500"/>
            <a:ext cx="10382250" cy="4572000"/>
            <a:chOff x="952500" y="571500"/>
            <a:chExt cx="10382250" cy="4572000"/>
          </a:xfrm>
        </p:grpSpPr>
        <p:sp>
          <p:nvSpPr>
            <p:cNvPr id="3" name="Ellipse 3"/>
            <p:cNvSpPr/>
            <p:nvPr/>
          </p:nvSpPr>
          <p:spPr>
            <a:xfrm>
              <a:off x="6762750" y="571500"/>
              <a:ext cx="4572000" cy="4572000"/>
            </a:xfrm>
            <a:prstGeom prst="ellipse">
              <a:avLst/>
            </a:prstGeom>
            <a:noFill/>
            <a:ln w="9525">
              <a:solidFill>
                <a:srgbClr val="1A73E8">
                  <a:alpha val="15000"/>
                </a:srgbClr>
              </a:solidFill>
              <a:custDash>
                <a:ds d="1000000" sp="1000000"/>
              </a:custDash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0" y="1238250"/>
              <a:ext cx="3238500" cy="3238500"/>
            </a:xfrm>
            <a:prstGeom prst="ellipse">
              <a:avLst/>
            </a:prstGeom>
            <a:noFill/>
            <a:ln w="9525">
              <a:solidFill>
                <a:srgbClr val="4FC3F7">
                  <a:alpha val="25000"/>
                </a:srgbClr>
              </a:solidFill>
              <a:custDash>
                <a:ds d="600000" sp="600000"/>
              </a:custDash>
            </a:ln>
          </p:spPr>
        </p:sp>
        <p:sp>
          <p:nvSpPr>
            <p:cNvPr id="5" name="Ellipse 5"/>
            <p:cNvSpPr/>
            <p:nvPr/>
          </p:nvSpPr>
          <p:spPr>
            <a:xfrm>
              <a:off x="8096250" y="1905000"/>
              <a:ext cx="1905000" cy="1905000"/>
            </a:xfrm>
            <a:prstGeom prst="ellipse">
              <a:avLst/>
            </a:prstGeom>
            <a:solidFill>
              <a:srgbClr val="1A73E8">
                <a:alpha val="4000"/>
              </a:srgb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7429500" y="1714500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0" y="38100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4FC3F7">
                  <a:alpha val="4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334500" y="1714500"/>
              <a:ext cx="952500" cy="1333500"/>
            </a:xfrm>
            <a:custGeom>
              <a:avLst/>
              <a:gdLst/>
              <a:ahLst/>
              <a:cxnLst/>
              <a:rect l="l" t="t" r="r" b="b"/>
              <a:pathLst>
                <a:path w="952500" h="1333500">
                  <a:moveTo>
                    <a:pt x="0" y="0"/>
                  </a:moveTo>
                  <a:lnTo>
                    <a:pt x="952500" y="1333500"/>
                  </a:lnTo>
                </a:path>
              </a:pathLst>
            </a:custGeom>
            <a:noFill/>
            <a:ln w="19050">
              <a:solidFill>
                <a:srgbClr val="4FC3F7">
                  <a:alpha val="4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763000" y="3048000"/>
              <a:ext cx="1524000" cy="571500"/>
            </a:xfrm>
            <a:custGeom>
              <a:avLst/>
              <a:gdLst/>
              <a:ahLst/>
              <a:cxnLst/>
              <a:rect l="l" t="t" r="r" b="b"/>
              <a:pathLst>
                <a:path w="1524000" h="571500">
                  <a:moveTo>
                    <a:pt x="152400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4FC3F7">
                  <a:alpha val="4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429500" y="2095500"/>
              <a:ext cx="1333500" cy="1524000"/>
            </a:xfrm>
            <a:custGeom>
              <a:avLst/>
              <a:gdLst/>
              <a:ahLst/>
              <a:cxnLst/>
              <a:rect l="l" t="t" r="r" b="b"/>
              <a:pathLst>
                <a:path w="1333500" h="1524000">
                  <a:moveTo>
                    <a:pt x="1333500" y="1524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4FC3F7">
                  <a:alpha val="4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429500" y="2095500"/>
              <a:ext cx="1333500" cy="1524000"/>
            </a:xfrm>
            <a:custGeom>
              <a:avLst/>
              <a:gdLst/>
              <a:ahLst/>
              <a:cxnLst/>
              <a:rect l="l" t="t" r="r" b="b"/>
              <a:pathLst>
                <a:path w="1333500" h="1524000">
                  <a:moveTo>
                    <a:pt x="0" y="0"/>
                  </a:moveTo>
                  <a:lnTo>
                    <a:pt x="1333500" y="1524000"/>
                  </a:lnTo>
                </a:path>
              </a:pathLst>
            </a:custGeom>
            <a:noFill/>
            <a:ln w="19050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334500" y="1714500"/>
              <a:ext cx="952500" cy="1333500"/>
            </a:xfrm>
            <a:custGeom>
              <a:avLst/>
              <a:gdLst/>
              <a:ahLst/>
              <a:cxnLst/>
              <a:rect l="l" t="t" r="r" b="b"/>
              <a:pathLst>
                <a:path w="952500" h="1333500">
                  <a:moveTo>
                    <a:pt x="0" y="0"/>
                  </a:moveTo>
                  <a:lnTo>
                    <a:pt x="952500" y="1333500"/>
                  </a:lnTo>
                </a:path>
              </a:pathLst>
            </a:custGeom>
            <a:noFill/>
            <a:ln w="19050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362825" y="2028825"/>
              <a:ext cx="133350" cy="133350"/>
            </a:xfrm>
            <a:prstGeom prst="ellipse">
              <a:avLst/>
            </a:prstGeom>
            <a:solidFill>
              <a:srgbClr val="1A73E8">
                <a:alpha val="80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229725" y="1609725"/>
              <a:ext cx="209550" cy="209550"/>
            </a:xfrm>
            <a:prstGeom prst="ellipse">
              <a:avLst/>
            </a:prstGeom>
            <a:solidFill>
              <a:srgbClr val="4FC3F7">
                <a:alpha val="90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229850" y="2990850"/>
              <a:ext cx="114300" cy="114300"/>
            </a:xfrm>
            <a:prstGeom prst="ellipse">
              <a:avLst/>
            </a:prstGeom>
            <a:solidFill>
              <a:srgbClr val="1A73E8">
                <a:alpha val="7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677275" y="3533775"/>
              <a:ext cx="171450" cy="171450"/>
            </a:xfrm>
            <a:prstGeom prst="ellipse">
              <a:avLst/>
            </a:prstGeom>
            <a:solidFill>
              <a:srgbClr val="4FC3F7">
                <a:alpha val="80000"/>
              </a:srgbClr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1143000" y="571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28575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52500" y="7620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rgbClr val="1A73E8">
                  <a:alpha val="20000"/>
                </a:srgbClr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000125" y="1357312"/>
            <a:ext cx="7559364" cy="3433763"/>
            <a:chOff x="1000125" y="1357312"/>
            <a:chExt cx="7559364" cy="3433763"/>
          </a:xfrm>
        </p:grpSpPr>
        <p:sp>
          <p:nvSpPr>
            <p:cNvPr id="19" name="TextBox 19"/>
            <p:cNvSpPr txBox="1"/>
            <p:nvPr/>
          </p:nvSpPr>
          <p:spPr>
            <a:xfrm>
              <a:off x="1000125" y="1357312"/>
              <a:ext cx="2183487" cy="2286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b="1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78230" y="2973705"/>
              <a:ext cx="7481259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GraphRAG：融合之道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143000" y="39052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38100">
              <a:solidFill>
                <a:srgbClr val="1A73E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01090" y="4120515"/>
              <a:ext cx="401183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1+1 &gt; 2 的进化方向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467403" y="6282690"/>
            <a:ext cx="794956" cy="365760"/>
            <a:chOff x="10467403" y="6282690"/>
            <a:chExt cx="794956" cy="365760"/>
          </a:xfrm>
        </p:grpSpPr>
        <p:sp>
          <p:nvSpPr>
            <p:cNvPr id="24" name="TextBox 24"/>
            <p:cNvSpPr txBox="1"/>
            <p:nvPr/>
          </p:nvSpPr>
          <p:spPr>
            <a:xfrm>
              <a:off x="10467403" y="6282690"/>
              <a:ext cx="7949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7710" y="518160"/>
            <a:ext cx="10717530" cy="548640"/>
            <a:chOff x="727710" y="518160"/>
            <a:chExt cx="10717530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727710" y="518160"/>
              <a:ext cx="51821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73E8"/>
                  </a:solidFill>
                  <a:latin typeface="Segoe UI"/>
                  <a:ea typeface="Microsoft YaHei"/>
                  <a:cs typeface="Segoe UI"/>
                </a:rPr>
                <a:t>GraphRAG — 知识图谱 + RAG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762000" y="100012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 cap="rnd">
              <a:solidFill>
                <a:srgbClr val="1A73E8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915269" y="680085"/>
              <a:ext cx="5299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18 / 21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333500"/>
            <a:ext cx="5334000" cy="4953000"/>
            <a:chOff x="571500" y="1333500"/>
            <a:chExt cx="5334000" cy="495300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5334000" cy="49530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685800" y="1638300"/>
              <a:ext cx="3208020" cy="619125"/>
              <a:chOff x="685800" y="1638300"/>
              <a:chExt cx="3208020" cy="619125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685800" y="1638300"/>
                <a:ext cx="533400" cy="5334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57250" y="1809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lnTo>
                      <a:pt x="190500" y="95250"/>
                    </a:lnTo>
                    <a:moveTo>
                      <a:pt x="95250" y="0"/>
                    </a:moveTo>
                    <a:lnTo>
                      <a:pt x="95250" y="190500"/>
                    </a:lnTo>
                    <a:moveTo>
                      <a:pt x="47625" y="47625"/>
                    </a:moveTo>
                    <a:lnTo>
                      <a:pt x="142875" y="142875"/>
                    </a:lnTo>
                    <a:moveTo>
                      <a:pt x="47625" y="142875"/>
                    </a:moveTo>
                    <a:lnTo>
                      <a:pt x="142875" y="47625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1A73E8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360170" y="1679258"/>
                <a:ext cx="173722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微软 GraphRAG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65885" y="2013585"/>
                <a:ext cx="25279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自动构建知识图谱进行 RAG 增强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85800" y="2781300"/>
              <a:ext cx="2813685" cy="619125"/>
              <a:chOff x="685800" y="2781300"/>
              <a:chExt cx="2813685" cy="619125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685800" y="2781300"/>
                <a:ext cx="533400" cy="5334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76300" y="29718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lnTo>
                      <a:pt x="152400" y="76200"/>
                    </a:lnTo>
                    <a:moveTo>
                      <a:pt x="76200" y="0"/>
                    </a:moveTo>
                    <a:lnTo>
                      <a:pt x="76200" y="15240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4FC3F7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360170" y="2822258"/>
                <a:ext cx="109199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LightRAG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365885" y="3156585"/>
                <a:ext cx="2133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轻量级图结构实现高效检索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85800" y="3924300"/>
              <a:ext cx="3435858" cy="619125"/>
              <a:chOff x="685800" y="3924300"/>
              <a:chExt cx="3435858" cy="61912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685800" y="3924300"/>
                <a:ext cx="533400" cy="5334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57250" y="4127500"/>
                <a:ext cx="190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27000">
                    <a:moveTo>
                      <a:pt x="0" y="63500"/>
                    </a:moveTo>
                    <a:cubicBezTo>
                      <a:pt x="63500" y="0"/>
                      <a:pt x="127000" y="0"/>
                      <a:pt x="190500" y="63500"/>
                    </a:cubicBezTo>
                    <a:cubicBezTo>
                      <a:pt x="127000" y="127000"/>
                      <a:pt x="63500" y="127000"/>
                      <a:pt x="0" y="63500"/>
                    </a:cubicBezTo>
                    <a:close/>
                  </a:path>
                </a:pathLst>
              </a:custGeom>
              <a:noFill/>
              <a:ln w="19050">
                <a:solidFill>
                  <a:srgbClr val="1A73E8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360170" y="3965258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核心优势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365885" y="4299585"/>
                <a:ext cx="27557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社区检测 + 多 hop 推理 + 全局理解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6286500" y="1333500"/>
            <a:ext cx="5334000" cy="4953000"/>
            <a:chOff x="6286500" y="1333500"/>
            <a:chExt cx="5334000" cy="4953000"/>
          </a:xfrm>
        </p:grpSpPr>
        <p:sp>
          <p:nvSpPr>
            <p:cNvPr id="24" name="Rectangle 24"/>
            <p:cNvSpPr/>
            <p:nvPr/>
          </p:nvSpPr>
          <p:spPr>
            <a:xfrm>
              <a:off x="6286500" y="1333500"/>
              <a:ext cx="5334000" cy="49530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400800" y="1828800"/>
              <a:ext cx="4329684" cy="619125"/>
              <a:chOff x="6400800" y="1828800"/>
              <a:chExt cx="4329684" cy="619125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6400800" y="1828800"/>
                <a:ext cx="533400" cy="5334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72250" y="20478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47625"/>
                    </a:moveTo>
                    <a:lnTo>
                      <a:pt x="190500" y="47625"/>
                    </a:lnTo>
                    <a:moveTo>
                      <a:pt x="47625" y="0"/>
                    </a:moveTo>
                    <a:lnTo>
                      <a:pt x="142875" y="95250"/>
                    </a:lnTo>
                    <a:moveTo>
                      <a:pt x="47625" y="95250"/>
                    </a:moveTo>
                    <a:lnTo>
                      <a:pt x="142875" y="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1A73E8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075170" y="1869758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痛点解决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080885" y="2204085"/>
                <a:ext cx="364959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解决 RAG 缺乏关系理解、KG 缺乏灵活性的问题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400800" y="2971800"/>
              <a:ext cx="3120390" cy="619125"/>
              <a:chOff x="6400800" y="2971800"/>
              <a:chExt cx="3120390" cy="619125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6400800" y="2971800"/>
                <a:ext cx="533400" cy="5334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72250" y="31432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lnTo>
                      <a:pt x="190500" y="95250"/>
                    </a:lnTo>
                    <a:moveTo>
                      <a:pt x="95250" y="0"/>
                    </a:moveTo>
                    <a:lnTo>
                      <a:pt x="95250" y="19050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4FC3F7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075170" y="3012758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未来趋势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080885" y="3347085"/>
                <a:ext cx="24403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Agent + Graph + RAG 三位一体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6667500" y="4000500"/>
              <a:ext cx="4572000" cy="1847850"/>
              <a:chOff x="6667500" y="4000500"/>
              <a:chExt cx="4572000" cy="18478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667500" y="4000500"/>
                <a:ext cx="4572000" cy="1714500"/>
              </a:xfrm>
              <a:prstGeom prst="roundRect">
                <a:avLst>
                  <a:gd name="adj" fmla="val 6667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936105" y="4188142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Segoe UI"/>
                    <a:ea typeface="Microsoft YaHei"/>
                    <a:cs typeface="Segoe UI"/>
                  </a:rPr>
                  <a:t>能力维度对比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938962" y="4593431"/>
                <a:ext cx="10144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关系推理深度</a:t>
                </a:r>
              </a:p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9277350" y="4610100"/>
                <a:ext cx="114300" cy="1143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9515475" y="4610100"/>
                <a:ext cx="114300" cy="1143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9753600" y="4610100"/>
                <a:ext cx="114300" cy="1143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9991725" y="4610100"/>
                <a:ext cx="114300" cy="1143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10229850" y="4610100"/>
                <a:ext cx="114300" cy="114300"/>
              </a:xfrm>
              <a:prstGeom prst="ellipse">
                <a:avLst/>
              </a:pr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938962" y="4974431"/>
                <a:ext cx="11787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全局上下文理解</a:t>
                </a:r>
              </a:p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277350" y="4991100"/>
                <a:ext cx="114300" cy="1143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9515475" y="4991100"/>
                <a:ext cx="114300" cy="1143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9753600" y="4991100"/>
                <a:ext cx="114300" cy="1143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9991725" y="4991100"/>
                <a:ext cx="114300" cy="1143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10229850" y="4991100"/>
                <a:ext cx="114300" cy="1143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938962" y="5355431"/>
                <a:ext cx="10144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检索响应延迟</a:t>
                </a:r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9277350" y="5372100"/>
                <a:ext cx="114300" cy="114300"/>
              </a:xfrm>
              <a:prstGeom prst="ellipse">
                <a:avLst/>
              </a:prstGeom>
              <a:solidFill>
                <a:srgbClr val="4FC3F7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515475" y="5372100"/>
                <a:ext cx="114300" cy="114300"/>
              </a:xfrm>
              <a:prstGeom prst="ellipse">
                <a:avLst/>
              </a:prstGeom>
              <a:solidFill>
                <a:srgbClr val="4FC3F7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9753600" y="5372100"/>
                <a:ext cx="114300" cy="114300"/>
              </a:xfrm>
              <a:prstGeom prst="ellipse">
                <a:avLst/>
              </a:prstGeom>
              <a:solidFill>
                <a:srgbClr val="4FC3F7"/>
              </a:solidFill>
              <a:ln>
                <a:noFill/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9991725" y="5372100"/>
                <a:ext cx="114300" cy="114300"/>
              </a:xfrm>
              <a:prstGeom prst="ellipse">
                <a:avLst/>
              </a:pr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10229850" y="5372100"/>
                <a:ext cx="114300" cy="114300"/>
              </a:xfrm>
              <a:prstGeom prst="ellipse">
                <a:avLst/>
              </a:pr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142333" y="5665470"/>
                <a:ext cx="38433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★★★★☆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618583" y="5665470"/>
                <a:ext cx="38433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★★★★★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0094833" y="5665470"/>
                <a:ext cx="38433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★★★☆☆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60" name="Rectangle 60"/>
            <p:cNvSpPr/>
            <p:nvPr/>
          </p:nvSpPr>
          <p:spPr>
            <a:xfrm>
              <a:off x="0" y="6477000"/>
              <a:ext cx="12192000" cy="381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664154" y="6601778"/>
              <a:ext cx="28636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© 2024 AI Architecture Series | Slide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5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8FE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1143000"/>
              <a:ext cx="12192000" cy="4572000"/>
            </a:xfrm>
            <a:custGeom>
              <a:avLst/>
              <a:gdLst/>
              <a:ahLst/>
              <a:cxnLst/>
              <a:rect l="l" t="t" r="r" b="b"/>
              <a:pathLst>
                <a:path w="12192000" h="4572000">
                  <a:moveTo>
                    <a:pt x="0" y="0"/>
                  </a:moveTo>
                  <a:lnTo>
                    <a:pt x="12192000" y="0"/>
                  </a:lnTo>
                  <a:moveTo>
                    <a:pt x="0" y="1143000"/>
                  </a:moveTo>
                  <a:lnTo>
                    <a:pt x="12192000" y="1143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572000"/>
                  </a:moveTo>
                  <a:lnTo>
                    <a:pt x="12192000" y="4572000"/>
                  </a:lnTo>
                </a:path>
              </a:pathLst>
            </a:custGeom>
            <a:noFill/>
            <a:ln w="9525">
              <a:solidFill>
                <a:srgbClr val="E2EAF6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52400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0" y="0"/>
                  </a:moveTo>
                  <a:lnTo>
                    <a:pt x="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9144000" y="0"/>
                  </a:moveTo>
                  <a:lnTo>
                    <a:pt x="9144000" y="6858000"/>
                  </a:lnTo>
                </a:path>
              </a:pathLst>
            </a:custGeom>
            <a:noFill/>
            <a:ln w="9525">
              <a:solidFill>
                <a:srgbClr val="E2EAF6">
                  <a:alpha val="40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143000" y="857250"/>
            <a:ext cx="10858500" cy="5810250"/>
            <a:chOff x="1143000" y="857250"/>
            <a:chExt cx="10858500" cy="5810250"/>
          </a:xfrm>
        </p:grpSpPr>
        <p:sp>
          <p:nvSpPr>
            <p:cNvPr id="6" name="Ellipse 6"/>
            <p:cNvSpPr/>
            <p:nvPr/>
          </p:nvSpPr>
          <p:spPr>
            <a:xfrm>
              <a:off x="9810750" y="857250"/>
              <a:ext cx="1714500" cy="1714500"/>
            </a:xfrm>
            <a:prstGeom prst="ellipse">
              <a:avLst/>
            </a:prstGeom>
            <a:solidFill>
              <a:srgbClr val="4FC3F7">
                <a:alpha val="6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144125" y="1190625"/>
              <a:ext cx="1047750" cy="1047750"/>
            </a:xfrm>
            <a:prstGeom prst="ellipse">
              <a:avLst/>
            </a:prstGeom>
            <a:solidFill>
              <a:srgbClr val="1A73E8">
                <a:alpha val="8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429875" y="1476375"/>
              <a:ext cx="476250" cy="476250"/>
            </a:xfrm>
            <a:prstGeom prst="rect">
              <a:avLst/>
            </a:prstGeom>
            <a:noFill/>
            <a:ln w="19050">
              <a:solidFill>
                <a:srgbClr val="1A73E8">
                  <a:alpha val="1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6286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38100" cap="rnd">
              <a:solidFill>
                <a:srgbClr val="4FC3F7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11811000" y="6286500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0" y="190500"/>
                  </a:moveTo>
                  <a:lnTo>
                    <a:pt x="190500" y="0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1A73E8">
                <a:alpha val="10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09650" y="1343025"/>
            <a:ext cx="3407092" cy="2333625"/>
            <a:chOff x="1009650" y="1343025"/>
            <a:chExt cx="3407092" cy="2333625"/>
          </a:xfrm>
        </p:grpSpPr>
        <p:sp>
          <p:nvSpPr>
            <p:cNvPr id="12" name="TextBox 12"/>
            <p:cNvSpPr txBox="1"/>
            <p:nvPr/>
          </p:nvSpPr>
          <p:spPr>
            <a:xfrm>
              <a:off x="1009650" y="1343025"/>
              <a:ext cx="2037921" cy="2133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9660" y="2785110"/>
              <a:ext cx="3327082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总结与展望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43000" y="3619500"/>
              <a:ext cx="1143000" cy="57150"/>
            </a:xfrm>
            <a:prstGeom prst="rect">
              <a:avLst/>
            </a:prstGeom>
            <a:solidFill>
              <a:srgbClr val="4FC3F7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108710" y="4090035"/>
            <a:ext cx="7496175" cy="2853690"/>
            <a:chOff x="1108710" y="4090035"/>
            <a:chExt cx="7496175" cy="2853690"/>
          </a:xfrm>
        </p:grpSpPr>
        <p:sp>
          <p:nvSpPr>
            <p:cNvPr id="16" name="TextBox 16"/>
            <p:cNvSpPr txBox="1"/>
            <p:nvPr/>
          </p:nvSpPr>
          <p:spPr>
            <a:xfrm>
              <a:off x="1108710" y="4090035"/>
              <a:ext cx="172478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关键结论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43000" y="4667250"/>
              <a:ext cx="762000" cy="38100"/>
            </a:xfrm>
            <a:prstGeom prst="rect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276350" y="5276850"/>
              <a:ext cx="114300" cy="1143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97330" y="5183505"/>
              <a:ext cx="71075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核心指标全面达成预期目标，系统稳定性显著提升。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276350" y="5943600"/>
              <a:ext cx="114300" cy="1143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97330" y="5850255"/>
              <a:ext cx="71075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技术架构完成平滑升级，为后续迭代奠定坚实基础。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276350" y="6610350"/>
              <a:ext cx="114300" cy="1143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97330" y="6517005"/>
              <a:ext cx="71075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跨部门协同效率优化，数据驱动决策机制初步成型。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8FE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1047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E0E8F5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572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E0E8F5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1191875" y="238125"/>
              <a:ext cx="857250" cy="857250"/>
            </a:xfrm>
            <a:prstGeom prst="ellipse">
              <a:avLst/>
            </a:prstGeom>
            <a:solidFill>
              <a:srgbClr val="1A73E8">
                <a:alpha val="4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1382375" y="428625"/>
              <a:ext cx="476250" cy="476250"/>
            </a:xfrm>
            <a:prstGeom prst="ellipse">
              <a:avLst/>
            </a:prstGeom>
            <a:solidFill>
              <a:srgbClr val="4FC3F7">
                <a:alpha val="4000"/>
              </a:srgbClr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571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</a:path>
              </a:pathLst>
            </a:custGeom>
            <a:noFill/>
            <a:ln w="19050">
              <a:solidFill>
                <a:srgbClr val="4FC3F7">
                  <a:alpha val="30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25805" y="501968"/>
            <a:ext cx="10719435" cy="579120"/>
            <a:chOff x="725805" y="501968"/>
            <a:chExt cx="10719435" cy="579120"/>
          </a:xfrm>
        </p:grpSpPr>
        <p:sp>
          <p:nvSpPr>
            <p:cNvPr id="9" name="TextBox 9"/>
            <p:cNvSpPr txBox="1"/>
            <p:nvPr/>
          </p:nvSpPr>
          <p:spPr>
            <a:xfrm>
              <a:off x="725805" y="501968"/>
              <a:ext cx="182060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关键结论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0012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38100" cap="rnd">
              <a:solidFill>
                <a:srgbClr val="4FC3F7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871454" y="680085"/>
              <a:ext cx="5737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20 / 21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10668000" cy="609600"/>
            <a:chOff x="762000" y="1333500"/>
            <a:chExt cx="10668000" cy="609600"/>
          </a:xfrm>
        </p:grpSpPr>
        <p:sp>
          <p:nvSpPr>
            <p:cNvPr id="13" name="Rectangle 13"/>
            <p:cNvSpPr/>
            <p:nvPr/>
          </p:nvSpPr>
          <p:spPr>
            <a:xfrm>
              <a:off x="762000" y="1333500"/>
              <a:ext cx="106680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rgbClr val="1A73E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223084" y="1520190"/>
              <a:ext cx="57458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知识图谱 vs RAG 并非替代关系，而是互补关系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2190750"/>
            <a:ext cx="10668000" cy="2000250"/>
            <a:chOff x="762000" y="2190750"/>
            <a:chExt cx="10668000" cy="2000250"/>
          </a:xfrm>
        </p:grpSpPr>
        <p:sp>
          <p:nvSpPr>
            <p:cNvPr id="16" name="Rectangle 16"/>
            <p:cNvSpPr/>
            <p:nvPr/>
          </p:nvSpPr>
          <p:spPr>
            <a:xfrm>
              <a:off x="762000" y="2190750"/>
              <a:ext cx="47625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D0DCE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33309" y="2346008"/>
              <a:ext cx="34198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知识图谱 (Knowledge Graph)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64938" y="2640806"/>
              <a:ext cx="15566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精准 + 可解释 + 推理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143000" y="2905125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rgbClr val="E8EEF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25855" y="3092768"/>
              <a:ext cx="625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精准性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12644" y="3092768"/>
              <a:ext cx="5765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5855" y="3426142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可解释性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12644" y="3426142"/>
              <a:ext cx="5765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5855" y="37595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逻辑推理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12644" y="3759518"/>
              <a:ext cx="5765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★★★★☆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67500" y="2190750"/>
              <a:ext cx="47625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D0E8F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82827" y="2346008"/>
              <a:ext cx="23318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检索增强生成 (RAG)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70438" y="2640806"/>
              <a:ext cx="15566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灵活 + 实时 + 低门槛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048500" y="2905125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rgbClr val="E8F4F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31355" y="309276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灵活扩展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18144" y="3092768"/>
              <a:ext cx="5765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31355" y="3426142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实时更新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918144" y="3426142"/>
              <a:ext cx="5765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31355" y="3759518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低门槛部署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18144" y="3759518"/>
              <a:ext cx="5765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4476750"/>
            <a:ext cx="10668000" cy="1714500"/>
            <a:chOff x="762000" y="4476750"/>
            <a:chExt cx="10668000" cy="1714500"/>
          </a:xfrm>
        </p:grpSpPr>
        <p:sp>
          <p:nvSpPr>
            <p:cNvPr id="37" name="Rectangle 37"/>
            <p:cNvSpPr/>
            <p:nvPr/>
          </p:nvSpPr>
          <p:spPr>
            <a:xfrm>
              <a:off x="762000" y="4476750"/>
              <a:ext cx="4762500" cy="1714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1A73E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4476750"/>
              <a:ext cx="76200" cy="17145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23950" y="46958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当前最佳实践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2045" y="5060632"/>
              <a:ext cx="22432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GraphRAG 深度融合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7760" y="5442585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结合结构化知识与向量检索优势，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7760" y="5680710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实现高精度与上下文感知的统一。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67500" y="4476750"/>
              <a:ext cx="4762500" cy="1714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4FC3F7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67500" y="4476750"/>
              <a:ext cx="76200" cy="171450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29450" y="46958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未来演进方向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27545" y="5060632"/>
              <a:ext cx="28505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多模态 KG + Agentic RAG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33260" y="5442585"/>
              <a:ext cx="3009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突破文本限制，引入自主智能体规划，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33260" y="568071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构建动态演化的认知引擎。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748665" y="6458902"/>
            <a:ext cx="29327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© 2024 AI Architecture Review | Slide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6" grpId="0"/>
      <p:bldP spid="4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5F8FE"/>
              </a:gs>
            </a:gsLst>
            <a:lin ang="2700000" scaled="1"/>
          </a:gra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895350" y="428625"/>
            <a:ext cx="10401300" cy="5343525"/>
            <a:chOff x="895350" y="428625"/>
            <a:chExt cx="10401300" cy="5343525"/>
          </a:xfrm>
        </p:grpSpPr>
        <p:sp>
          <p:nvSpPr>
            <p:cNvPr id="3" name="Freeform 3"/>
            <p:cNvSpPr/>
            <p:nvPr/>
          </p:nvSpPr>
          <p:spPr>
            <a:xfrm>
              <a:off x="952500" y="9525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0" y="0"/>
                  </a:moveTo>
                  <a:lnTo>
                    <a:pt x="1905000" y="476250"/>
                  </a:lnTo>
                  <a:lnTo>
                    <a:pt x="1428750" y="190500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A73E8">
                  <a:alpha val="1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334500" y="38100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1905000" y="1905000"/>
                  </a:moveTo>
                  <a:lnTo>
                    <a:pt x="0" y="1428750"/>
                  </a:lnTo>
                  <a:lnTo>
                    <a:pt x="476250" y="0"/>
                  </a:lnTo>
                  <a:lnTo>
                    <a:pt x="1905000" y="1905000"/>
                  </a:lnTo>
                </a:path>
              </a:pathLst>
            </a:custGeom>
            <a:noFill/>
            <a:ln w="19050">
              <a:solidFill>
                <a:srgbClr val="1A73E8">
                  <a:alpha val="15000"/>
                </a:srgb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4572000" y="476250"/>
              <a:ext cx="3048000" cy="1905000"/>
            </a:xfrm>
            <a:custGeom>
              <a:avLst/>
              <a:gdLst/>
              <a:ahLst/>
              <a:cxnLst/>
              <a:rect l="l" t="t" r="r" b="b"/>
              <a:pathLst>
                <a:path w="3048000" h="1905000">
                  <a:moveTo>
                    <a:pt x="1524000" y="0"/>
                  </a:moveTo>
                  <a:lnTo>
                    <a:pt x="3048000" y="952500"/>
                  </a:lnTo>
                  <a:lnTo>
                    <a:pt x="1524000" y="1905000"/>
                  </a:lnTo>
                  <a:lnTo>
                    <a:pt x="0" y="952500"/>
                  </a:lnTo>
                  <a:close/>
                </a:path>
              </a:pathLst>
            </a:custGeom>
            <a:noFill/>
            <a:ln w="19050">
              <a:solidFill>
                <a:srgbClr val="4FC3F7">
                  <a:alpha val="15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95350" y="895350"/>
              <a:ext cx="114300" cy="11430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2819400" y="1390650"/>
              <a:ext cx="76200" cy="76200"/>
            </a:xfrm>
            <a:prstGeom prst="ellipse">
              <a:avLst/>
            </a:prstGeom>
            <a:solidFill>
              <a:srgbClr val="4FC3F7">
                <a:alpha val="15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333625" y="2809875"/>
              <a:ext cx="95250" cy="9525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182350" y="5657850"/>
              <a:ext cx="114300" cy="11430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296400" y="5200650"/>
              <a:ext cx="76200" cy="76200"/>
            </a:xfrm>
            <a:prstGeom prst="ellipse">
              <a:avLst/>
            </a:prstGeom>
            <a:solidFill>
              <a:srgbClr val="4FC3F7">
                <a:alpha val="15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763125" y="3762375"/>
              <a:ext cx="95250" cy="9525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048375" y="428625"/>
              <a:ext cx="95250" cy="95250"/>
            </a:xfrm>
            <a:prstGeom prst="ellipse">
              <a:avLst/>
            </a:prstGeom>
            <a:solidFill>
              <a:srgbClr val="4FC3F7">
                <a:alpha val="15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581900" y="1390650"/>
              <a:ext cx="76200" cy="7620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048375" y="2333625"/>
              <a:ext cx="95250" cy="95250"/>
            </a:xfrm>
            <a:prstGeom prst="ellipse">
              <a:avLst/>
            </a:prstGeom>
            <a:solidFill>
              <a:srgbClr val="4FC3F7">
                <a:alpha val="15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533900" y="1390650"/>
              <a:ext cx="76200" cy="7620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067300" y="2286000"/>
            <a:ext cx="2057400" cy="1524000"/>
            <a:chOff x="5067300" y="2286000"/>
            <a:chExt cx="2057400" cy="1524000"/>
          </a:xfrm>
        </p:grpSpPr>
        <p:sp>
          <p:nvSpPr>
            <p:cNvPr id="17" name="Ellipse 17"/>
            <p:cNvSpPr/>
            <p:nvPr/>
          </p:nvSpPr>
          <p:spPr>
            <a:xfrm>
              <a:off x="5334000" y="2286000"/>
              <a:ext cx="1524000" cy="1524000"/>
            </a:xfrm>
            <a:prstGeom prst="ellipse">
              <a:avLst/>
            </a:prstGeom>
            <a:noFill/>
            <a:ln w="9525">
              <a:solidFill>
                <a:srgbClr val="4FC3F7">
                  <a:alpha val="50000"/>
                </a:srgbClr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524500" y="2476500"/>
              <a:ext cx="1143000" cy="1143000"/>
            </a:xfrm>
            <a:prstGeom prst="ellipse">
              <a:avLst/>
            </a:prstGeom>
            <a:noFill/>
            <a:ln w="19050">
              <a:solidFill>
                <a:srgbClr val="1A73E8">
                  <a:alpha val="80000"/>
                </a:srgbClr>
              </a:solidFill>
              <a:custDash>
                <a:ds d="500000" sp="250000"/>
              </a:custDash>
            </a:ln>
          </p:spPr>
        </p:sp>
        <p:sp>
          <p:nvSpPr>
            <p:cNvPr id="19" name="Ellipse 19"/>
            <p:cNvSpPr/>
            <p:nvPr/>
          </p:nvSpPr>
          <p:spPr>
            <a:xfrm>
              <a:off x="5715000" y="2667000"/>
              <a:ext cx="762000" cy="762000"/>
            </a:xfrm>
            <a:prstGeom prst="ellipse">
              <a:avLst/>
            </a:prstGeom>
            <a:solidFill>
              <a:srgbClr val="1A73E8">
                <a:alpha val="10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953125" y="2905125"/>
              <a:ext cx="285750" cy="28575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067300" y="2400300"/>
              <a:ext cx="152400" cy="1524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972300" y="2400300"/>
              <a:ext cx="152400" cy="1524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067300" y="3543300"/>
              <a:ext cx="152400" cy="1524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972300" y="3543300"/>
              <a:ext cx="152400" cy="1524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5238750" y="2524125"/>
              <a:ext cx="714375" cy="428625"/>
            </a:xfrm>
            <a:custGeom>
              <a:avLst/>
              <a:gdLst/>
              <a:ahLst/>
              <a:cxnLst/>
              <a:rect l="l" t="t" r="r" b="b"/>
              <a:pathLst>
                <a:path w="714375" h="428625">
                  <a:moveTo>
                    <a:pt x="714375" y="4286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238875" y="2524125"/>
              <a:ext cx="714375" cy="428625"/>
            </a:xfrm>
            <a:custGeom>
              <a:avLst/>
              <a:gdLst/>
              <a:ahLst/>
              <a:cxnLst/>
              <a:rect l="l" t="t" r="r" b="b"/>
              <a:pathLst>
                <a:path w="714375" h="428625">
                  <a:moveTo>
                    <a:pt x="0" y="428625"/>
                  </a:moveTo>
                  <a:lnTo>
                    <a:pt x="714375" y="0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238750" y="3143250"/>
              <a:ext cx="714375" cy="428625"/>
            </a:xfrm>
            <a:custGeom>
              <a:avLst/>
              <a:gdLst/>
              <a:ahLst/>
              <a:cxnLst/>
              <a:rect l="l" t="t" r="r" b="b"/>
              <a:pathLst>
                <a:path w="714375" h="428625">
                  <a:moveTo>
                    <a:pt x="714375" y="0"/>
                  </a:moveTo>
                  <a:lnTo>
                    <a:pt x="0" y="428625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238875" y="3143250"/>
              <a:ext cx="714375" cy="428625"/>
            </a:xfrm>
            <a:custGeom>
              <a:avLst/>
              <a:gdLst/>
              <a:ahLst/>
              <a:cxnLst/>
              <a:rect l="l" t="t" r="r" b="b"/>
              <a:pathLst>
                <a:path w="714375" h="428625">
                  <a:moveTo>
                    <a:pt x="0" y="0"/>
                  </a:moveTo>
                  <a:lnTo>
                    <a:pt x="714375" y="428625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4231615" y="1196340"/>
            <a:ext cx="3728771" cy="1384935"/>
            <a:chOff x="4231615" y="1196340"/>
            <a:chExt cx="3728771" cy="1384935"/>
          </a:xfrm>
        </p:grpSpPr>
        <p:sp>
          <p:nvSpPr>
            <p:cNvPr id="30" name="TextBox 30"/>
            <p:cNvSpPr txBox="1"/>
            <p:nvPr/>
          </p:nvSpPr>
          <p:spPr>
            <a:xfrm>
              <a:off x="4231615" y="1196340"/>
              <a:ext cx="372877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THANK YOU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05448" y="1994535"/>
              <a:ext cx="19811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谢谢！Q&amp;A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143500" y="25717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38100" cap="rnd">
              <a:gradFill>
                <a:gsLst>
                  <a:gs pos="0">
                    <a:srgbClr val="1A73E8"/>
                  </a:gs>
                  <a:gs pos="100000">
                    <a:srgbClr val="4FC3F7"/>
                  </a:gs>
                </a:gsLst>
                <a:lin ang="0" scaled="1"/>
              </a:gra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3238500" y="4381500"/>
            <a:ext cx="5715000" cy="1333500"/>
            <a:chOff x="3238500" y="4381500"/>
            <a:chExt cx="5715000" cy="1333500"/>
          </a:xfrm>
        </p:grpSpPr>
        <p:grpSp>
          <p:nvGrpSpPr>
            <p:cNvPr id="38" name="Group 38"/>
            <p:cNvGrpSpPr/>
            <p:nvPr/>
          </p:nvGrpSpPr>
          <p:grpSpPr>
            <a:xfrm>
              <a:off x="3238500" y="4381500"/>
              <a:ext cx="2286000" cy="1333500"/>
              <a:chOff x="3238500" y="4381500"/>
              <a:chExt cx="2286000" cy="1333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238500" y="4381500"/>
                <a:ext cx="2286000" cy="1333500"/>
              </a:xfrm>
              <a:prstGeom prst="roundRect">
                <a:avLst>
                  <a:gd name="adj" fmla="val 8571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F0F7FF"/>
                  </a:gs>
                </a:gsLst>
                <a:lin ang="5400000" scaled="1"/>
              </a:gradFill>
              <a:ln w="9525">
                <a:solidFill>
                  <a:srgbClr val="E1E8F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810000" y="4762500"/>
                <a:ext cx="381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76250">
                    <a:moveTo>
                      <a:pt x="0" y="190500"/>
                    </a:moveTo>
                    <a:cubicBezTo>
                      <a:pt x="0" y="95250"/>
                      <a:pt x="95250" y="0"/>
                      <a:pt x="190500" y="0"/>
                    </a:cubicBezTo>
                    <a:cubicBezTo>
                      <a:pt x="285750" y="0"/>
                      <a:pt x="381000" y="95250"/>
                      <a:pt x="381000" y="190500"/>
                    </a:cubicBezTo>
                    <a:cubicBezTo>
                      <a:pt x="381000" y="285750"/>
                      <a:pt x="285750" y="381000"/>
                      <a:pt x="190500" y="381000"/>
                    </a:cubicBezTo>
                    <a:lnTo>
                      <a:pt x="0" y="476250"/>
                    </a:lnTo>
                    <a:lnTo>
                      <a:pt x="47625" y="381000"/>
                    </a:lnTo>
                    <a:cubicBezTo>
                      <a:pt x="19050" y="333375"/>
                      <a:pt x="0" y="285750"/>
                      <a:pt x="0" y="190500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3902392" y="4743450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交流探讨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678079" y="5077778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欢迎随时提问与交流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667500" y="4381500"/>
              <a:ext cx="2286000" cy="1333500"/>
              <a:chOff x="6667500" y="4381500"/>
              <a:chExt cx="2286000" cy="13335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667500" y="4381500"/>
                <a:ext cx="2286000" cy="1333500"/>
              </a:xfrm>
              <a:prstGeom prst="roundRect">
                <a:avLst>
                  <a:gd name="adj" fmla="val 8571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F0F7FF"/>
                  </a:gs>
                </a:gsLst>
                <a:lin ang="5400000" scaled="1"/>
              </a:gradFill>
              <a:ln w="9525">
                <a:solidFill>
                  <a:srgbClr val="E1E8F0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7096125" y="4714875"/>
                <a:ext cx="285750" cy="285750"/>
              </a:xfrm>
              <a:prstGeom prst="roundRect">
                <a:avLst>
                  <a:gd name="adj" fmla="val 13333"/>
                </a:avLst>
              </a:prstGeom>
              <a:noFill/>
              <a:ln w="28575">
                <a:solidFill>
                  <a:srgbClr val="1A73E8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7048500" y="481012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28575">
                <a:solidFill>
                  <a:srgbClr val="1A73E8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7048500" y="49053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28575">
                <a:solidFill>
                  <a:srgbClr val="1A73E8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7381875" y="481012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28575">
                <a:solidFill>
                  <a:srgbClr val="1A73E8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7381875" y="49053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28575">
                <a:solidFill>
                  <a:srgbClr val="1A73E8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7191375" y="46672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8575">
                <a:solidFill>
                  <a:srgbClr val="1A73E8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7286625" y="46672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8575">
                <a:solidFill>
                  <a:srgbClr val="1A73E8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7191375" y="50006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8575">
                <a:solidFill>
                  <a:srgbClr val="1A73E8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7286625" y="50006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8575">
                <a:solidFill>
                  <a:srgbClr val="1A73E8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331392" y="4743450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技术咨询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072574" y="5077778"/>
                <a:ext cx="14758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KG / RAG / GraphRAG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952500" y="6477000"/>
            <a:ext cx="10300335" cy="338138"/>
            <a:chOff x="952500" y="6477000"/>
            <a:chExt cx="10300335" cy="338138"/>
          </a:xfrm>
        </p:grpSpPr>
        <p:sp>
          <p:nvSpPr>
            <p:cNvPr id="53" name="Line 53"/>
            <p:cNvSpPr/>
            <p:nvPr/>
          </p:nvSpPr>
          <p:spPr>
            <a:xfrm>
              <a:off x="952500" y="6477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E1E8F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322945" y="6601778"/>
              <a:ext cx="3546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Knowledge Graph &amp; RAG Technology Presentation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789110" y="6601778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21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3" grpId="0"/>
      <p:bldP spid="5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
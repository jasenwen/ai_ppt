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293B"/>
              </a:gs>
              <a:gs pos="100000">
                <a:srgbClr val="0B1120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32" name="Group 32"/>
          <p:cNvGrpSpPr/>
          <p:nvPr/>
        </p:nvGrpSpPr>
        <p:grpSpPr>
          <a:xfrm>
            <a:off x="1085850" y="1095375"/>
            <a:ext cx="10201275" cy="3524250"/>
            <a:chOff x="1085850" y="1095375"/>
            <a:chExt cx="10201275" cy="3524250"/>
          </a:xfrm>
        </p:grpSpPr>
        <p:sp>
          <p:nvSpPr>
            <p:cNvPr id="3" name="Line 3"/>
            <p:cNvSpPr/>
            <p:nvPr/>
          </p:nvSpPr>
          <p:spPr>
            <a:xfrm>
              <a:off x="1714500" y="1143000"/>
              <a:ext cx="1333500" cy="857250"/>
            </a:xfrm>
            <a:custGeom>
              <a:avLst/>
              <a:gdLst/>
              <a:ahLst/>
              <a:cxnLst/>
              <a:rect l="l" t="t" r="r" b="b"/>
              <a:pathLst>
                <a:path w="1333500" h="857250">
                  <a:moveTo>
                    <a:pt x="0" y="0"/>
                  </a:moveTo>
                  <a:lnTo>
                    <a:pt x="1333500" y="857250"/>
                  </a:lnTo>
                </a:path>
              </a:pathLst>
            </a:custGeom>
            <a:noFill/>
            <a:ln w="19050">
              <a:solidFill>
                <a:srgbClr val="475569">
                  <a:alpha val="12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3048000" y="1428750"/>
              <a:ext cx="1524000" cy="571500"/>
            </a:xfrm>
            <a:custGeom>
              <a:avLst/>
              <a:gdLst/>
              <a:ahLst/>
              <a:cxnLst/>
              <a:rect l="l" t="t" r="r" b="b"/>
              <a:pathLst>
                <a:path w="1524000" h="571500">
                  <a:moveTo>
                    <a:pt x="0" y="57150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rgbClr val="475569">
                  <a:alpha val="12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4572000" y="1428750"/>
              <a:ext cx="1524000" cy="857250"/>
            </a:xfrm>
            <a:custGeom>
              <a:avLst/>
              <a:gdLst/>
              <a:ahLst/>
              <a:cxnLst/>
              <a:rect l="l" t="t" r="r" b="b"/>
              <a:pathLst>
                <a:path w="1524000" h="857250">
                  <a:moveTo>
                    <a:pt x="0" y="0"/>
                  </a:moveTo>
                  <a:lnTo>
                    <a:pt x="1524000" y="857250"/>
                  </a:lnTo>
                </a:path>
              </a:pathLst>
            </a:custGeom>
            <a:noFill/>
            <a:ln w="19050">
              <a:solidFill>
                <a:srgbClr val="475569">
                  <a:alpha val="12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096000" y="1524000"/>
              <a:ext cx="1524000" cy="762000"/>
            </a:xfrm>
            <a:custGeom>
              <a:avLst/>
              <a:gdLst/>
              <a:ahLst/>
              <a:cxnLst/>
              <a:rect l="l" t="t" r="r" b="b"/>
              <a:pathLst>
                <a:path w="1524000" h="762000">
                  <a:moveTo>
                    <a:pt x="0" y="76200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rgbClr val="475569">
                  <a:alpha val="12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620000" y="1524000"/>
              <a:ext cx="1524000" cy="857250"/>
            </a:xfrm>
            <a:custGeom>
              <a:avLst/>
              <a:gdLst/>
              <a:ahLst/>
              <a:cxnLst/>
              <a:rect l="l" t="t" r="r" b="b"/>
              <a:pathLst>
                <a:path w="1524000" h="857250">
                  <a:moveTo>
                    <a:pt x="0" y="0"/>
                  </a:moveTo>
                  <a:lnTo>
                    <a:pt x="1524000" y="857250"/>
                  </a:lnTo>
                </a:path>
              </a:pathLst>
            </a:custGeom>
            <a:noFill/>
            <a:ln w="19050">
              <a:solidFill>
                <a:srgbClr val="475569">
                  <a:alpha val="12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1714500"/>
              <a:ext cx="1524000" cy="666750"/>
            </a:xfrm>
            <a:custGeom>
              <a:avLst/>
              <a:gdLst/>
              <a:ahLst/>
              <a:cxnLst/>
              <a:rect l="l" t="t" r="r" b="b"/>
              <a:pathLst>
                <a:path w="1524000" h="666750">
                  <a:moveTo>
                    <a:pt x="0" y="66675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rgbClr val="475569">
                  <a:alpha val="12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143000" y="1143000"/>
              <a:ext cx="571500" cy="1905000"/>
            </a:xfrm>
            <a:custGeom>
              <a:avLst/>
              <a:gdLst/>
              <a:ahLst/>
              <a:cxnLst/>
              <a:rect l="l" t="t" r="r" b="b"/>
              <a:pathLst>
                <a:path w="571500" h="1905000">
                  <a:moveTo>
                    <a:pt x="571500" y="0"/>
                  </a:moveTo>
                  <a:lnTo>
                    <a:pt x="0" y="1905000"/>
                  </a:lnTo>
                </a:path>
              </a:pathLst>
            </a:custGeom>
            <a:noFill/>
            <a:ln w="19050">
              <a:solidFill>
                <a:srgbClr val="475569">
                  <a:alpha val="12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143000" y="3048000"/>
              <a:ext cx="1333500" cy="952500"/>
            </a:xfrm>
            <a:custGeom>
              <a:avLst/>
              <a:gdLst/>
              <a:ahLst/>
              <a:cxnLst/>
              <a:rect l="l" t="t" r="r" b="b"/>
              <a:pathLst>
                <a:path w="1333500" h="952500">
                  <a:moveTo>
                    <a:pt x="0" y="0"/>
                  </a:moveTo>
                  <a:lnTo>
                    <a:pt x="1333500" y="952500"/>
                  </a:lnTo>
                </a:path>
              </a:pathLst>
            </a:custGeom>
            <a:noFill/>
            <a:ln w="19050">
              <a:solidFill>
                <a:srgbClr val="475569">
                  <a:alpha val="12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476500" y="3333750"/>
              <a:ext cx="1524000" cy="666750"/>
            </a:xfrm>
            <a:custGeom>
              <a:avLst/>
              <a:gdLst/>
              <a:ahLst/>
              <a:cxnLst/>
              <a:rect l="l" t="t" r="r" b="b"/>
              <a:pathLst>
                <a:path w="1524000" h="666750">
                  <a:moveTo>
                    <a:pt x="0" y="66675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rgbClr val="475569">
                  <a:alpha val="12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4000500" y="3333750"/>
              <a:ext cx="1524000" cy="952500"/>
            </a:xfrm>
            <a:custGeom>
              <a:avLst/>
              <a:gdLst/>
              <a:ahLst/>
              <a:cxnLst/>
              <a:rect l="l" t="t" r="r" b="b"/>
              <a:pathLst>
                <a:path w="1524000" h="952500">
                  <a:moveTo>
                    <a:pt x="0" y="0"/>
                  </a:moveTo>
                  <a:lnTo>
                    <a:pt x="1524000" y="952500"/>
                  </a:lnTo>
                </a:path>
              </a:pathLst>
            </a:custGeom>
            <a:noFill/>
            <a:ln w="19050">
              <a:solidFill>
                <a:srgbClr val="475569">
                  <a:alpha val="12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5524500" y="3524250"/>
              <a:ext cx="1524000" cy="762000"/>
            </a:xfrm>
            <a:custGeom>
              <a:avLst/>
              <a:gdLst/>
              <a:ahLst/>
              <a:cxnLst/>
              <a:rect l="l" t="t" r="r" b="b"/>
              <a:pathLst>
                <a:path w="1524000" h="762000">
                  <a:moveTo>
                    <a:pt x="0" y="76200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rgbClr val="475569">
                  <a:alpha val="12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7048500" y="3524250"/>
              <a:ext cx="1524000" cy="952500"/>
            </a:xfrm>
            <a:custGeom>
              <a:avLst/>
              <a:gdLst/>
              <a:ahLst/>
              <a:cxnLst/>
              <a:rect l="l" t="t" r="r" b="b"/>
              <a:pathLst>
                <a:path w="1524000" h="952500">
                  <a:moveTo>
                    <a:pt x="0" y="0"/>
                  </a:moveTo>
                  <a:lnTo>
                    <a:pt x="1524000" y="952500"/>
                  </a:lnTo>
                </a:path>
              </a:pathLst>
            </a:custGeom>
            <a:noFill/>
            <a:ln w="19050">
              <a:solidFill>
                <a:srgbClr val="475569">
                  <a:alpha val="12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8572500" y="3714750"/>
              <a:ext cx="1524000" cy="762000"/>
            </a:xfrm>
            <a:custGeom>
              <a:avLst/>
              <a:gdLst/>
              <a:ahLst/>
              <a:cxnLst/>
              <a:rect l="l" t="t" r="r" b="b"/>
              <a:pathLst>
                <a:path w="1524000" h="762000">
                  <a:moveTo>
                    <a:pt x="0" y="76200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rgbClr val="475569">
                  <a:alpha val="12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096500" y="3714750"/>
              <a:ext cx="1143000" cy="857250"/>
            </a:xfrm>
            <a:custGeom>
              <a:avLst/>
              <a:gdLst/>
              <a:ahLst/>
              <a:cxnLst/>
              <a:rect l="l" t="t" r="r" b="b"/>
              <a:pathLst>
                <a:path w="1143000" h="857250">
                  <a:moveTo>
                    <a:pt x="0" y="0"/>
                  </a:moveTo>
                  <a:lnTo>
                    <a:pt x="1143000" y="857250"/>
                  </a:lnTo>
                </a:path>
              </a:pathLst>
            </a:custGeom>
            <a:noFill/>
            <a:ln w="19050">
              <a:solidFill>
                <a:srgbClr val="475569">
                  <a:alpha val="12000"/>
                </a:srgbClr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666875" y="1095375"/>
              <a:ext cx="95250" cy="95250"/>
            </a:xfrm>
            <a:prstGeom prst="ellipse">
              <a:avLst/>
            </a:prstGeom>
            <a:solidFill>
              <a:srgbClr val="64748B">
                <a:alpha val="12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2981325" y="1933575"/>
              <a:ext cx="133350" cy="133350"/>
            </a:xfrm>
            <a:prstGeom prst="ellipse">
              <a:avLst/>
            </a:prstGeom>
            <a:solidFill>
              <a:srgbClr val="64748B">
                <a:alpha val="12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4533900" y="1390650"/>
              <a:ext cx="76200" cy="76200"/>
            </a:xfrm>
            <a:prstGeom prst="ellipse">
              <a:avLst/>
            </a:prstGeom>
            <a:solidFill>
              <a:srgbClr val="64748B">
                <a:alpha val="12000"/>
              </a:srgb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6038850" y="2228850"/>
              <a:ext cx="114300" cy="114300"/>
            </a:xfrm>
            <a:prstGeom prst="ellipse">
              <a:avLst/>
            </a:prstGeom>
            <a:solidFill>
              <a:srgbClr val="64748B">
                <a:alpha val="12000"/>
              </a:srgb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7572375" y="1476375"/>
              <a:ext cx="95250" cy="95250"/>
            </a:xfrm>
            <a:prstGeom prst="ellipse">
              <a:avLst/>
            </a:prstGeom>
            <a:solidFill>
              <a:srgbClr val="64748B">
                <a:alpha val="12000"/>
              </a:srgb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9067800" y="2305050"/>
              <a:ext cx="152400" cy="152400"/>
            </a:xfrm>
            <a:prstGeom prst="ellipse">
              <a:avLst/>
            </a:prstGeom>
            <a:solidFill>
              <a:srgbClr val="64748B">
                <a:alpha val="12000"/>
              </a:srgb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0629900" y="1676400"/>
              <a:ext cx="76200" cy="76200"/>
            </a:xfrm>
            <a:prstGeom prst="ellipse">
              <a:avLst/>
            </a:prstGeom>
            <a:solidFill>
              <a:srgbClr val="64748B">
                <a:alpha val="12000"/>
              </a:srgb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085850" y="2990850"/>
              <a:ext cx="114300" cy="114300"/>
            </a:xfrm>
            <a:prstGeom prst="ellipse">
              <a:avLst/>
            </a:prstGeom>
            <a:solidFill>
              <a:srgbClr val="64748B">
                <a:alpha val="12000"/>
              </a:srgb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428875" y="3952875"/>
              <a:ext cx="95250" cy="95250"/>
            </a:xfrm>
            <a:prstGeom prst="ellipse">
              <a:avLst/>
            </a:prstGeom>
            <a:solidFill>
              <a:srgbClr val="64748B">
                <a:alpha val="12000"/>
              </a:srgb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933825" y="3267075"/>
              <a:ext cx="133350" cy="133350"/>
            </a:xfrm>
            <a:prstGeom prst="ellipse">
              <a:avLst/>
            </a:prstGeom>
            <a:solidFill>
              <a:srgbClr val="64748B">
                <a:alpha val="12000"/>
              </a:srgbClr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5486400" y="4248150"/>
              <a:ext cx="76200" cy="76200"/>
            </a:xfrm>
            <a:prstGeom prst="ellipse">
              <a:avLst/>
            </a:prstGeom>
            <a:solidFill>
              <a:srgbClr val="64748B">
                <a:alpha val="12000"/>
              </a:srgbClr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6991350" y="3467100"/>
              <a:ext cx="114300" cy="114300"/>
            </a:xfrm>
            <a:prstGeom prst="ellipse">
              <a:avLst/>
            </a:prstGeom>
            <a:solidFill>
              <a:srgbClr val="64748B">
                <a:alpha val="12000"/>
              </a:srgbClr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8524875" y="4429125"/>
              <a:ext cx="95250" cy="95250"/>
            </a:xfrm>
            <a:prstGeom prst="ellipse">
              <a:avLst/>
            </a:prstGeom>
            <a:solidFill>
              <a:srgbClr val="64748B">
                <a:alpha val="12000"/>
              </a:srgbClr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0029825" y="3648075"/>
              <a:ext cx="133350" cy="133350"/>
            </a:xfrm>
            <a:prstGeom prst="ellipse">
              <a:avLst/>
            </a:prstGeom>
            <a:solidFill>
              <a:srgbClr val="64748B">
                <a:alpha val="12000"/>
              </a:srgbClr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1191875" y="4524375"/>
              <a:ext cx="95250" cy="95250"/>
            </a:xfrm>
            <a:prstGeom prst="ellipse">
              <a:avLst/>
            </a:prstGeom>
            <a:solidFill>
              <a:srgbClr val="64748B">
                <a:alpha val="12000"/>
              </a:srgbClr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3468957" y="2381250"/>
            <a:ext cx="5254085" cy="2514600"/>
            <a:chOff x="3468957" y="2381250"/>
            <a:chExt cx="5254085" cy="2514600"/>
          </a:xfrm>
        </p:grpSpPr>
        <p:sp>
          <p:nvSpPr>
            <p:cNvPr id="33" name="Rectangle 33"/>
            <p:cNvSpPr/>
            <p:nvPr/>
          </p:nvSpPr>
          <p:spPr>
            <a:xfrm>
              <a:off x="4953000" y="23812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BDF8"/>
                </a:gs>
                <a:gs pos="50000">
                  <a:srgbClr val="818CF8"/>
                </a:gs>
                <a:gs pos="100000">
                  <a:srgbClr val="38BD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083748" y="2463165"/>
              <a:ext cx="4024503" cy="1280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知识图谱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468957" y="3613785"/>
              <a:ext cx="525408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核心技术架构 · 应用落地场景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22214" y="4408170"/>
              <a:ext cx="114757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38BDF8"/>
                  </a:solidFill>
                  <a:latin typeface="Arial"/>
                  <a:ea typeface="Microsoft YaHei"/>
                  <a:cs typeface="Arial"/>
                </a:rPr>
                <a:t>2 0 2 5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0" y="6378892"/>
            <a:ext cx="12192000" cy="479108"/>
            <a:chOff x="0" y="6378892"/>
            <a:chExt cx="12192000" cy="479108"/>
          </a:xfrm>
        </p:grpSpPr>
        <p:sp>
          <p:nvSpPr>
            <p:cNvPr id="38" name="Rectangle 38"/>
            <p:cNvSpPr/>
            <p:nvPr/>
          </p:nvSpPr>
          <p:spPr>
            <a:xfrm>
              <a:off x="0" y="6781800"/>
              <a:ext cx="12192000" cy="76200"/>
            </a:xfrm>
            <a:prstGeom prst="rect">
              <a:avLst/>
            </a:prstGeom>
            <a:gradFill>
              <a:gsLst>
                <a:gs pos="0">
                  <a:srgbClr val="38BDF8"/>
                </a:gs>
                <a:gs pos="50000">
                  <a:srgbClr val="818CF8"/>
                </a:gs>
                <a:gs pos="100000">
                  <a:srgbClr val="38BD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369052" y="6378892"/>
              <a:ext cx="14538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第 1 页 / 共 9 页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48395" y="626745"/>
            <a:ext cx="1295210" cy="792480"/>
            <a:chOff x="5448395" y="626745"/>
            <a:chExt cx="1295210" cy="792480"/>
          </a:xfrm>
        </p:grpSpPr>
        <p:sp>
          <p:nvSpPr>
            <p:cNvPr id="4" name="TextBox 4"/>
            <p:cNvSpPr txBox="1"/>
            <p:nvPr/>
          </p:nvSpPr>
          <p:spPr>
            <a:xfrm>
              <a:off x="5448395" y="626745"/>
              <a:ext cx="1295210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524500" y="1285875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38100" cap="rnd">
              <a:solidFill>
                <a:srgbClr val="2563EB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790700" y="1790700"/>
            <a:ext cx="8305800" cy="3752850"/>
            <a:chOff x="1790700" y="1790700"/>
            <a:chExt cx="8305800" cy="3752850"/>
          </a:xfrm>
        </p:grpSpPr>
        <p:grpSp>
          <p:nvGrpSpPr>
            <p:cNvPr id="11" name="Group 11"/>
            <p:cNvGrpSpPr/>
            <p:nvPr/>
          </p:nvGrpSpPr>
          <p:grpSpPr>
            <a:xfrm>
              <a:off x="1790700" y="1790700"/>
              <a:ext cx="8305800" cy="742950"/>
              <a:chOff x="1790700" y="1790700"/>
              <a:chExt cx="8305800" cy="742950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1790700" y="1790700"/>
                <a:ext cx="609600" cy="6096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967007" y="1993582"/>
                <a:ext cx="25698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2638425" y="1928812"/>
                <a:ext cx="2357437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dirty="0">
                    <a:solidFill>
                      <a:srgbClr val="1E293B"/>
                    </a:solidFill>
                    <a:latin typeface="Arial"/>
                    <a:ea typeface="Microsoft YaHei"/>
                    <a:cs typeface="Arial"/>
                  </a:rPr>
                  <a:t>什么是知识图谱</a:t>
                </a:r>
              </a:p>
            </p:txBody>
          </p:sp>
          <p:sp>
            <p:nvSpPr>
              <p:cNvPr id="10" name="Line 10"/>
              <p:cNvSpPr/>
              <p:nvPr/>
            </p:nvSpPr>
            <p:spPr>
              <a:xfrm>
                <a:off x="2095500" y="2524125"/>
                <a:ext cx="800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01000" h="9525">
                    <a:moveTo>
                      <a:pt x="0" y="0"/>
                    </a:moveTo>
                    <a:lnTo>
                      <a:pt x="80010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1790700" y="2838450"/>
              <a:ext cx="8305800" cy="742950"/>
              <a:chOff x="1790700" y="2838450"/>
              <a:chExt cx="8305800" cy="742950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1790700" y="2838450"/>
                <a:ext cx="609600" cy="6096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935378" y="3041332"/>
                <a:ext cx="32024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638425" y="2976562"/>
                <a:ext cx="2028825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dirty="0">
                    <a:solidFill>
                      <a:srgbClr val="1E293B"/>
                    </a:solidFill>
                    <a:latin typeface="Arial"/>
                    <a:ea typeface="Microsoft YaHei"/>
                    <a:cs typeface="Arial"/>
                  </a:rPr>
                  <a:t>核心技术架构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2095500" y="3571875"/>
                <a:ext cx="800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01000" h="9525">
                    <a:moveTo>
                      <a:pt x="0" y="0"/>
                    </a:moveTo>
                    <a:lnTo>
                      <a:pt x="80010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1790700" y="3886200"/>
              <a:ext cx="8305800" cy="742950"/>
              <a:chOff x="1790700" y="3886200"/>
              <a:chExt cx="8305800" cy="742950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1790700" y="3886200"/>
                <a:ext cx="609600" cy="6096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935378" y="4089082"/>
                <a:ext cx="32024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638425" y="4024312"/>
                <a:ext cx="2028825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dirty="0">
                    <a:solidFill>
                      <a:srgbClr val="1E293B"/>
                    </a:solidFill>
                    <a:latin typeface="Arial"/>
                    <a:ea typeface="Microsoft YaHei"/>
                    <a:cs typeface="Arial"/>
                  </a:rPr>
                  <a:t>应用落地场景</a:t>
                </a:r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2095500" y="4619625"/>
                <a:ext cx="800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01000" h="9525">
                    <a:moveTo>
                      <a:pt x="0" y="0"/>
                    </a:moveTo>
                    <a:lnTo>
                      <a:pt x="80010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1790700" y="4933950"/>
              <a:ext cx="2547937" cy="609600"/>
              <a:chOff x="1790700" y="4933950"/>
              <a:chExt cx="2547937" cy="609600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1790700" y="4933950"/>
                <a:ext cx="609600" cy="6096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935378" y="5136832"/>
                <a:ext cx="32024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638425" y="5072062"/>
                <a:ext cx="1700212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dirty="0">
                    <a:solidFill>
                      <a:srgbClr val="1E293B"/>
                    </a:solidFill>
                    <a:latin typeface="Arial"/>
                    <a:ea typeface="Microsoft YaHei"/>
                    <a:cs typeface="Arial"/>
                  </a:rPr>
                  <a:t>总结与展望</a:t>
                </a:r>
              </a:p>
            </p:txBody>
          </p:sp>
        </p:grpSp>
      </p:grpSp>
      <p:sp>
        <p:nvSpPr>
          <p:cNvPr id="27" name="TextBox 27"/>
          <p:cNvSpPr txBox="1"/>
          <p:nvPr/>
        </p:nvSpPr>
        <p:spPr>
          <a:xfrm>
            <a:off x="10829925" y="6347460"/>
            <a:ext cx="4248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2 / 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3953208" y="531495"/>
            <a:ext cx="4285583" cy="792480"/>
            <a:chOff x="3953208" y="531495"/>
            <a:chExt cx="4285583" cy="792480"/>
          </a:xfrm>
        </p:grpSpPr>
        <p:sp>
          <p:nvSpPr>
            <p:cNvPr id="4" name="TextBox 4"/>
            <p:cNvSpPr txBox="1"/>
            <p:nvPr/>
          </p:nvSpPr>
          <p:spPr>
            <a:xfrm>
              <a:off x="3953208" y="531495"/>
              <a:ext cx="4285583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什么是知识图谱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334000" y="1190625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38100" cap="rnd">
              <a:solidFill>
                <a:srgbClr val="2563EB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914400" y="1314450"/>
            <a:ext cx="8915400" cy="1300162"/>
            <a:chOff x="914400" y="1314450"/>
            <a:chExt cx="8915400" cy="1300162"/>
          </a:xfrm>
        </p:grpSpPr>
        <p:sp>
          <p:nvSpPr>
            <p:cNvPr id="7" name="Ellipse 7"/>
            <p:cNvSpPr/>
            <p:nvPr/>
          </p:nvSpPr>
          <p:spPr>
            <a:xfrm>
              <a:off x="914400" y="1866900"/>
              <a:ext cx="457200" cy="4572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89446" y="2009775"/>
              <a:ext cx="1071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90675" y="1804988"/>
              <a:ext cx="74723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94485" y="2218372"/>
              <a:ext cx="517588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用图结构描述实体及其语义关系的知识库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9029700" y="1314450"/>
              <a:ext cx="800100" cy="800100"/>
              <a:chOff x="9029700" y="1314450"/>
              <a:chExt cx="800100" cy="800100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9029700" y="1600200"/>
                <a:ext cx="228600" cy="228600"/>
              </a:xfrm>
              <a:prstGeom prst="ellipse">
                <a:avLst/>
              </a:prstGeom>
              <a:solidFill>
                <a:srgbClr val="3B82F6"/>
              </a:solidFill>
              <a:ln>
                <a:noFill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9601200" y="1314450"/>
                <a:ext cx="228600" cy="228600"/>
              </a:xfrm>
              <a:prstGeom prst="ellipse">
                <a:avLst/>
              </a:prstGeom>
              <a:solidFill>
                <a:srgbClr val="60A5FA"/>
              </a:solidFill>
              <a:ln>
                <a:noFill/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9601200" y="1885950"/>
                <a:ext cx="228600" cy="228600"/>
              </a:xfrm>
              <a:prstGeom prst="ellipse">
                <a:avLst/>
              </a:prstGeom>
              <a:solidFill>
                <a:srgbClr val="60A5FA"/>
              </a:solidFill>
              <a:ln>
                <a:noFill/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9144000" y="1428750"/>
                <a:ext cx="5715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285750">
                    <a:moveTo>
                      <a:pt x="0" y="285750"/>
                    </a:moveTo>
                    <a:lnTo>
                      <a:pt x="571500" y="0"/>
                    </a:lnTo>
                  </a:path>
                </a:pathLst>
              </a:custGeom>
              <a:noFill/>
              <a:ln w="28575">
                <a:solidFill>
                  <a:srgbClr val="93C5FD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9144000" y="1714500"/>
                <a:ext cx="5715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285750">
                    <a:moveTo>
                      <a:pt x="0" y="0"/>
                    </a:moveTo>
                    <a:lnTo>
                      <a:pt x="571500" y="285750"/>
                    </a:lnTo>
                  </a:path>
                </a:pathLst>
              </a:custGeom>
              <a:noFill/>
              <a:ln w="28575">
                <a:solidFill>
                  <a:srgbClr val="93C5FD"/>
                </a:solidFill>
              </a:ln>
            </p:spPr>
          </p:sp>
        </p:grpSp>
      </p:grpSp>
      <p:grpSp>
        <p:nvGrpSpPr>
          <p:cNvPr id="30" name="Group 30"/>
          <p:cNvGrpSpPr/>
          <p:nvPr/>
        </p:nvGrpSpPr>
        <p:grpSpPr>
          <a:xfrm>
            <a:off x="914400" y="2914650"/>
            <a:ext cx="9886950" cy="1033462"/>
            <a:chOff x="914400" y="2914650"/>
            <a:chExt cx="9886950" cy="1033462"/>
          </a:xfrm>
        </p:grpSpPr>
        <p:sp>
          <p:nvSpPr>
            <p:cNvPr id="18" name="Ellipse 18"/>
            <p:cNvSpPr/>
            <p:nvPr/>
          </p:nvSpPr>
          <p:spPr>
            <a:xfrm>
              <a:off x="914400" y="3200400"/>
              <a:ext cx="457200" cy="4572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60692" y="334327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90675" y="3138488"/>
              <a:ext cx="143732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基本单元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94485" y="3551872"/>
              <a:ext cx="34955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&lt;实体, 关系, 实体&gt; 三元组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9010650" y="2914650"/>
              <a:ext cx="1790700" cy="266700"/>
              <a:chOff x="9010650" y="2914650"/>
              <a:chExt cx="1790700" cy="266700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9010650" y="2914650"/>
                <a:ext cx="266700" cy="2667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9772650" y="2914650"/>
                <a:ext cx="266700" cy="2667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10534650" y="2914650"/>
                <a:ext cx="266700" cy="2667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9277350" y="3048000"/>
                <a:ext cx="495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9525">
                    <a:moveTo>
                      <a:pt x="0" y="0"/>
                    </a:moveTo>
                    <a:lnTo>
                      <a:pt x="495300" y="0"/>
                    </a:lnTo>
                  </a:path>
                </a:pathLst>
              </a:custGeom>
              <a:noFill/>
              <a:ln w="38100">
                <a:solidFill>
                  <a:srgbClr val="60A5FA"/>
                </a:solidFill>
              </a:ln>
            </p:spPr>
          </p:sp>
          <p:sp>
            <p:nvSpPr>
              <p:cNvPr id="26" name="Polygon 26"/>
              <p:cNvSpPr/>
              <p:nvPr/>
            </p:nvSpPr>
            <p:spPr>
              <a:xfrm>
                <a:off x="9772650" y="2990850"/>
                <a:ext cx="952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14300">
                    <a:moveTo>
                      <a:pt x="0" y="0"/>
                    </a:moveTo>
                    <a:lnTo>
                      <a:pt x="95250" y="5715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rgbClr val="60A5FA"/>
              </a:solidFill>
              <a:ln>
                <a:noFill/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10039350" y="3048000"/>
                <a:ext cx="495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9525">
                    <a:moveTo>
                      <a:pt x="0" y="0"/>
                    </a:moveTo>
                    <a:lnTo>
                      <a:pt x="495300" y="0"/>
                    </a:lnTo>
                  </a:path>
                </a:pathLst>
              </a:custGeom>
              <a:noFill/>
              <a:ln w="38100">
                <a:solidFill>
                  <a:srgbClr val="60A5FA"/>
                </a:solidFill>
              </a:ln>
            </p:spPr>
          </p:sp>
          <p:sp>
            <p:nvSpPr>
              <p:cNvPr id="28" name="Polygon 28"/>
              <p:cNvSpPr/>
              <p:nvPr/>
            </p:nvSpPr>
            <p:spPr>
              <a:xfrm>
                <a:off x="10534650" y="2990850"/>
                <a:ext cx="952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14300">
                    <a:moveTo>
                      <a:pt x="0" y="0"/>
                    </a:moveTo>
                    <a:lnTo>
                      <a:pt x="95250" y="5715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rgbClr val="60A5FA"/>
              </a:solidFill>
              <a:ln>
                <a:noFill/>
              </a:ln>
            </p:spPr>
          </p:sp>
        </p:grpSp>
      </p:grpSp>
      <p:grpSp>
        <p:nvGrpSpPr>
          <p:cNvPr id="45" name="Group 45"/>
          <p:cNvGrpSpPr/>
          <p:nvPr/>
        </p:nvGrpSpPr>
        <p:grpSpPr>
          <a:xfrm>
            <a:off x="914400" y="4286250"/>
            <a:ext cx="8801100" cy="995362"/>
            <a:chOff x="914400" y="4286250"/>
            <a:chExt cx="8801100" cy="995362"/>
          </a:xfrm>
        </p:grpSpPr>
        <p:sp>
          <p:nvSpPr>
            <p:cNvPr id="31" name="Ellipse 31"/>
            <p:cNvSpPr/>
            <p:nvPr/>
          </p:nvSpPr>
          <p:spPr>
            <a:xfrm>
              <a:off x="914400" y="4533900"/>
              <a:ext cx="457200" cy="4572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60692" y="467677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90675" y="4471988"/>
              <a:ext cx="74723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本质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94485" y="4885372"/>
              <a:ext cx="460629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将碎片化信息组织成结构化知识网络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8763000" y="4286250"/>
              <a:ext cx="952500" cy="952500"/>
              <a:chOff x="8763000" y="4286250"/>
              <a:chExt cx="952500" cy="952500"/>
            </a:xfrm>
          </p:grpSpPr>
          <p:sp>
            <p:nvSpPr>
              <p:cNvPr id="35" name="Ellipse 35"/>
              <p:cNvSpPr/>
              <p:nvPr/>
            </p:nvSpPr>
            <p:spPr>
              <a:xfrm>
                <a:off x="9144000" y="4286250"/>
                <a:ext cx="190500" cy="190500"/>
              </a:xfrm>
              <a:prstGeom prst="ellipse">
                <a:avLst/>
              </a:prstGeom>
              <a:solidFill>
                <a:srgbClr val="3B82F6"/>
              </a:solidFill>
              <a:ln>
                <a:noFill/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8763000" y="4667250"/>
                <a:ext cx="190500" cy="190500"/>
              </a:xfrm>
              <a:prstGeom prst="ellipse">
                <a:avLst/>
              </a:prstGeom>
              <a:solidFill>
                <a:srgbClr val="60A5FA"/>
              </a:solidFill>
              <a:ln>
                <a:noFill/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9525000" y="4667250"/>
                <a:ext cx="190500" cy="190500"/>
              </a:xfrm>
              <a:prstGeom prst="ellipse">
                <a:avLst/>
              </a:prstGeom>
              <a:solidFill>
                <a:srgbClr val="60A5FA"/>
              </a:solidFill>
              <a:ln>
                <a:noFill/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9144000" y="5048250"/>
                <a:ext cx="190500" cy="190500"/>
              </a:xfrm>
              <a:prstGeom prst="ellipse">
                <a:avLst/>
              </a:prstGeom>
              <a:solidFill>
                <a:srgbClr val="93C5FD"/>
              </a:solidFill>
              <a:ln>
                <a:noFill/>
              </a:ln>
            </p:spPr>
          </p:sp>
          <p:sp>
            <p:nvSpPr>
              <p:cNvPr id="39" name="Line 39"/>
              <p:cNvSpPr/>
              <p:nvPr/>
            </p:nvSpPr>
            <p:spPr>
              <a:xfrm>
                <a:off x="8953500" y="4476750"/>
                <a:ext cx="2857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90500">
                    <a:moveTo>
                      <a:pt x="28575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28575">
                <a:solidFill>
                  <a:srgbClr val="BFDBFE"/>
                </a:solidFill>
              </a:ln>
            </p:spPr>
          </p:sp>
          <p:sp>
            <p:nvSpPr>
              <p:cNvPr id="40" name="Line 40"/>
              <p:cNvSpPr/>
              <p:nvPr/>
            </p:nvSpPr>
            <p:spPr>
              <a:xfrm>
                <a:off x="9239250" y="4476750"/>
                <a:ext cx="2857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90500">
                    <a:moveTo>
                      <a:pt x="0" y="0"/>
                    </a:moveTo>
                    <a:lnTo>
                      <a:pt x="285750" y="190500"/>
                    </a:lnTo>
                  </a:path>
                </a:pathLst>
              </a:custGeom>
              <a:noFill/>
              <a:ln w="28575">
                <a:solidFill>
                  <a:srgbClr val="BFDBFE"/>
                </a:solidFill>
              </a:ln>
            </p:spPr>
          </p:sp>
          <p:sp>
            <p:nvSpPr>
              <p:cNvPr id="41" name="Line 41"/>
              <p:cNvSpPr/>
              <p:nvPr/>
            </p:nvSpPr>
            <p:spPr>
              <a:xfrm>
                <a:off x="8953500" y="4857750"/>
                <a:ext cx="57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9525">
                    <a:moveTo>
                      <a:pt x="0" y="0"/>
                    </a:moveTo>
                    <a:lnTo>
                      <a:pt x="571500" y="0"/>
                    </a:lnTo>
                  </a:path>
                </a:pathLst>
              </a:custGeom>
              <a:noFill/>
              <a:ln w="28575">
                <a:solidFill>
                  <a:srgbClr val="BFDBFE"/>
                </a:solidFill>
              </a:ln>
            </p:spPr>
          </p:sp>
          <p:sp>
            <p:nvSpPr>
              <p:cNvPr id="42" name="Line 42"/>
              <p:cNvSpPr/>
              <p:nvPr/>
            </p:nvSpPr>
            <p:spPr>
              <a:xfrm>
                <a:off x="8953500" y="4857750"/>
                <a:ext cx="2857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90500">
                    <a:moveTo>
                      <a:pt x="0" y="0"/>
                    </a:moveTo>
                    <a:lnTo>
                      <a:pt x="285750" y="190500"/>
                    </a:lnTo>
                  </a:path>
                </a:pathLst>
              </a:custGeom>
              <a:noFill/>
              <a:ln w="28575">
                <a:solidFill>
                  <a:srgbClr val="BFDBFE"/>
                </a:solidFill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9239250" y="4857750"/>
                <a:ext cx="2857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90500">
                    <a:moveTo>
                      <a:pt x="28575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28575">
                <a:solidFill>
                  <a:srgbClr val="BFDBFE"/>
                </a:solidFill>
              </a:ln>
            </p:spPr>
          </p:sp>
        </p:grpSp>
      </p:grpSp>
      <p:grpSp>
        <p:nvGrpSpPr>
          <p:cNvPr id="48" name="Group 48"/>
          <p:cNvGrpSpPr/>
          <p:nvPr/>
        </p:nvGrpSpPr>
        <p:grpSpPr>
          <a:xfrm>
            <a:off x="952500" y="6172200"/>
            <a:ext cx="10306050" cy="314325"/>
            <a:chOff x="952500" y="6172200"/>
            <a:chExt cx="10306050" cy="314325"/>
          </a:xfrm>
        </p:grpSpPr>
        <p:sp>
          <p:nvSpPr>
            <p:cNvPr id="46" name="Line 46"/>
            <p:cNvSpPr/>
            <p:nvPr/>
          </p:nvSpPr>
          <p:spPr>
            <a:xfrm>
              <a:off x="952500" y="6477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727531" y="6172200"/>
              <a:ext cx="5310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3 / 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0" grpId="0"/>
      <p:bldP spid="4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E27"/>
              </a:gs>
              <a:gs pos="100000">
                <a:srgbClr val="1A1F4E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-1143000"/>
            <a:ext cx="3810000" cy="3810000"/>
          </a:xfrm>
          <a:prstGeom prst="ellipse">
            <a:avLst/>
          </a:prstGeom>
          <a:solidFill>
            <a:srgbClr val="667EEA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476250" y="4762500"/>
            <a:ext cx="2857500" cy="2857500"/>
          </a:xfrm>
          <a:prstGeom prst="ellipse">
            <a:avLst/>
          </a:prstGeom>
          <a:solidFill>
            <a:srgbClr val="F5576C">
              <a:alpha val="4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3238500" y="571500"/>
            <a:ext cx="5715000" cy="5715000"/>
          </a:xfrm>
          <a:prstGeom prst="ellipse">
            <a:avLst/>
          </a:prstGeom>
          <a:solidFill>
            <a:srgbClr val="4FACFE">
              <a:alpha val="3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D1137">
              <a:alpha val="80000"/>
            </a:srgbClr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19050">
            <a:solidFill>
              <a:srgbClr val="667EEA">
                <a:alpha val="50000"/>
              </a:srgbClr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819555" y="203835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核心技术架构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45948" y="572452"/>
            <a:ext cx="35001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892B0"/>
                </a:solidFill>
                <a:latin typeface="Segoe UI"/>
                <a:ea typeface="Microsoft YaHei"/>
                <a:cs typeface="Segoe UI"/>
              </a:rPr>
              <a:t>Knowledge Graph Core Technology Architecture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762250" y="3429000"/>
            <a:ext cx="7905750" cy="9525"/>
            <a:chOff x="2762250" y="3429000"/>
            <a:chExt cx="7905750" cy="9525"/>
          </a:xfrm>
        </p:grpSpPr>
        <p:sp>
          <p:nvSpPr>
            <p:cNvPr id="10" name="Freeform 10"/>
            <p:cNvSpPr/>
            <p:nvPr/>
          </p:nvSpPr>
          <p:spPr>
            <a:xfrm>
              <a:off x="2762250" y="34290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solidFill>
              <a:srgbClr val="000000">
                <a:alpha val="30000"/>
              </a:srgbClr>
            </a:solidFill>
            <a:ln w="19050">
              <a:solidFill>
                <a:srgbClr val="FFFFFF">
                  <a:alpha val="30000"/>
                </a:srgbClr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5238750" y="34290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solidFill>
              <a:srgbClr val="000000">
                <a:alpha val="30000"/>
              </a:srgbClr>
            </a:solidFill>
            <a:ln w="19050">
              <a:solidFill>
                <a:srgbClr val="FFFFFF">
                  <a:alpha val="30000"/>
                </a:srgbClr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7715250" y="34290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solidFill>
              <a:srgbClr val="000000">
                <a:alpha val="30000"/>
              </a:srgbClr>
            </a:solidFill>
            <a:ln w="19050">
              <a:solidFill>
                <a:srgbClr val="FFFFFF">
                  <a:alpha val="30000"/>
                </a:srgbClr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0191750" y="34290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solidFill>
              <a:srgbClr val="000000">
                <a:alpha val="30000"/>
              </a:srgbClr>
            </a:solidFill>
            <a:ln w="19050">
              <a:solidFill>
                <a:srgbClr val="FFFFFF">
                  <a:alpha val="30000"/>
                </a:srgbClr>
              </a:solidFill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381000" y="1714500"/>
            <a:ext cx="2286000" cy="3429000"/>
            <a:chOff x="381000" y="1714500"/>
            <a:chExt cx="2286000" cy="3429000"/>
          </a:xfrm>
          <a:effectLst>
            <a:outerShdw blurRad="152400" dist="38100" dir="5400000" algn="ctr" rotWithShape="0">
              <a:srgbClr val="000000">
                <a:alpha val="22500"/>
              </a:srgbClr>
            </a:outerShdw>
          </a:effectLst>
        </p:grpSpPr>
        <p:sp>
          <p:nvSpPr>
            <p:cNvPr id="15" name="Rectangle 15"/>
            <p:cNvSpPr/>
            <p:nvPr/>
          </p:nvSpPr>
          <p:spPr>
            <a:xfrm>
              <a:off x="381000" y="1714500"/>
              <a:ext cx="2286000" cy="3429000"/>
            </a:xfrm>
            <a:prstGeom prst="roundRect">
              <a:avLst>
                <a:gd name="adj" fmla="val 6667"/>
              </a:avLst>
            </a:prstGeom>
            <a:solidFill>
              <a:srgbClr val="1E2452">
                <a:alpha val="95000"/>
              </a:srgbClr>
            </a:solidFill>
            <a:ln w="19050">
              <a:solidFill>
                <a:srgbClr val="667EEA">
                  <a:alpha val="95000"/>
                </a:srgbClr>
              </a:solidFill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6" name="Rectangle 16"/>
            <p:cNvSpPr/>
            <p:nvPr/>
          </p:nvSpPr>
          <p:spPr>
            <a:xfrm>
              <a:off x="381000" y="1714500"/>
              <a:ext cx="22860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667EEA"/>
                </a:gs>
                <a:gs pos="100000">
                  <a:srgbClr val="764BA2"/>
                </a:gs>
              </a:gsLst>
              <a:lin ang="2700000" scaled="1"/>
            </a:gra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7" name="Ellipse 17"/>
            <p:cNvSpPr/>
            <p:nvPr/>
          </p:nvSpPr>
          <p:spPr>
            <a:xfrm>
              <a:off x="1181100" y="1943100"/>
              <a:ext cx="685800" cy="685800"/>
            </a:xfrm>
            <a:prstGeom prst="ellipse">
              <a:avLst/>
            </a:prstGeom>
            <a:gradFill>
              <a:gsLst>
                <a:gs pos="0">
                  <a:srgbClr val="667EEA">
                    <a:alpha val="20000"/>
                  </a:srgbClr>
                </a:gs>
                <a:gs pos="100000">
                  <a:srgbClr val="764BA2">
                    <a:alpha val="20000"/>
                  </a:srgbClr>
                </a:gs>
              </a:gsLst>
              <a:lin ang="2700000" scaled="1"/>
            </a:gra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8" name="Ellipse 18"/>
            <p:cNvSpPr/>
            <p:nvPr/>
          </p:nvSpPr>
          <p:spPr>
            <a:xfrm>
              <a:off x="1257300" y="2019300"/>
              <a:ext cx="533400" cy="533400"/>
            </a:xfrm>
            <a:prstGeom prst="ellipse">
              <a:avLst/>
            </a:prstGeom>
            <a:noFill/>
            <a:ln w="19050">
              <a:solidFill>
                <a:srgbClr val="667EEA"/>
              </a:solidFill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9" name="Ellipse 19"/>
            <p:cNvSpPr/>
            <p:nvPr/>
          </p:nvSpPr>
          <p:spPr>
            <a:xfrm>
              <a:off x="1381125" y="2143125"/>
              <a:ext cx="190500" cy="190500"/>
            </a:xfrm>
            <a:prstGeom prst="ellipse">
              <a:avLst/>
            </a:prstGeom>
            <a:noFill/>
            <a:ln w="23812">
              <a:solidFill>
                <a:srgbClr val="667EEA"/>
              </a:solidFill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20" name="Line 20"/>
            <p:cNvSpPr/>
            <p:nvPr/>
          </p:nvSpPr>
          <p:spPr>
            <a:xfrm>
              <a:off x="1543050" y="23050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95250"/>
                  </a:lnTo>
                </a:path>
              </a:pathLst>
            </a:custGeom>
            <a:noFill/>
            <a:ln w="23812" cap="rnd">
              <a:solidFill>
                <a:srgbClr val="667E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02080" y="2202180"/>
              <a:ext cx="116453" cy="1219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667EEA"/>
                  </a:solidFill>
                  <a:latin typeface="Arial"/>
                  <a:ea typeface="Microsoft YaHei"/>
                  <a:cs typeface="Arial"/>
                </a:rPr>
                <a:t>Aa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61174" y="2752249"/>
              <a:ext cx="525653" cy="1981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67EEA"/>
                  </a:solidFill>
                  <a:latin typeface="Arial"/>
                  <a:ea typeface="Microsoft YaHei"/>
                  <a:cs typeface="Arial"/>
                </a:rPr>
                <a:t>STEP 01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96982" y="3012758"/>
              <a:ext cx="1054036" cy="33528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知识抽取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3956" y="3292316"/>
              <a:ext cx="1280089" cy="16764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892B0"/>
                  </a:solidFill>
                  <a:latin typeface="Arial"/>
                  <a:ea typeface="Microsoft YaHei"/>
                  <a:cs typeface="Arial"/>
                </a:rPr>
                <a:t>Knowledge Extraction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762000" y="35242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rgbClr val="667EEA">
                  <a:alpha val="30000"/>
                </a:srgbClr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571500" y="3753802"/>
              <a:ext cx="1089327" cy="213360"/>
              <a:chOff x="571500" y="3753802"/>
              <a:chExt cx="1089327" cy="21336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571500" y="3762375"/>
                <a:ext cx="114300" cy="114300"/>
              </a:xfrm>
              <a:prstGeom prst="roundRect">
                <a:avLst>
                  <a:gd name="adj" fmla="val 25000"/>
                </a:avLst>
              </a:prstGeom>
              <a:solidFill>
                <a:srgbClr val="667EEA">
                  <a:alpha val="60000"/>
                </a:srgbClr>
              </a:solidFill>
              <a:ln>
                <a:noFill/>
              </a:ln>
              <a:effectLst>
                <a:outerShdw blurRad="152400" dist="38100" dir="5400000" algn="ctr" rotWithShape="0">
                  <a:srgbClr val="000000">
                    <a:alpha val="22500"/>
                  </a:srgbClr>
                </a:outerShdw>
              </a:effectLst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67715" y="3753802"/>
                <a:ext cx="893112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52400" dist="38100" dir="5400000" algn="ctr" rotWithShape="0">
                  <a:srgbClr val="000000">
                    <a:alpha val="22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CD6F6"/>
                    </a:solidFill>
                    <a:latin typeface="Segoe UI"/>
                    <a:ea typeface="Microsoft YaHei"/>
                    <a:cs typeface="Segoe UI"/>
                  </a:rPr>
                  <a:t>NER实体识别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571500" y="4087178"/>
              <a:ext cx="836295" cy="213360"/>
              <a:chOff x="571500" y="4087178"/>
              <a:chExt cx="836295" cy="21336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571500" y="4095750"/>
                <a:ext cx="114300" cy="114300"/>
              </a:xfrm>
              <a:prstGeom prst="roundRect">
                <a:avLst>
                  <a:gd name="adj" fmla="val 25000"/>
                </a:avLst>
              </a:prstGeom>
              <a:solidFill>
                <a:srgbClr val="667EEA">
                  <a:alpha val="60000"/>
                </a:srgbClr>
              </a:solidFill>
              <a:ln>
                <a:noFill/>
              </a:ln>
              <a:effectLst>
                <a:outerShdw blurRad="152400" dist="38100" dir="5400000" algn="ctr" rotWithShape="0">
                  <a:srgbClr val="000000">
                    <a:alpha val="22500"/>
                  </a:srgbClr>
                </a:outerShdw>
              </a:effectLst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67715" y="4087178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52400" dist="38100" dir="5400000" algn="ctr" rotWithShape="0">
                  <a:srgbClr val="000000">
                    <a:alpha val="22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CD6F6"/>
                    </a:solidFill>
                    <a:latin typeface="Segoe UI"/>
                    <a:ea typeface="Microsoft YaHei"/>
                    <a:cs typeface="Segoe UI"/>
                  </a:rPr>
                  <a:t>关系抽取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71500" y="4420552"/>
              <a:ext cx="836295" cy="213360"/>
              <a:chOff x="571500" y="4420552"/>
              <a:chExt cx="836295" cy="21336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571500" y="4429125"/>
                <a:ext cx="114300" cy="114300"/>
              </a:xfrm>
              <a:prstGeom prst="roundRect">
                <a:avLst>
                  <a:gd name="adj" fmla="val 25000"/>
                </a:avLst>
              </a:prstGeom>
              <a:solidFill>
                <a:srgbClr val="667EEA">
                  <a:alpha val="60000"/>
                </a:srgbClr>
              </a:solidFill>
              <a:ln>
                <a:noFill/>
              </a:ln>
              <a:effectLst>
                <a:outerShdw blurRad="152400" dist="38100" dir="5400000" algn="ctr" rotWithShape="0">
                  <a:srgbClr val="000000">
                    <a:alpha val="22500"/>
                  </a:srgbClr>
                </a:outerShdw>
              </a:effectLst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67715" y="442055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52400" dist="38100" dir="5400000" algn="ctr" rotWithShape="0">
                  <a:srgbClr val="000000">
                    <a:alpha val="22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CD6F6"/>
                    </a:solidFill>
                    <a:latin typeface="Segoe UI"/>
                    <a:ea typeface="Microsoft YaHei"/>
                    <a:cs typeface="Segoe UI"/>
                  </a:rPr>
                  <a:t>属性抽取</a:t>
                </a:r>
              </a:p>
            </p:txBody>
          </p:sp>
        </p:grpSp>
        <p:sp>
          <p:nvSpPr>
            <p:cNvPr id="35" name="Ellipse 35"/>
            <p:cNvSpPr/>
            <p:nvPr/>
          </p:nvSpPr>
          <p:spPr>
            <a:xfrm>
              <a:off x="923925" y="4829175"/>
              <a:ext cx="57150" cy="57150"/>
            </a:xfrm>
            <a:prstGeom prst="ellipse">
              <a:avLst/>
            </a:prstGeom>
            <a:solidFill>
              <a:srgbClr val="667EEA">
                <a:alpha val="3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36" name="Ellipse 36"/>
            <p:cNvSpPr/>
            <p:nvPr/>
          </p:nvSpPr>
          <p:spPr>
            <a:xfrm>
              <a:off x="1114425" y="4829175"/>
              <a:ext cx="57150" cy="57150"/>
            </a:xfrm>
            <a:prstGeom prst="ellipse">
              <a:avLst/>
            </a:prstGeom>
            <a:solidFill>
              <a:srgbClr val="667EEA">
                <a:alpha val="5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37" name="Ellipse 37"/>
            <p:cNvSpPr/>
            <p:nvPr/>
          </p:nvSpPr>
          <p:spPr>
            <a:xfrm>
              <a:off x="1304925" y="4829175"/>
              <a:ext cx="57150" cy="57150"/>
            </a:xfrm>
            <a:prstGeom prst="ellipse">
              <a:avLst/>
            </a:prstGeom>
            <a:solidFill>
              <a:srgbClr val="667EEA">
                <a:alpha val="7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38" name="Ellipse 38"/>
            <p:cNvSpPr/>
            <p:nvPr/>
          </p:nvSpPr>
          <p:spPr>
            <a:xfrm>
              <a:off x="1495425" y="4829175"/>
              <a:ext cx="57150" cy="57150"/>
            </a:xfrm>
            <a:prstGeom prst="ellipse">
              <a:avLst/>
            </a:prstGeom>
            <a:solidFill>
              <a:srgbClr val="667EEA">
                <a:alpha val="9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39" name="Ellipse 39"/>
            <p:cNvSpPr/>
            <p:nvPr/>
          </p:nvSpPr>
          <p:spPr>
            <a:xfrm>
              <a:off x="1685925" y="4829175"/>
              <a:ext cx="57150" cy="57150"/>
            </a:xfrm>
            <a:prstGeom prst="ellipse">
              <a:avLst/>
            </a:prstGeom>
            <a:solidFill>
              <a:srgbClr val="667EEA">
                <a:alpha val="7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40" name="Ellipse 40"/>
            <p:cNvSpPr/>
            <p:nvPr/>
          </p:nvSpPr>
          <p:spPr>
            <a:xfrm>
              <a:off x="1876425" y="4829175"/>
              <a:ext cx="57150" cy="57150"/>
            </a:xfrm>
            <a:prstGeom prst="ellipse">
              <a:avLst/>
            </a:prstGeom>
            <a:solidFill>
              <a:srgbClr val="667EEA">
                <a:alpha val="5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41" name="Ellipse 41"/>
            <p:cNvSpPr/>
            <p:nvPr/>
          </p:nvSpPr>
          <p:spPr>
            <a:xfrm>
              <a:off x="2066925" y="4829175"/>
              <a:ext cx="57150" cy="57150"/>
            </a:xfrm>
            <a:prstGeom prst="ellipse">
              <a:avLst/>
            </a:prstGeom>
            <a:solidFill>
              <a:srgbClr val="667EEA">
                <a:alpha val="3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</p:grpSp>
      <p:grpSp>
        <p:nvGrpSpPr>
          <p:cNvPr id="70" name="Group 70"/>
          <p:cNvGrpSpPr/>
          <p:nvPr/>
        </p:nvGrpSpPr>
        <p:grpSpPr>
          <a:xfrm>
            <a:off x="2857500" y="1714500"/>
            <a:ext cx="2286000" cy="3429000"/>
            <a:chOff x="2857500" y="1714500"/>
            <a:chExt cx="2286000" cy="3429000"/>
          </a:xfrm>
          <a:effectLst>
            <a:outerShdw blurRad="152400" dist="38100" dir="5400000" algn="ctr" rotWithShape="0">
              <a:srgbClr val="000000">
                <a:alpha val="22500"/>
              </a:srgbClr>
            </a:outerShdw>
          </a:effectLst>
        </p:grpSpPr>
        <p:sp>
          <p:nvSpPr>
            <p:cNvPr id="43" name="Rectangle 43"/>
            <p:cNvSpPr/>
            <p:nvPr/>
          </p:nvSpPr>
          <p:spPr>
            <a:xfrm>
              <a:off x="2857500" y="1714500"/>
              <a:ext cx="2286000" cy="3429000"/>
            </a:xfrm>
            <a:prstGeom prst="roundRect">
              <a:avLst>
                <a:gd name="adj" fmla="val 6667"/>
              </a:avLst>
            </a:prstGeom>
            <a:solidFill>
              <a:srgbClr val="1E2452">
                <a:alpha val="95000"/>
              </a:srgbClr>
            </a:solidFill>
            <a:ln w="19050">
              <a:solidFill>
                <a:srgbClr val="F5576C">
                  <a:alpha val="95000"/>
                </a:srgbClr>
              </a:solidFill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44" name="Rectangle 44"/>
            <p:cNvSpPr/>
            <p:nvPr/>
          </p:nvSpPr>
          <p:spPr>
            <a:xfrm>
              <a:off x="2857500" y="1714500"/>
              <a:ext cx="22860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093FB"/>
                </a:gs>
                <a:gs pos="100000">
                  <a:srgbClr val="F5576C"/>
                </a:gs>
              </a:gsLst>
              <a:lin ang="2700000" scaled="1"/>
            </a:gra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45" name="Ellipse 45"/>
            <p:cNvSpPr/>
            <p:nvPr/>
          </p:nvSpPr>
          <p:spPr>
            <a:xfrm>
              <a:off x="3657600" y="1943100"/>
              <a:ext cx="685800" cy="685800"/>
            </a:xfrm>
            <a:prstGeom prst="ellipse">
              <a:avLst/>
            </a:prstGeom>
            <a:solidFill>
              <a:srgbClr val="F5576C">
                <a:alpha val="2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46" name="Ellipse 46"/>
            <p:cNvSpPr/>
            <p:nvPr/>
          </p:nvSpPr>
          <p:spPr>
            <a:xfrm>
              <a:off x="3733800" y="2019300"/>
              <a:ext cx="533400" cy="533400"/>
            </a:xfrm>
            <a:prstGeom prst="ellipse">
              <a:avLst/>
            </a:prstGeom>
            <a:noFill/>
            <a:ln w="19050">
              <a:solidFill>
                <a:srgbClr val="F5576C"/>
              </a:solidFill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47" name="Ellipse 47"/>
            <p:cNvSpPr/>
            <p:nvPr/>
          </p:nvSpPr>
          <p:spPr>
            <a:xfrm>
              <a:off x="3829050" y="2171700"/>
              <a:ext cx="190500" cy="190500"/>
            </a:xfrm>
            <a:prstGeom prst="ellipse">
              <a:avLst/>
            </a:prstGeom>
            <a:noFill/>
            <a:ln w="19050">
              <a:solidFill>
                <a:srgbClr val="F5576C"/>
              </a:solidFill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48" name="Ellipse 48"/>
            <p:cNvSpPr/>
            <p:nvPr/>
          </p:nvSpPr>
          <p:spPr>
            <a:xfrm>
              <a:off x="3981450" y="2171700"/>
              <a:ext cx="190500" cy="190500"/>
            </a:xfrm>
            <a:prstGeom prst="ellipse">
              <a:avLst/>
            </a:prstGeom>
            <a:noFill/>
            <a:ln w="19050">
              <a:solidFill>
                <a:srgbClr val="F5576C"/>
              </a:solidFill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49" name="TextBox 49"/>
            <p:cNvSpPr txBox="1"/>
            <p:nvPr/>
          </p:nvSpPr>
          <p:spPr>
            <a:xfrm>
              <a:off x="3971925" y="2224088"/>
              <a:ext cx="82308" cy="15240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F5576C"/>
                  </a:solidFill>
                  <a:latin typeface="Arial"/>
                  <a:ea typeface="Microsoft YaHei"/>
                  <a:cs typeface="Arial"/>
                </a:rPr>
                <a:t>∩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718984" y="2752249"/>
              <a:ext cx="563032" cy="1981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5576C"/>
                  </a:solidFill>
                  <a:latin typeface="Arial"/>
                  <a:ea typeface="Microsoft YaHei"/>
                  <a:cs typeface="Arial"/>
                </a:rPr>
                <a:t>STEP 02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473482" y="3012758"/>
              <a:ext cx="1054036" cy="33528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知识融合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492996" y="3292316"/>
              <a:ext cx="1015008" cy="16764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892B0"/>
                  </a:solidFill>
                  <a:latin typeface="Arial"/>
                  <a:ea typeface="Microsoft YaHei"/>
                  <a:cs typeface="Arial"/>
                </a:rPr>
                <a:t>Knowledge Fusion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3238500" y="35242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rgbClr val="F5576C">
                  <a:alpha val="30000"/>
                </a:srgbClr>
              </a:solidFill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3048000" y="3753802"/>
              <a:ext cx="836295" cy="213360"/>
              <a:chOff x="3048000" y="3753802"/>
              <a:chExt cx="836295" cy="21336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3048000" y="3762375"/>
                <a:ext cx="114300" cy="114300"/>
              </a:xfrm>
              <a:prstGeom prst="roundRect">
                <a:avLst>
                  <a:gd name="adj" fmla="val 25000"/>
                </a:avLst>
              </a:prstGeom>
              <a:solidFill>
                <a:srgbClr val="F5576C">
                  <a:alpha val="60000"/>
                </a:srgbClr>
              </a:solidFill>
              <a:ln>
                <a:noFill/>
              </a:ln>
              <a:effectLst>
                <a:outerShdw blurRad="152400" dist="38100" dir="5400000" algn="ctr" rotWithShape="0">
                  <a:srgbClr val="000000">
                    <a:alpha val="22500"/>
                  </a:srgbClr>
                </a:outerShdw>
              </a:effectLst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3244215" y="375380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52400" dist="38100" dir="5400000" algn="ctr" rotWithShape="0">
                  <a:srgbClr val="000000">
                    <a:alpha val="22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CD6F6"/>
                    </a:solidFill>
                    <a:latin typeface="Segoe UI"/>
                    <a:ea typeface="Microsoft YaHei"/>
                    <a:cs typeface="Segoe UI"/>
                  </a:rPr>
                  <a:t>实体对齐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3048000" y="4087178"/>
              <a:ext cx="836295" cy="213360"/>
              <a:chOff x="3048000" y="4087178"/>
              <a:chExt cx="836295" cy="213360"/>
            </a:xfrm>
          </p:grpSpPr>
          <p:sp>
            <p:nvSpPr>
              <p:cNvPr id="57" name="Rectangle 57"/>
              <p:cNvSpPr/>
              <p:nvPr/>
            </p:nvSpPr>
            <p:spPr>
              <a:xfrm>
                <a:off x="3048000" y="4095750"/>
                <a:ext cx="114300" cy="114300"/>
              </a:xfrm>
              <a:prstGeom prst="roundRect">
                <a:avLst>
                  <a:gd name="adj" fmla="val 25000"/>
                </a:avLst>
              </a:prstGeom>
              <a:solidFill>
                <a:srgbClr val="F5576C">
                  <a:alpha val="60000"/>
                </a:srgbClr>
              </a:solidFill>
              <a:ln>
                <a:noFill/>
              </a:ln>
              <a:effectLst>
                <a:outerShdw blurRad="152400" dist="38100" dir="5400000" algn="ctr" rotWithShape="0">
                  <a:srgbClr val="000000">
                    <a:alpha val="22500"/>
                  </a:srgbClr>
                </a:outerShdw>
              </a:effectLst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3244215" y="4087178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52400" dist="38100" dir="5400000" algn="ctr" rotWithShape="0">
                  <a:srgbClr val="000000">
                    <a:alpha val="22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CD6F6"/>
                    </a:solidFill>
                    <a:latin typeface="Segoe UI"/>
                    <a:ea typeface="Microsoft YaHei"/>
                    <a:cs typeface="Segoe UI"/>
                  </a:rPr>
                  <a:t>共指消解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3048000" y="4420552"/>
              <a:ext cx="836295" cy="213360"/>
              <a:chOff x="3048000" y="4420552"/>
              <a:chExt cx="836295" cy="213360"/>
            </a:xfrm>
          </p:grpSpPr>
          <p:sp>
            <p:nvSpPr>
              <p:cNvPr id="60" name="Rectangle 60"/>
              <p:cNvSpPr/>
              <p:nvPr/>
            </p:nvSpPr>
            <p:spPr>
              <a:xfrm>
                <a:off x="3048000" y="4429125"/>
                <a:ext cx="114300" cy="114300"/>
              </a:xfrm>
              <a:prstGeom prst="roundRect">
                <a:avLst>
                  <a:gd name="adj" fmla="val 25000"/>
                </a:avLst>
              </a:prstGeom>
              <a:solidFill>
                <a:srgbClr val="F5576C">
                  <a:alpha val="60000"/>
                </a:srgbClr>
              </a:solidFill>
              <a:ln>
                <a:noFill/>
              </a:ln>
              <a:effectLst>
                <a:outerShdw blurRad="152400" dist="38100" dir="5400000" algn="ctr" rotWithShape="0">
                  <a:srgbClr val="000000">
                    <a:alpha val="22500"/>
                  </a:srgbClr>
                </a:outerShdw>
              </a:effectLst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3244215" y="442055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52400" dist="38100" dir="5400000" algn="ctr" rotWithShape="0">
                  <a:srgbClr val="000000">
                    <a:alpha val="22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CD6F6"/>
                    </a:solidFill>
                    <a:latin typeface="Segoe UI"/>
                    <a:ea typeface="Microsoft YaHei"/>
                    <a:cs typeface="Segoe UI"/>
                  </a:rPr>
                  <a:t>冲突消解</a:t>
                </a:r>
              </a:p>
            </p:txBody>
          </p:sp>
        </p:grpSp>
        <p:sp>
          <p:nvSpPr>
            <p:cNvPr id="63" name="Ellipse 63"/>
            <p:cNvSpPr/>
            <p:nvPr/>
          </p:nvSpPr>
          <p:spPr>
            <a:xfrm>
              <a:off x="3400425" y="4829175"/>
              <a:ext cx="57150" cy="57150"/>
            </a:xfrm>
            <a:prstGeom prst="ellipse">
              <a:avLst/>
            </a:prstGeom>
            <a:solidFill>
              <a:srgbClr val="F5576C">
                <a:alpha val="3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64" name="Ellipse 64"/>
            <p:cNvSpPr/>
            <p:nvPr/>
          </p:nvSpPr>
          <p:spPr>
            <a:xfrm>
              <a:off x="3590925" y="4829175"/>
              <a:ext cx="57150" cy="57150"/>
            </a:xfrm>
            <a:prstGeom prst="ellipse">
              <a:avLst/>
            </a:prstGeom>
            <a:solidFill>
              <a:srgbClr val="F5576C">
                <a:alpha val="5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65" name="Ellipse 65"/>
            <p:cNvSpPr/>
            <p:nvPr/>
          </p:nvSpPr>
          <p:spPr>
            <a:xfrm>
              <a:off x="3781425" y="4829175"/>
              <a:ext cx="57150" cy="57150"/>
            </a:xfrm>
            <a:prstGeom prst="ellipse">
              <a:avLst/>
            </a:prstGeom>
            <a:solidFill>
              <a:srgbClr val="F5576C">
                <a:alpha val="7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66" name="Ellipse 66"/>
            <p:cNvSpPr/>
            <p:nvPr/>
          </p:nvSpPr>
          <p:spPr>
            <a:xfrm>
              <a:off x="3971925" y="4829175"/>
              <a:ext cx="57150" cy="57150"/>
            </a:xfrm>
            <a:prstGeom prst="ellipse">
              <a:avLst/>
            </a:prstGeom>
            <a:solidFill>
              <a:srgbClr val="F5576C">
                <a:alpha val="9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67" name="Ellipse 67"/>
            <p:cNvSpPr/>
            <p:nvPr/>
          </p:nvSpPr>
          <p:spPr>
            <a:xfrm>
              <a:off x="4162425" y="4829175"/>
              <a:ext cx="57150" cy="57150"/>
            </a:xfrm>
            <a:prstGeom prst="ellipse">
              <a:avLst/>
            </a:prstGeom>
            <a:solidFill>
              <a:srgbClr val="F5576C">
                <a:alpha val="7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68" name="Ellipse 68"/>
            <p:cNvSpPr/>
            <p:nvPr/>
          </p:nvSpPr>
          <p:spPr>
            <a:xfrm>
              <a:off x="4352925" y="4829175"/>
              <a:ext cx="57150" cy="57150"/>
            </a:xfrm>
            <a:prstGeom prst="ellipse">
              <a:avLst/>
            </a:prstGeom>
            <a:solidFill>
              <a:srgbClr val="F5576C">
                <a:alpha val="5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69" name="Ellipse 69"/>
            <p:cNvSpPr/>
            <p:nvPr/>
          </p:nvSpPr>
          <p:spPr>
            <a:xfrm>
              <a:off x="4543425" y="4829175"/>
              <a:ext cx="57150" cy="57150"/>
            </a:xfrm>
            <a:prstGeom prst="ellipse">
              <a:avLst/>
            </a:prstGeom>
            <a:solidFill>
              <a:srgbClr val="F5576C">
                <a:alpha val="3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</p:grpSp>
      <p:grpSp>
        <p:nvGrpSpPr>
          <p:cNvPr id="98" name="Group 98"/>
          <p:cNvGrpSpPr/>
          <p:nvPr/>
        </p:nvGrpSpPr>
        <p:grpSpPr>
          <a:xfrm>
            <a:off x="5334000" y="1714500"/>
            <a:ext cx="2286000" cy="3429000"/>
            <a:chOff x="5334000" y="1714500"/>
            <a:chExt cx="2286000" cy="3429000"/>
          </a:xfrm>
          <a:effectLst>
            <a:outerShdw blurRad="152400" dist="38100" dir="5400000" algn="ctr" rotWithShape="0">
              <a:srgbClr val="000000">
                <a:alpha val="22500"/>
              </a:srgbClr>
            </a:outerShdw>
          </a:effectLst>
        </p:grpSpPr>
        <p:sp>
          <p:nvSpPr>
            <p:cNvPr id="71" name="Rectangle 71"/>
            <p:cNvSpPr/>
            <p:nvPr/>
          </p:nvSpPr>
          <p:spPr>
            <a:xfrm>
              <a:off x="5334000" y="1714500"/>
              <a:ext cx="2286000" cy="3429000"/>
            </a:xfrm>
            <a:prstGeom prst="roundRect">
              <a:avLst>
                <a:gd name="adj" fmla="val 6667"/>
              </a:avLst>
            </a:prstGeom>
            <a:solidFill>
              <a:srgbClr val="1E2452">
                <a:alpha val="95000"/>
              </a:srgbClr>
            </a:solidFill>
            <a:ln w="19050">
              <a:solidFill>
                <a:srgbClr val="4FACFE">
                  <a:alpha val="95000"/>
                </a:srgbClr>
              </a:solidFill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72" name="Rectangle 72"/>
            <p:cNvSpPr/>
            <p:nvPr/>
          </p:nvSpPr>
          <p:spPr>
            <a:xfrm>
              <a:off x="5334000" y="1714500"/>
              <a:ext cx="22860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4FACFE"/>
                </a:gs>
                <a:gs pos="100000">
                  <a:srgbClr val="00F2FE"/>
                </a:gs>
              </a:gsLst>
              <a:lin ang="2700000" scaled="1"/>
            </a:gra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73" name="Ellipse 73"/>
            <p:cNvSpPr/>
            <p:nvPr/>
          </p:nvSpPr>
          <p:spPr>
            <a:xfrm>
              <a:off x="6134100" y="1943100"/>
              <a:ext cx="685800" cy="685800"/>
            </a:xfrm>
            <a:prstGeom prst="ellipse">
              <a:avLst/>
            </a:prstGeom>
            <a:solidFill>
              <a:srgbClr val="4FACFE">
                <a:alpha val="2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74" name="Ellipse 74"/>
            <p:cNvSpPr/>
            <p:nvPr/>
          </p:nvSpPr>
          <p:spPr>
            <a:xfrm>
              <a:off x="6210300" y="2019300"/>
              <a:ext cx="533400" cy="533400"/>
            </a:xfrm>
            <a:prstGeom prst="ellipse">
              <a:avLst/>
            </a:prstGeom>
            <a:noFill/>
            <a:ln w="19050">
              <a:solidFill>
                <a:srgbClr val="4FACFE"/>
              </a:solidFill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75" name="Ellipse 75"/>
            <p:cNvSpPr/>
            <p:nvPr/>
          </p:nvSpPr>
          <p:spPr>
            <a:xfrm>
              <a:off x="6343650" y="2143125"/>
              <a:ext cx="266700" cy="95250"/>
            </a:xfrm>
            <a:prstGeom prst="ellipse">
              <a:avLst/>
            </a:prstGeom>
            <a:noFill/>
            <a:ln w="19050">
              <a:solidFill>
                <a:srgbClr val="4FACFE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6343650" y="2190750"/>
              <a:ext cx="266700" cy="219075"/>
            </a:xfrm>
            <a:custGeom>
              <a:avLst/>
              <a:gdLst/>
              <a:ahLst/>
              <a:cxnLst/>
              <a:rect l="l" t="t" r="r" b="b"/>
              <a:pathLst>
                <a:path w="266700" h="219075">
                  <a:moveTo>
                    <a:pt x="0" y="0"/>
                  </a:moveTo>
                  <a:lnTo>
                    <a:pt x="0" y="171450"/>
                  </a:lnTo>
                  <a:cubicBezTo>
                    <a:pt x="0" y="203200"/>
                    <a:pt x="44450" y="219075"/>
                    <a:pt x="133350" y="219075"/>
                  </a:cubicBezTo>
                  <a:cubicBezTo>
                    <a:pt x="222250" y="219075"/>
                    <a:pt x="266700" y="203200"/>
                    <a:pt x="266700" y="171450"/>
                  </a:cubicBezTo>
                  <a:lnTo>
                    <a:pt x="266700" y="0"/>
                  </a:lnTo>
                </a:path>
              </a:pathLst>
            </a:custGeom>
            <a:noFill/>
            <a:ln w="19050">
              <a:solidFill>
                <a:srgbClr val="4FACFE"/>
              </a:solidFill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77" name="Freeform 77"/>
            <p:cNvSpPr/>
            <p:nvPr/>
          </p:nvSpPr>
          <p:spPr>
            <a:xfrm>
              <a:off x="6343650" y="2276475"/>
              <a:ext cx="266700" cy="47625"/>
            </a:xfrm>
            <a:custGeom>
              <a:avLst/>
              <a:gdLst/>
              <a:ahLst/>
              <a:cxnLst/>
              <a:rect l="l" t="t" r="r" b="b"/>
              <a:pathLst>
                <a:path w="266700" h="47625">
                  <a:moveTo>
                    <a:pt x="0" y="0"/>
                  </a:moveTo>
                  <a:cubicBezTo>
                    <a:pt x="0" y="31750"/>
                    <a:pt x="44450" y="47625"/>
                    <a:pt x="133350" y="47625"/>
                  </a:cubicBezTo>
                  <a:cubicBezTo>
                    <a:pt x="222250" y="47625"/>
                    <a:pt x="266700" y="31750"/>
                    <a:pt x="266700" y="0"/>
                  </a:cubicBezTo>
                </a:path>
              </a:pathLst>
            </a:custGeom>
            <a:noFill/>
            <a:ln w="14288">
              <a:solidFill>
                <a:srgbClr val="4FACFE"/>
              </a:solidFill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78" name="TextBox 78"/>
            <p:cNvSpPr txBox="1"/>
            <p:nvPr/>
          </p:nvSpPr>
          <p:spPr>
            <a:xfrm>
              <a:off x="6195484" y="2752249"/>
              <a:ext cx="563032" cy="1981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FACFE"/>
                  </a:solidFill>
                  <a:latin typeface="Arial"/>
                  <a:ea typeface="Microsoft YaHei"/>
                  <a:cs typeface="Arial"/>
                </a:rPr>
                <a:t>STEP 03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949982" y="3012758"/>
              <a:ext cx="1054036" cy="33528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知识存储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921300" y="3292316"/>
              <a:ext cx="1111401" cy="16764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892B0"/>
                  </a:solidFill>
                  <a:latin typeface="Arial"/>
                  <a:ea typeface="Microsoft YaHei"/>
                  <a:cs typeface="Arial"/>
                </a:rPr>
                <a:t>Knowledge Storage</a:t>
              </a:r>
            </a:p>
          </p:txBody>
        </p:sp>
        <p:sp>
          <p:nvSpPr>
            <p:cNvPr id="81" name="Line 81"/>
            <p:cNvSpPr/>
            <p:nvPr/>
          </p:nvSpPr>
          <p:spPr>
            <a:xfrm>
              <a:off x="5715000" y="35242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rgbClr val="4FACFE">
                  <a:alpha val="30000"/>
                </a:srgbClr>
              </a:solidFill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5524500" y="3753802"/>
              <a:ext cx="1143000" cy="213360"/>
              <a:chOff x="5524500" y="3753802"/>
              <a:chExt cx="1143000" cy="213360"/>
            </a:xfrm>
          </p:grpSpPr>
          <p:sp>
            <p:nvSpPr>
              <p:cNvPr id="82" name="Rectangle 82"/>
              <p:cNvSpPr/>
              <p:nvPr/>
            </p:nvSpPr>
            <p:spPr>
              <a:xfrm>
                <a:off x="5524500" y="3762375"/>
                <a:ext cx="114300" cy="114300"/>
              </a:xfrm>
              <a:prstGeom prst="roundRect">
                <a:avLst>
                  <a:gd name="adj" fmla="val 25000"/>
                </a:avLst>
              </a:prstGeom>
              <a:solidFill>
                <a:srgbClr val="4FACFE">
                  <a:alpha val="60000"/>
                </a:srgbClr>
              </a:solidFill>
              <a:ln>
                <a:noFill/>
              </a:ln>
              <a:effectLst>
                <a:outerShdw blurRad="152400" dist="38100" dir="5400000" algn="ctr" rotWithShape="0">
                  <a:srgbClr val="000000">
                    <a:alpha val="22500"/>
                  </a:srgbClr>
                </a:outerShdw>
              </a:effectLst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5720715" y="3753802"/>
                <a:ext cx="946785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52400" dist="38100" dir="5400000" algn="ctr" rotWithShape="0">
                  <a:srgbClr val="000000">
                    <a:alpha val="22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CD6F6"/>
                    </a:solidFill>
                    <a:latin typeface="Segoe UI"/>
                    <a:ea typeface="Microsoft YaHei"/>
                    <a:cs typeface="Segoe UI"/>
                  </a:rPr>
                  <a:t>图数据库建模</a:t>
                </a:r>
              </a:p>
            </p:txBody>
          </p:sp>
        </p:grpSp>
        <p:grpSp>
          <p:nvGrpSpPr>
            <p:cNvPr id="87" name="Group 87"/>
            <p:cNvGrpSpPr/>
            <p:nvPr/>
          </p:nvGrpSpPr>
          <p:grpSpPr>
            <a:xfrm>
              <a:off x="5524500" y="4095274"/>
              <a:ext cx="1524882" cy="198120"/>
              <a:chOff x="5524500" y="4095274"/>
              <a:chExt cx="1524882" cy="198120"/>
            </a:xfrm>
          </p:grpSpPr>
          <p:sp>
            <p:nvSpPr>
              <p:cNvPr id="85" name="Rectangle 85"/>
              <p:cNvSpPr/>
              <p:nvPr/>
            </p:nvSpPr>
            <p:spPr>
              <a:xfrm>
                <a:off x="5524500" y="4095750"/>
                <a:ext cx="114300" cy="114300"/>
              </a:xfrm>
              <a:prstGeom prst="roundRect">
                <a:avLst>
                  <a:gd name="adj" fmla="val 25000"/>
                </a:avLst>
              </a:prstGeom>
              <a:solidFill>
                <a:srgbClr val="4FACFE">
                  <a:alpha val="60000"/>
                </a:srgbClr>
              </a:solidFill>
              <a:ln>
                <a:noFill/>
              </a:ln>
              <a:effectLst>
                <a:outerShdw blurRad="152400" dist="38100" dir="5400000" algn="ctr" rotWithShape="0">
                  <a:srgbClr val="000000">
                    <a:alpha val="22500"/>
                  </a:srgbClr>
                </a:outerShdw>
              </a:effectLst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5721668" y="4095274"/>
                <a:ext cx="1327714" cy="1981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52400" dist="38100" dir="5400000" algn="ctr" rotWithShape="0">
                  <a:srgbClr val="000000">
                    <a:alpha val="22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CD6F6"/>
                    </a:solidFill>
                    <a:latin typeface="Segoe UI"/>
                    <a:ea typeface="Microsoft YaHei"/>
                    <a:cs typeface="Segoe UI"/>
                  </a:rPr>
                  <a:t>Neo4j / JanusGraph</a:t>
                </a:r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5524500" y="4420552"/>
              <a:ext cx="1066324" cy="213360"/>
              <a:chOff x="5524500" y="4420552"/>
              <a:chExt cx="1066324" cy="213360"/>
            </a:xfrm>
          </p:grpSpPr>
          <p:sp>
            <p:nvSpPr>
              <p:cNvPr id="88" name="Rectangle 88"/>
              <p:cNvSpPr/>
              <p:nvPr/>
            </p:nvSpPr>
            <p:spPr>
              <a:xfrm>
                <a:off x="5524500" y="4429125"/>
                <a:ext cx="114300" cy="114300"/>
              </a:xfrm>
              <a:prstGeom prst="roundRect">
                <a:avLst>
                  <a:gd name="adj" fmla="val 25000"/>
                </a:avLst>
              </a:prstGeom>
              <a:solidFill>
                <a:srgbClr val="4FACFE">
                  <a:alpha val="60000"/>
                </a:srgbClr>
              </a:solidFill>
              <a:ln>
                <a:noFill/>
              </a:ln>
              <a:effectLst>
                <a:outerShdw blurRad="152400" dist="38100" dir="5400000" algn="ctr" rotWithShape="0">
                  <a:srgbClr val="000000">
                    <a:alpha val="22500"/>
                  </a:srgbClr>
                </a:outerShdw>
              </a:effectLst>
            </p:spPr>
          </p:sp>
          <p:sp>
            <p:nvSpPr>
              <p:cNvPr id="89" name="TextBox 89"/>
              <p:cNvSpPr txBox="1"/>
              <p:nvPr/>
            </p:nvSpPr>
            <p:spPr>
              <a:xfrm>
                <a:off x="5720715" y="4420552"/>
                <a:ext cx="870109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52400" dist="38100" dir="5400000" algn="ctr" rotWithShape="0">
                  <a:srgbClr val="000000">
                    <a:alpha val="22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CD6F6"/>
                    </a:solidFill>
                    <a:latin typeface="Segoe UI"/>
                    <a:ea typeface="Microsoft YaHei"/>
                    <a:cs typeface="Segoe UI"/>
                  </a:rPr>
                  <a:t>Schema设计</a:t>
                </a:r>
              </a:p>
            </p:txBody>
          </p:sp>
        </p:grpSp>
        <p:sp>
          <p:nvSpPr>
            <p:cNvPr id="91" name="Ellipse 91"/>
            <p:cNvSpPr/>
            <p:nvPr/>
          </p:nvSpPr>
          <p:spPr>
            <a:xfrm>
              <a:off x="5876925" y="4829175"/>
              <a:ext cx="57150" cy="57150"/>
            </a:xfrm>
            <a:prstGeom prst="ellipse">
              <a:avLst/>
            </a:prstGeom>
            <a:solidFill>
              <a:srgbClr val="4FACFE">
                <a:alpha val="3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92" name="Ellipse 92"/>
            <p:cNvSpPr/>
            <p:nvPr/>
          </p:nvSpPr>
          <p:spPr>
            <a:xfrm>
              <a:off x="6067425" y="4829175"/>
              <a:ext cx="57150" cy="57150"/>
            </a:xfrm>
            <a:prstGeom prst="ellipse">
              <a:avLst/>
            </a:prstGeom>
            <a:solidFill>
              <a:srgbClr val="4FACFE">
                <a:alpha val="5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93" name="Ellipse 93"/>
            <p:cNvSpPr/>
            <p:nvPr/>
          </p:nvSpPr>
          <p:spPr>
            <a:xfrm>
              <a:off x="6257925" y="4829175"/>
              <a:ext cx="57150" cy="57150"/>
            </a:xfrm>
            <a:prstGeom prst="ellipse">
              <a:avLst/>
            </a:prstGeom>
            <a:solidFill>
              <a:srgbClr val="4FACFE">
                <a:alpha val="7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94" name="Ellipse 94"/>
            <p:cNvSpPr/>
            <p:nvPr/>
          </p:nvSpPr>
          <p:spPr>
            <a:xfrm>
              <a:off x="6448425" y="4829175"/>
              <a:ext cx="57150" cy="57150"/>
            </a:xfrm>
            <a:prstGeom prst="ellipse">
              <a:avLst/>
            </a:prstGeom>
            <a:solidFill>
              <a:srgbClr val="4FACFE">
                <a:alpha val="9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95" name="Ellipse 95"/>
            <p:cNvSpPr/>
            <p:nvPr/>
          </p:nvSpPr>
          <p:spPr>
            <a:xfrm>
              <a:off x="6638925" y="4829175"/>
              <a:ext cx="57150" cy="57150"/>
            </a:xfrm>
            <a:prstGeom prst="ellipse">
              <a:avLst/>
            </a:prstGeom>
            <a:solidFill>
              <a:srgbClr val="4FACFE">
                <a:alpha val="7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96" name="Ellipse 96"/>
            <p:cNvSpPr/>
            <p:nvPr/>
          </p:nvSpPr>
          <p:spPr>
            <a:xfrm>
              <a:off x="6829425" y="4829175"/>
              <a:ext cx="57150" cy="57150"/>
            </a:xfrm>
            <a:prstGeom prst="ellipse">
              <a:avLst/>
            </a:prstGeom>
            <a:solidFill>
              <a:srgbClr val="4FACFE">
                <a:alpha val="5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97" name="Ellipse 97"/>
            <p:cNvSpPr/>
            <p:nvPr/>
          </p:nvSpPr>
          <p:spPr>
            <a:xfrm>
              <a:off x="7019925" y="4829175"/>
              <a:ext cx="57150" cy="57150"/>
            </a:xfrm>
            <a:prstGeom prst="ellipse">
              <a:avLst/>
            </a:prstGeom>
            <a:solidFill>
              <a:srgbClr val="4FACFE">
                <a:alpha val="3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</p:grpSp>
      <p:grpSp>
        <p:nvGrpSpPr>
          <p:cNvPr id="130" name="Group 130"/>
          <p:cNvGrpSpPr/>
          <p:nvPr/>
        </p:nvGrpSpPr>
        <p:grpSpPr>
          <a:xfrm>
            <a:off x="7810500" y="1714500"/>
            <a:ext cx="2286000" cy="3429000"/>
            <a:chOff x="7810500" y="1714500"/>
            <a:chExt cx="2286000" cy="3429000"/>
          </a:xfrm>
          <a:effectLst>
            <a:outerShdw blurRad="152400" dist="38100" dir="5400000" algn="ctr" rotWithShape="0">
              <a:srgbClr val="000000">
                <a:alpha val="22500"/>
              </a:srgbClr>
            </a:outerShdw>
          </a:effectLst>
        </p:grpSpPr>
        <p:sp>
          <p:nvSpPr>
            <p:cNvPr id="99" name="Rectangle 99"/>
            <p:cNvSpPr/>
            <p:nvPr/>
          </p:nvSpPr>
          <p:spPr>
            <a:xfrm>
              <a:off x="7810500" y="1714500"/>
              <a:ext cx="2286000" cy="3429000"/>
            </a:xfrm>
            <a:prstGeom prst="roundRect">
              <a:avLst>
                <a:gd name="adj" fmla="val 6667"/>
              </a:avLst>
            </a:prstGeom>
            <a:solidFill>
              <a:srgbClr val="1E2452">
                <a:alpha val="95000"/>
              </a:srgbClr>
            </a:solidFill>
            <a:ln w="19050">
              <a:solidFill>
                <a:srgbClr val="43E97B">
                  <a:alpha val="95000"/>
                </a:srgbClr>
              </a:solidFill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00" name="Rectangle 100"/>
            <p:cNvSpPr/>
            <p:nvPr/>
          </p:nvSpPr>
          <p:spPr>
            <a:xfrm>
              <a:off x="7810500" y="1714500"/>
              <a:ext cx="22860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43E97B"/>
                </a:gs>
                <a:gs pos="100000">
                  <a:srgbClr val="38F9D7"/>
                </a:gs>
              </a:gsLst>
              <a:lin ang="2700000" scaled="1"/>
            </a:gra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01" name="Ellipse 101"/>
            <p:cNvSpPr/>
            <p:nvPr/>
          </p:nvSpPr>
          <p:spPr>
            <a:xfrm>
              <a:off x="8610600" y="1943100"/>
              <a:ext cx="685800" cy="685800"/>
            </a:xfrm>
            <a:prstGeom prst="ellipse">
              <a:avLst/>
            </a:prstGeom>
            <a:solidFill>
              <a:srgbClr val="43E97B">
                <a:alpha val="2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02" name="Ellipse 102"/>
            <p:cNvSpPr/>
            <p:nvPr/>
          </p:nvSpPr>
          <p:spPr>
            <a:xfrm>
              <a:off x="8686800" y="2019300"/>
              <a:ext cx="533400" cy="533400"/>
            </a:xfrm>
            <a:prstGeom prst="ellipse">
              <a:avLst/>
            </a:prstGeom>
            <a:noFill/>
            <a:ln w="19050">
              <a:solidFill>
                <a:srgbClr val="43E97B"/>
              </a:solidFill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03" name="Ellipse 103"/>
            <p:cNvSpPr/>
            <p:nvPr/>
          </p:nvSpPr>
          <p:spPr>
            <a:xfrm>
              <a:off x="8839200" y="2124075"/>
              <a:ext cx="228600" cy="228600"/>
            </a:xfrm>
            <a:prstGeom prst="ellipse">
              <a:avLst/>
            </a:prstGeom>
            <a:noFill/>
            <a:ln w="19050">
              <a:solidFill>
                <a:srgbClr val="43E97B"/>
              </a:solidFill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04" name="Ellipse 104"/>
            <p:cNvSpPr/>
            <p:nvPr/>
          </p:nvSpPr>
          <p:spPr>
            <a:xfrm>
              <a:off x="8877300" y="2171700"/>
              <a:ext cx="38100" cy="38100"/>
            </a:xfrm>
            <a:prstGeom prst="ellipse">
              <a:avLst/>
            </a:prstGeom>
            <a:solidFill>
              <a:srgbClr val="43E97B"/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05" name="Ellipse 105"/>
            <p:cNvSpPr/>
            <p:nvPr/>
          </p:nvSpPr>
          <p:spPr>
            <a:xfrm>
              <a:off x="8991600" y="2171700"/>
              <a:ext cx="38100" cy="38100"/>
            </a:xfrm>
            <a:prstGeom prst="ellipse">
              <a:avLst/>
            </a:prstGeom>
            <a:solidFill>
              <a:srgbClr val="43E97B"/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06" name="Ellipse 106"/>
            <p:cNvSpPr/>
            <p:nvPr/>
          </p:nvSpPr>
          <p:spPr>
            <a:xfrm>
              <a:off x="8934450" y="2266950"/>
              <a:ext cx="38100" cy="38100"/>
            </a:xfrm>
            <a:prstGeom prst="ellipse">
              <a:avLst/>
            </a:prstGeom>
            <a:solidFill>
              <a:srgbClr val="43E97B"/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07" name="Line 107"/>
            <p:cNvSpPr/>
            <p:nvPr/>
          </p:nvSpPr>
          <p:spPr>
            <a:xfrm>
              <a:off x="8896350" y="2190750"/>
              <a:ext cx="57150" cy="95250"/>
            </a:xfrm>
            <a:custGeom>
              <a:avLst/>
              <a:gdLst/>
              <a:ahLst/>
              <a:cxnLst/>
              <a:rect l="l" t="t" r="r" b="b"/>
              <a:pathLst>
                <a:path w="57150" h="95250">
                  <a:moveTo>
                    <a:pt x="0" y="0"/>
                  </a:moveTo>
                  <a:lnTo>
                    <a:pt x="57150" y="95250"/>
                  </a:lnTo>
                </a:path>
              </a:pathLst>
            </a:custGeom>
            <a:noFill/>
            <a:ln w="9525">
              <a:solidFill>
                <a:srgbClr val="43E97B"/>
              </a:solidFill>
            </a:ln>
          </p:spPr>
        </p:sp>
        <p:sp>
          <p:nvSpPr>
            <p:cNvPr id="108" name="Line 108"/>
            <p:cNvSpPr/>
            <p:nvPr/>
          </p:nvSpPr>
          <p:spPr>
            <a:xfrm>
              <a:off x="8953500" y="2190750"/>
              <a:ext cx="57150" cy="95250"/>
            </a:xfrm>
            <a:custGeom>
              <a:avLst/>
              <a:gdLst/>
              <a:ahLst/>
              <a:cxnLst/>
              <a:rect l="l" t="t" r="r" b="b"/>
              <a:pathLst>
                <a:path w="57150" h="95250">
                  <a:moveTo>
                    <a:pt x="57150" y="0"/>
                  </a:moveTo>
                  <a:lnTo>
                    <a:pt x="0" y="95250"/>
                  </a:lnTo>
                </a:path>
              </a:pathLst>
            </a:custGeom>
            <a:noFill/>
            <a:ln w="9525">
              <a:solidFill>
                <a:srgbClr val="43E97B"/>
              </a:solidFill>
            </a:ln>
          </p:spPr>
        </p:sp>
        <p:sp>
          <p:nvSpPr>
            <p:cNvPr id="109" name="Line 109"/>
            <p:cNvSpPr/>
            <p:nvPr/>
          </p:nvSpPr>
          <p:spPr>
            <a:xfrm>
              <a:off x="8896350" y="21907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9525">
              <a:solidFill>
                <a:srgbClr val="43E97B"/>
              </a:solidFill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8671984" y="2752249"/>
              <a:ext cx="563032" cy="1981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3E97B"/>
                  </a:solidFill>
                  <a:latin typeface="Arial"/>
                  <a:ea typeface="Microsoft YaHei"/>
                  <a:cs typeface="Arial"/>
                </a:rPr>
                <a:t>STEP 04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8426482" y="3012758"/>
              <a:ext cx="1054036" cy="33528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知识推理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8346591" y="3292316"/>
              <a:ext cx="1213818" cy="16764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892B0"/>
                  </a:solidFill>
                  <a:latin typeface="Arial"/>
                  <a:ea typeface="Microsoft YaHei"/>
                  <a:cs typeface="Arial"/>
                </a:rPr>
                <a:t>Knowledge Reasoning</a:t>
              </a:r>
            </a:p>
          </p:txBody>
        </p:sp>
        <p:sp>
          <p:nvSpPr>
            <p:cNvPr id="113" name="Line 113"/>
            <p:cNvSpPr/>
            <p:nvPr/>
          </p:nvSpPr>
          <p:spPr>
            <a:xfrm>
              <a:off x="8191500" y="35242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rgbClr val="43E97B">
                  <a:alpha val="30000"/>
                </a:srgbClr>
              </a:solidFill>
            </a:ln>
          </p:spPr>
        </p:sp>
        <p:grpSp>
          <p:nvGrpSpPr>
            <p:cNvPr id="116" name="Group 116"/>
            <p:cNvGrpSpPr/>
            <p:nvPr/>
          </p:nvGrpSpPr>
          <p:grpSpPr>
            <a:xfrm>
              <a:off x="8001000" y="3753802"/>
              <a:ext cx="836295" cy="213360"/>
              <a:chOff x="8001000" y="3753802"/>
              <a:chExt cx="836295" cy="213360"/>
            </a:xfrm>
          </p:grpSpPr>
          <p:sp>
            <p:nvSpPr>
              <p:cNvPr id="114" name="Rectangle 114"/>
              <p:cNvSpPr/>
              <p:nvPr/>
            </p:nvSpPr>
            <p:spPr>
              <a:xfrm>
                <a:off x="8001000" y="3762375"/>
                <a:ext cx="114300" cy="114300"/>
              </a:xfrm>
              <a:prstGeom prst="roundRect">
                <a:avLst>
                  <a:gd name="adj" fmla="val 25000"/>
                </a:avLst>
              </a:prstGeom>
              <a:solidFill>
                <a:srgbClr val="43E97B">
                  <a:alpha val="60000"/>
                </a:srgbClr>
              </a:solidFill>
              <a:ln>
                <a:noFill/>
              </a:ln>
              <a:effectLst>
                <a:outerShdw blurRad="152400" dist="38100" dir="5400000" algn="ctr" rotWithShape="0">
                  <a:srgbClr val="000000">
                    <a:alpha val="22500"/>
                  </a:srgbClr>
                </a:outerShdw>
              </a:effectLst>
            </p:spPr>
          </p:sp>
          <p:sp>
            <p:nvSpPr>
              <p:cNvPr id="115" name="TextBox 115"/>
              <p:cNvSpPr txBox="1"/>
              <p:nvPr/>
            </p:nvSpPr>
            <p:spPr>
              <a:xfrm>
                <a:off x="8197215" y="375380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52400" dist="38100" dir="5400000" algn="ctr" rotWithShape="0">
                  <a:srgbClr val="000000">
                    <a:alpha val="22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CD6F6"/>
                    </a:solidFill>
                    <a:latin typeface="Segoe UI"/>
                    <a:ea typeface="Microsoft YaHei"/>
                    <a:cs typeface="Segoe UI"/>
                  </a:rPr>
                  <a:t>规则推理</a:t>
                </a:r>
              </a:p>
            </p:txBody>
          </p:sp>
        </p:grpSp>
        <p:grpSp>
          <p:nvGrpSpPr>
            <p:cNvPr id="119" name="Group 119"/>
            <p:cNvGrpSpPr/>
            <p:nvPr/>
          </p:nvGrpSpPr>
          <p:grpSpPr>
            <a:xfrm>
              <a:off x="8001000" y="4095274"/>
              <a:ext cx="1218724" cy="198120"/>
              <a:chOff x="8001000" y="4095274"/>
              <a:chExt cx="1218724" cy="198120"/>
            </a:xfrm>
          </p:grpSpPr>
          <p:sp>
            <p:nvSpPr>
              <p:cNvPr id="117" name="Rectangle 117"/>
              <p:cNvSpPr/>
              <p:nvPr/>
            </p:nvSpPr>
            <p:spPr>
              <a:xfrm>
                <a:off x="8001000" y="4095750"/>
                <a:ext cx="114300" cy="114300"/>
              </a:xfrm>
              <a:prstGeom prst="roundRect">
                <a:avLst>
                  <a:gd name="adj" fmla="val 25000"/>
                </a:avLst>
              </a:prstGeom>
              <a:solidFill>
                <a:srgbClr val="43E97B">
                  <a:alpha val="60000"/>
                </a:srgbClr>
              </a:solidFill>
              <a:ln>
                <a:noFill/>
              </a:ln>
              <a:effectLst>
                <a:outerShdw blurRad="152400" dist="38100" dir="5400000" algn="ctr" rotWithShape="0">
                  <a:srgbClr val="000000">
                    <a:alpha val="22500"/>
                  </a:srgbClr>
                </a:outerShdw>
              </a:effectLst>
            </p:spPr>
          </p:sp>
          <p:sp>
            <p:nvSpPr>
              <p:cNvPr id="118" name="TextBox 118"/>
              <p:cNvSpPr txBox="1"/>
              <p:nvPr/>
            </p:nvSpPr>
            <p:spPr>
              <a:xfrm>
                <a:off x="8198168" y="4095274"/>
                <a:ext cx="1021556" cy="1981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52400" dist="38100" dir="5400000" algn="ctr" rotWithShape="0">
                  <a:srgbClr val="000000">
                    <a:alpha val="22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CD6F6"/>
                    </a:solidFill>
                    <a:latin typeface="Segoe UI"/>
                    <a:ea typeface="Microsoft YaHei"/>
                    <a:cs typeface="Segoe UI"/>
                  </a:rPr>
                  <a:t>图神经网络推理</a:t>
                </a:r>
              </a:p>
            </p:txBody>
          </p:sp>
        </p:grpSp>
        <p:grpSp>
          <p:nvGrpSpPr>
            <p:cNvPr id="122" name="Group 122"/>
            <p:cNvGrpSpPr/>
            <p:nvPr/>
          </p:nvGrpSpPr>
          <p:grpSpPr>
            <a:xfrm>
              <a:off x="8001000" y="4420552"/>
              <a:ext cx="836295" cy="213360"/>
              <a:chOff x="8001000" y="4420552"/>
              <a:chExt cx="836295" cy="213360"/>
            </a:xfrm>
          </p:grpSpPr>
          <p:sp>
            <p:nvSpPr>
              <p:cNvPr id="120" name="Rectangle 120"/>
              <p:cNvSpPr/>
              <p:nvPr/>
            </p:nvSpPr>
            <p:spPr>
              <a:xfrm>
                <a:off x="8001000" y="4429125"/>
                <a:ext cx="114300" cy="114300"/>
              </a:xfrm>
              <a:prstGeom prst="roundRect">
                <a:avLst>
                  <a:gd name="adj" fmla="val 25000"/>
                </a:avLst>
              </a:prstGeom>
              <a:solidFill>
                <a:srgbClr val="43E97B">
                  <a:alpha val="60000"/>
                </a:srgbClr>
              </a:solidFill>
              <a:ln>
                <a:noFill/>
              </a:ln>
              <a:effectLst>
                <a:outerShdw blurRad="152400" dist="38100" dir="5400000" algn="ctr" rotWithShape="0">
                  <a:srgbClr val="000000">
                    <a:alpha val="22500"/>
                  </a:srgbClr>
                </a:outerShdw>
              </a:effectLst>
            </p:spPr>
          </p:sp>
          <p:sp>
            <p:nvSpPr>
              <p:cNvPr id="121" name="TextBox 121"/>
              <p:cNvSpPr txBox="1"/>
              <p:nvPr/>
            </p:nvSpPr>
            <p:spPr>
              <a:xfrm>
                <a:off x="8197215" y="442055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52400" dist="38100" dir="5400000" algn="ctr" rotWithShape="0">
                  <a:srgbClr val="000000">
                    <a:alpha val="22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CD6F6"/>
                    </a:solidFill>
                    <a:latin typeface="Segoe UI"/>
                    <a:ea typeface="Microsoft YaHei"/>
                    <a:cs typeface="Segoe UI"/>
                  </a:rPr>
                  <a:t>链接预测</a:t>
                </a:r>
              </a:p>
            </p:txBody>
          </p:sp>
        </p:grpSp>
        <p:sp>
          <p:nvSpPr>
            <p:cNvPr id="123" name="Ellipse 123"/>
            <p:cNvSpPr/>
            <p:nvPr/>
          </p:nvSpPr>
          <p:spPr>
            <a:xfrm>
              <a:off x="8353425" y="4829175"/>
              <a:ext cx="57150" cy="57150"/>
            </a:xfrm>
            <a:prstGeom prst="ellipse">
              <a:avLst/>
            </a:prstGeom>
            <a:solidFill>
              <a:srgbClr val="43E97B">
                <a:alpha val="3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24" name="Ellipse 124"/>
            <p:cNvSpPr/>
            <p:nvPr/>
          </p:nvSpPr>
          <p:spPr>
            <a:xfrm>
              <a:off x="8543925" y="4829175"/>
              <a:ext cx="57150" cy="57150"/>
            </a:xfrm>
            <a:prstGeom prst="ellipse">
              <a:avLst/>
            </a:prstGeom>
            <a:solidFill>
              <a:srgbClr val="43E97B">
                <a:alpha val="5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25" name="Ellipse 125"/>
            <p:cNvSpPr/>
            <p:nvPr/>
          </p:nvSpPr>
          <p:spPr>
            <a:xfrm>
              <a:off x="8734425" y="4829175"/>
              <a:ext cx="57150" cy="57150"/>
            </a:xfrm>
            <a:prstGeom prst="ellipse">
              <a:avLst/>
            </a:prstGeom>
            <a:solidFill>
              <a:srgbClr val="43E97B">
                <a:alpha val="7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26" name="Ellipse 126"/>
            <p:cNvSpPr/>
            <p:nvPr/>
          </p:nvSpPr>
          <p:spPr>
            <a:xfrm>
              <a:off x="8924925" y="4829175"/>
              <a:ext cx="57150" cy="57150"/>
            </a:xfrm>
            <a:prstGeom prst="ellipse">
              <a:avLst/>
            </a:prstGeom>
            <a:solidFill>
              <a:srgbClr val="43E97B">
                <a:alpha val="9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27" name="Ellipse 127"/>
            <p:cNvSpPr/>
            <p:nvPr/>
          </p:nvSpPr>
          <p:spPr>
            <a:xfrm>
              <a:off x="9115425" y="4829175"/>
              <a:ext cx="57150" cy="57150"/>
            </a:xfrm>
            <a:prstGeom prst="ellipse">
              <a:avLst/>
            </a:prstGeom>
            <a:solidFill>
              <a:srgbClr val="43E97B">
                <a:alpha val="7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28" name="Ellipse 128"/>
            <p:cNvSpPr/>
            <p:nvPr/>
          </p:nvSpPr>
          <p:spPr>
            <a:xfrm>
              <a:off x="9305925" y="4829175"/>
              <a:ext cx="57150" cy="57150"/>
            </a:xfrm>
            <a:prstGeom prst="ellipse">
              <a:avLst/>
            </a:prstGeom>
            <a:solidFill>
              <a:srgbClr val="43E97B">
                <a:alpha val="5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29" name="Ellipse 129"/>
            <p:cNvSpPr/>
            <p:nvPr/>
          </p:nvSpPr>
          <p:spPr>
            <a:xfrm>
              <a:off x="9496425" y="4829175"/>
              <a:ext cx="57150" cy="57150"/>
            </a:xfrm>
            <a:prstGeom prst="ellipse">
              <a:avLst/>
            </a:prstGeom>
            <a:solidFill>
              <a:srgbClr val="43E97B">
                <a:alpha val="3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</p:grpSp>
      <p:grpSp>
        <p:nvGrpSpPr>
          <p:cNvPr id="155" name="Group 155"/>
          <p:cNvGrpSpPr/>
          <p:nvPr/>
        </p:nvGrpSpPr>
        <p:grpSpPr>
          <a:xfrm>
            <a:off x="10287000" y="1714500"/>
            <a:ext cx="1905000" cy="3429000"/>
            <a:chOff x="10287000" y="1714500"/>
            <a:chExt cx="1905000" cy="3429000"/>
          </a:xfrm>
          <a:effectLst>
            <a:outerShdw blurRad="152400" dist="38100" dir="5400000" algn="ctr" rotWithShape="0">
              <a:srgbClr val="000000">
                <a:alpha val="22500"/>
              </a:srgbClr>
            </a:outerShdw>
          </a:effectLst>
        </p:grpSpPr>
        <p:sp>
          <p:nvSpPr>
            <p:cNvPr id="131" name="Rectangle 131"/>
            <p:cNvSpPr/>
            <p:nvPr/>
          </p:nvSpPr>
          <p:spPr>
            <a:xfrm>
              <a:off x="10287000" y="1714500"/>
              <a:ext cx="1905000" cy="3429000"/>
            </a:xfrm>
            <a:prstGeom prst="roundRect">
              <a:avLst>
                <a:gd name="adj" fmla="val 8000"/>
              </a:avLst>
            </a:prstGeom>
            <a:solidFill>
              <a:srgbClr val="1E2452">
                <a:alpha val="95000"/>
              </a:srgbClr>
            </a:solidFill>
            <a:ln w="19050">
              <a:solidFill>
                <a:srgbClr val="FA709A">
                  <a:alpha val="95000"/>
                </a:srgbClr>
              </a:solidFill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32" name="Rectangle 132"/>
            <p:cNvSpPr/>
            <p:nvPr/>
          </p:nvSpPr>
          <p:spPr>
            <a:xfrm>
              <a:off x="10287000" y="1714500"/>
              <a:ext cx="19050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A709A"/>
                </a:gs>
                <a:gs pos="100000">
                  <a:srgbClr val="FEE140"/>
                </a:gs>
              </a:gsLst>
              <a:lin ang="2700000" scaled="1"/>
            </a:gra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33" name="Ellipse 133"/>
            <p:cNvSpPr/>
            <p:nvPr/>
          </p:nvSpPr>
          <p:spPr>
            <a:xfrm>
              <a:off x="10896600" y="1943100"/>
              <a:ext cx="685800" cy="685800"/>
            </a:xfrm>
            <a:prstGeom prst="ellipse">
              <a:avLst/>
            </a:prstGeom>
            <a:solidFill>
              <a:srgbClr val="FA709A">
                <a:alpha val="2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34" name="Ellipse 134"/>
            <p:cNvSpPr/>
            <p:nvPr/>
          </p:nvSpPr>
          <p:spPr>
            <a:xfrm>
              <a:off x="10972800" y="2019300"/>
              <a:ext cx="533400" cy="533400"/>
            </a:xfrm>
            <a:prstGeom prst="ellipse">
              <a:avLst/>
            </a:prstGeom>
            <a:noFill/>
            <a:ln w="19050">
              <a:solidFill>
                <a:srgbClr val="FA709A"/>
              </a:solidFill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35" name="Freeform 135"/>
            <p:cNvSpPr/>
            <p:nvPr/>
          </p:nvSpPr>
          <p:spPr>
            <a:xfrm>
              <a:off x="11144250" y="2146300"/>
              <a:ext cx="190500" cy="63500"/>
            </a:xfrm>
            <a:custGeom>
              <a:avLst/>
              <a:gdLst/>
              <a:ahLst/>
              <a:cxnLst/>
              <a:rect l="l" t="t" r="r" b="b"/>
              <a:pathLst>
                <a:path w="190500" h="63500">
                  <a:moveTo>
                    <a:pt x="0" y="63500"/>
                  </a:moveTo>
                  <a:cubicBezTo>
                    <a:pt x="63500" y="0"/>
                    <a:pt x="127000" y="0"/>
                    <a:pt x="190500" y="63500"/>
                  </a:cubicBezTo>
                </a:path>
              </a:pathLst>
            </a:custGeom>
            <a:noFill/>
            <a:ln w="23812" cap="rnd">
              <a:solidFill>
                <a:srgbClr val="FA709A"/>
              </a:solidFill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36" name="Freeform 136"/>
            <p:cNvSpPr/>
            <p:nvPr/>
          </p:nvSpPr>
          <p:spPr>
            <a:xfrm>
              <a:off x="11144250" y="2362200"/>
              <a:ext cx="190500" cy="63500"/>
            </a:xfrm>
            <a:custGeom>
              <a:avLst/>
              <a:gdLst/>
              <a:ahLst/>
              <a:cxnLst/>
              <a:rect l="l" t="t" r="r" b="b"/>
              <a:pathLst>
                <a:path w="190500" h="63500">
                  <a:moveTo>
                    <a:pt x="190500" y="0"/>
                  </a:moveTo>
                  <a:cubicBezTo>
                    <a:pt x="127000" y="63500"/>
                    <a:pt x="63500" y="63500"/>
                    <a:pt x="0" y="0"/>
                  </a:cubicBezTo>
                </a:path>
              </a:pathLst>
            </a:custGeom>
            <a:noFill/>
            <a:ln w="23812" cap="rnd">
              <a:solidFill>
                <a:srgbClr val="FA709A"/>
              </a:solidFill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37" name="Polygon 137"/>
            <p:cNvSpPr/>
            <p:nvPr/>
          </p:nvSpPr>
          <p:spPr>
            <a:xfrm>
              <a:off x="11296650" y="2171700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76200" h="57150">
                  <a:moveTo>
                    <a:pt x="38100" y="0"/>
                  </a:moveTo>
                  <a:lnTo>
                    <a:pt x="762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A709A"/>
            </a:solidFill>
            <a:ln>
              <a:noFill/>
            </a:ln>
          </p:spPr>
        </p:sp>
        <p:sp>
          <p:nvSpPr>
            <p:cNvPr id="138" name="Polygon 138"/>
            <p:cNvSpPr/>
            <p:nvPr/>
          </p:nvSpPr>
          <p:spPr>
            <a:xfrm>
              <a:off x="11106150" y="2343150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76200" h="57150">
                  <a:moveTo>
                    <a:pt x="38100" y="5715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A709A"/>
            </a:solidFill>
            <a:ln>
              <a:noFill/>
            </a:ln>
          </p:spPr>
        </p:sp>
        <p:sp>
          <p:nvSpPr>
            <p:cNvPr id="139" name="TextBox 139"/>
            <p:cNvSpPr txBox="1"/>
            <p:nvPr/>
          </p:nvSpPr>
          <p:spPr>
            <a:xfrm>
              <a:off x="10957984" y="2752249"/>
              <a:ext cx="563032" cy="1981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A709A"/>
                  </a:solidFill>
                  <a:latin typeface="Arial"/>
                  <a:ea typeface="Microsoft YaHei"/>
                  <a:cs typeface="Arial"/>
                </a:rPr>
                <a:t>STEP 05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10712482" y="3012758"/>
              <a:ext cx="1054036" cy="33528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知识更新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10716935" y="3292316"/>
              <a:ext cx="1045131" cy="16764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892B0"/>
                  </a:solidFill>
                  <a:latin typeface="Arial"/>
                  <a:ea typeface="Microsoft YaHei"/>
                  <a:cs typeface="Arial"/>
                </a:rPr>
                <a:t>Knowledge Update</a:t>
              </a:r>
            </a:p>
          </p:txBody>
        </p:sp>
        <p:sp>
          <p:nvSpPr>
            <p:cNvPr id="142" name="Line 142"/>
            <p:cNvSpPr/>
            <p:nvPr/>
          </p:nvSpPr>
          <p:spPr>
            <a:xfrm>
              <a:off x="10572750" y="352425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FA709A">
                  <a:alpha val="30000"/>
                </a:srgbClr>
              </a:solidFill>
            </a:ln>
          </p:spPr>
        </p:sp>
        <p:grpSp>
          <p:nvGrpSpPr>
            <p:cNvPr id="145" name="Group 145"/>
            <p:cNvGrpSpPr/>
            <p:nvPr/>
          </p:nvGrpSpPr>
          <p:grpSpPr>
            <a:xfrm>
              <a:off x="10477500" y="3753802"/>
              <a:ext cx="836295" cy="213360"/>
              <a:chOff x="10477500" y="3753802"/>
              <a:chExt cx="836295" cy="213360"/>
            </a:xfrm>
          </p:grpSpPr>
          <p:sp>
            <p:nvSpPr>
              <p:cNvPr id="143" name="Rectangle 143"/>
              <p:cNvSpPr/>
              <p:nvPr/>
            </p:nvSpPr>
            <p:spPr>
              <a:xfrm>
                <a:off x="10477500" y="3762375"/>
                <a:ext cx="114300" cy="114300"/>
              </a:xfrm>
              <a:prstGeom prst="roundRect">
                <a:avLst>
                  <a:gd name="adj" fmla="val 25000"/>
                </a:avLst>
              </a:prstGeom>
              <a:solidFill>
                <a:srgbClr val="FA709A">
                  <a:alpha val="60000"/>
                </a:srgbClr>
              </a:solidFill>
              <a:ln>
                <a:noFill/>
              </a:ln>
              <a:effectLst>
                <a:outerShdw blurRad="152400" dist="38100" dir="5400000" algn="ctr" rotWithShape="0">
                  <a:srgbClr val="000000">
                    <a:alpha val="22500"/>
                  </a:srgbClr>
                </a:outerShdw>
              </a:effectLst>
            </p:spPr>
          </p:sp>
          <p:sp>
            <p:nvSpPr>
              <p:cNvPr id="144" name="TextBox 144"/>
              <p:cNvSpPr txBox="1"/>
              <p:nvPr/>
            </p:nvSpPr>
            <p:spPr>
              <a:xfrm>
                <a:off x="10673715" y="375380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52400" dist="38100" dir="5400000" algn="ctr" rotWithShape="0">
                  <a:srgbClr val="000000">
                    <a:alpha val="22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CD6F6"/>
                    </a:solidFill>
                    <a:latin typeface="Segoe UI"/>
                    <a:ea typeface="Microsoft YaHei"/>
                    <a:cs typeface="Segoe UI"/>
                  </a:rPr>
                  <a:t>增量学习</a:t>
                </a:r>
              </a:p>
            </p:txBody>
          </p:sp>
        </p:grpSp>
        <p:grpSp>
          <p:nvGrpSpPr>
            <p:cNvPr id="148" name="Group 148"/>
            <p:cNvGrpSpPr/>
            <p:nvPr/>
          </p:nvGrpSpPr>
          <p:grpSpPr>
            <a:xfrm>
              <a:off x="10477500" y="4087178"/>
              <a:ext cx="1143000" cy="213360"/>
              <a:chOff x="10477500" y="4087178"/>
              <a:chExt cx="1143000" cy="213360"/>
            </a:xfrm>
          </p:grpSpPr>
          <p:sp>
            <p:nvSpPr>
              <p:cNvPr id="146" name="Rectangle 146"/>
              <p:cNvSpPr/>
              <p:nvPr/>
            </p:nvSpPr>
            <p:spPr>
              <a:xfrm>
                <a:off x="10477500" y="4095750"/>
                <a:ext cx="114300" cy="114300"/>
              </a:xfrm>
              <a:prstGeom prst="roundRect">
                <a:avLst>
                  <a:gd name="adj" fmla="val 25000"/>
                </a:avLst>
              </a:prstGeom>
              <a:solidFill>
                <a:srgbClr val="FA709A">
                  <a:alpha val="60000"/>
                </a:srgbClr>
              </a:solidFill>
              <a:ln>
                <a:noFill/>
              </a:ln>
              <a:effectLst>
                <a:outerShdw blurRad="152400" dist="38100" dir="5400000" algn="ctr" rotWithShape="0">
                  <a:srgbClr val="000000">
                    <a:alpha val="22500"/>
                  </a:srgbClr>
                </a:outerShdw>
              </a:effectLst>
            </p:spPr>
          </p:sp>
          <p:sp>
            <p:nvSpPr>
              <p:cNvPr id="147" name="TextBox 147"/>
              <p:cNvSpPr txBox="1"/>
              <p:nvPr/>
            </p:nvSpPr>
            <p:spPr>
              <a:xfrm>
                <a:off x="10673715" y="4087178"/>
                <a:ext cx="946785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52400" dist="38100" dir="5400000" algn="ctr" rotWithShape="0">
                  <a:srgbClr val="000000">
                    <a:alpha val="22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CD6F6"/>
                    </a:solidFill>
                    <a:latin typeface="Segoe UI"/>
                    <a:ea typeface="Microsoft YaHei"/>
                    <a:cs typeface="Segoe UI"/>
                  </a:rPr>
                  <a:t>动态维护机制</a:t>
                </a:r>
              </a:p>
            </p:txBody>
          </p:sp>
        </p:grpSp>
        <p:sp>
          <p:nvSpPr>
            <p:cNvPr id="149" name="Ellipse 149"/>
            <p:cNvSpPr/>
            <p:nvPr/>
          </p:nvSpPr>
          <p:spPr>
            <a:xfrm>
              <a:off x="10734675" y="4829175"/>
              <a:ext cx="57150" cy="57150"/>
            </a:xfrm>
            <a:prstGeom prst="ellipse">
              <a:avLst/>
            </a:prstGeom>
            <a:solidFill>
              <a:srgbClr val="FA709A">
                <a:alpha val="3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50" name="Ellipse 150"/>
            <p:cNvSpPr/>
            <p:nvPr/>
          </p:nvSpPr>
          <p:spPr>
            <a:xfrm>
              <a:off x="10925175" y="4829175"/>
              <a:ext cx="57150" cy="57150"/>
            </a:xfrm>
            <a:prstGeom prst="ellipse">
              <a:avLst/>
            </a:prstGeom>
            <a:solidFill>
              <a:srgbClr val="FA709A">
                <a:alpha val="5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51" name="Ellipse 151"/>
            <p:cNvSpPr/>
            <p:nvPr/>
          </p:nvSpPr>
          <p:spPr>
            <a:xfrm>
              <a:off x="11115675" y="4829175"/>
              <a:ext cx="57150" cy="57150"/>
            </a:xfrm>
            <a:prstGeom prst="ellipse">
              <a:avLst/>
            </a:prstGeom>
            <a:solidFill>
              <a:srgbClr val="FA709A">
                <a:alpha val="7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52" name="Ellipse 152"/>
            <p:cNvSpPr/>
            <p:nvPr/>
          </p:nvSpPr>
          <p:spPr>
            <a:xfrm>
              <a:off x="11306175" y="4829175"/>
              <a:ext cx="57150" cy="57150"/>
            </a:xfrm>
            <a:prstGeom prst="ellipse">
              <a:avLst/>
            </a:prstGeom>
            <a:solidFill>
              <a:srgbClr val="FA709A">
                <a:alpha val="9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53" name="Ellipse 153"/>
            <p:cNvSpPr/>
            <p:nvPr/>
          </p:nvSpPr>
          <p:spPr>
            <a:xfrm>
              <a:off x="11496675" y="4829175"/>
              <a:ext cx="57150" cy="57150"/>
            </a:xfrm>
            <a:prstGeom prst="ellipse">
              <a:avLst/>
            </a:prstGeom>
            <a:solidFill>
              <a:srgbClr val="FA709A">
                <a:alpha val="7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54" name="Ellipse 154"/>
            <p:cNvSpPr/>
            <p:nvPr/>
          </p:nvSpPr>
          <p:spPr>
            <a:xfrm>
              <a:off x="11687175" y="4829175"/>
              <a:ext cx="57150" cy="57150"/>
            </a:xfrm>
            <a:prstGeom prst="ellipse">
              <a:avLst/>
            </a:prstGeom>
            <a:solidFill>
              <a:srgbClr val="FA709A">
                <a:alpha val="50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22500"/>
                </a:srgbClr>
              </a:outerShdw>
            </a:effectLst>
          </p:spPr>
        </p:sp>
      </p:grpSp>
      <p:grpSp>
        <p:nvGrpSpPr>
          <p:cNvPr id="160" name="Group 160"/>
          <p:cNvGrpSpPr/>
          <p:nvPr/>
        </p:nvGrpSpPr>
        <p:grpSpPr>
          <a:xfrm>
            <a:off x="2667000" y="3333750"/>
            <a:ext cx="7620000" cy="190500"/>
            <a:chOff x="2667000" y="3333750"/>
            <a:chExt cx="7620000" cy="190500"/>
          </a:xfrm>
        </p:grpSpPr>
        <p:sp>
          <p:nvSpPr>
            <p:cNvPr id="156" name="Polygon 156"/>
            <p:cNvSpPr/>
            <p:nvPr/>
          </p:nvSpPr>
          <p:spPr>
            <a:xfrm>
              <a:off x="2667000" y="33337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95250"/>
                  </a:moveTo>
                  <a:lnTo>
                    <a:pt x="190500" y="0"/>
                  </a:lnTo>
                  <a:lnTo>
                    <a:pt x="190500" y="190500"/>
                  </a:lnTo>
                  <a:close/>
                </a:path>
              </a:pathLst>
            </a:custGeom>
            <a:solidFill>
              <a:srgbClr val="667EEA">
                <a:alpha val="60000"/>
              </a:srgbClr>
            </a:solidFill>
            <a:ln>
              <a:noFill/>
            </a:ln>
          </p:spPr>
        </p:sp>
        <p:sp>
          <p:nvSpPr>
            <p:cNvPr id="157" name="Polygon 157"/>
            <p:cNvSpPr/>
            <p:nvPr/>
          </p:nvSpPr>
          <p:spPr>
            <a:xfrm>
              <a:off x="5143500" y="33337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95250"/>
                  </a:moveTo>
                  <a:lnTo>
                    <a:pt x="190500" y="0"/>
                  </a:lnTo>
                  <a:lnTo>
                    <a:pt x="190500" y="190500"/>
                  </a:lnTo>
                  <a:close/>
                </a:path>
              </a:pathLst>
            </a:custGeom>
            <a:solidFill>
              <a:srgbClr val="F5576C">
                <a:alpha val="60000"/>
              </a:srgbClr>
            </a:solidFill>
            <a:ln>
              <a:noFill/>
            </a:ln>
          </p:spPr>
        </p:sp>
        <p:sp>
          <p:nvSpPr>
            <p:cNvPr id="158" name="Polygon 158"/>
            <p:cNvSpPr/>
            <p:nvPr/>
          </p:nvSpPr>
          <p:spPr>
            <a:xfrm>
              <a:off x="7620000" y="33337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95250"/>
                  </a:moveTo>
                  <a:lnTo>
                    <a:pt x="190500" y="0"/>
                  </a:lnTo>
                  <a:lnTo>
                    <a:pt x="190500" y="190500"/>
                  </a:lnTo>
                  <a:close/>
                </a:path>
              </a:pathLst>
            </a:custGeom>
            <a:solidFill>
              <a:srgbClr val="4FACFE">
                <a:alpha val="60000"/>
              </a:srgbClr>
            </a:solidFill>
            <a:ln>
              <a:noFill/>
            </a:ln>
          </p:spPr>
        </p:sp>
        <p:sp>
          <p:nvSpPr>
            <p:cNvPr id="159" name="Polygon 159"/>
            <p:cNvSpPr/>
            <p:nvPr/>
          </p:nvSpPr>
          <p:spPr>
            <a:xfrm>
              <a:off x="10096500" y="33337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95250"/>
                  </a:moveTo>
                  <a:lnTo>
                    <a:pt x="190500" y="0"/>
                  </a:lnTo>
                  <a:lnTo>
                    <a:pt x="190500" y="190500"/>
                  </a:lnTo>
                  <a:close/>
                </a:path>
              </a:pathLst>
            </a:custGeom>
            <a:solidFill>
              <a:srgbClr val="43E97B">
                <a:alpha val="60000"/>
              </a:srgbClr>
            </a:solidFill>
            <a:ln>
              <a:noFill/>
            </a:ln>
          </p:spPr>
        </p:sp>
      </p:grpSp>
      <p:sp>
        <p:nvSpPr>
          <p:cNvPr id="161" name="Line 161"/>
          <p:cNvSpPr/>
          <p:nvPr/>
        </p:nvSpPr>
        <p:spPr>
          <a:xfrm>
            <a:off x="2667000" y="342900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9525">
            <a:solidFill>
              <a:srgbClr val="FFFFFF">
                <a:alpha val="8000"/>
              </a:srgbClr>
            </a:solidFill>
          </a:ln>
        </p:spPr>
      </p:sp>
      <p:grpSp>
        <p:nvGrpSpPr>
          <p:cNvPr id="165" name="Group 165"/>
          <p:cNvGrpSpPr/>
          <p:nvPr/>
        </p:nvGrpSpPr>
        <p:grpSpPr>
          <a:xfrm>
            <a:off x="0" y="6477000"/>
            <a:ext cx="12192000" cy="433388"/>
            <a:chOff x="0" y="6477000"/>
            <a:chExt cx="12192000" cy="433388"/>
          </a:xfrm>
        </p:grpSpPr>
        <p:sp>
          <p:nvSpPr>
            <p:cNvPr id="162" name="Line 162"/>
            <p:cNvSpPr/>
            <p:nvPr/>
          </p:nvSpPr>
          <p:spPr>
            <a:xfrm>
              <a:off x="0" y="6477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163" name="TextBox 163"/>
            <p:cNvSpPr txBox="1"/>
            <p:nvPr/>
          </p:nvSpPr>
          <p:spPr>
            <a:xfrm>
              <a:off x="5923419" y="6609874"/>
              <a:ext cx="3451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2B0"/>
                  </a:solidFill>
                  <a:latin typeface="Arial"/>
                  <a:ea typeface="Microsoft YaHei"/>
                  <a:cs typeface="Arial"/>
                </a:rPr>
                <a:t>4 / 9</a:t>
              </a:r>
            </a:p>
          </p:txBody>
        </p:sp>
        <p:sp>
          <p:nvSpPr>
            <p:cNvPr id="164" name="TextBox 164"/>
            <p:cNvSpPr txBox="1"/>
            <p:nvPr/>
          </p:nvSpPr>
          <p:spPr>
            <a:xfrm>
              <a:off x="5396389" y="6757988"/>
              <a:ext cx="139922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4A5080"/>
                  </a:solidFill>
                  <a:latin typeface="Arial"/>
                  <a:ea typeface="Microsoft YaHei"/>
                  <a:cs typeface="Arial"/>
                </a:rPr>
                <a:t>Knowledge Graph Platform</a:t>
              </a:r>
            </a:p>
          </p:txBody>
        </p:sp>
      </p:grpSp>
      <p:grpSp>
        <p:nvGrpSpPr>
          <p:cNvPr id="168" name="Group 168"/>
          <p:cNvGrpSpPr/>
          <p:nvPr/>
        </p:nvGrpSpPr>
        <p:grpSpPr>
          <a:xfrm>
            <a:off x="190500" y="142875"/>
            <a:ext cx="952500" cy="266700"/>
            <a:chOff x="190500" y="142875"/>
            <a:chExt cx="952500" cy="266700"/>
          </a:xfrm>
        </p:grpSpPr>
        <p:sp>
          <p:nvSpPr>
            <p:cNvPr id="166" name="Rectangle 166"/>
            <p:cNvSpPr/>
            <p:nvPr/>
          </p:nvSpPr>
          <p:spPr>
            <a:xfrm>
              <a:off x="190500" y="142875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rgbClr val="667EEA">
                <a:alpha val="20000"/>
              </a:srgbClr>
            </a:solidFill>
            <a:ln>
              <a:noFill/>
            </a:ln>
          </p:spPr>
        </p:sp>
        <p:sp>
          <p:nvSpPr>
            <p:cNvPr id="167" name="TextBox 167"/>
            <p:cNvSpPr txBox="1"/>
            <p:nvPr/>
          </p:nvSpPr>
          <p:spPr>
            <a:xfrm>
              <a:off x="428544" y="234791"/>
              <a:ext cx="4764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67EEA"/>
                  </a:solidFill>
                  <a:latin typeface="Arial"/>
                  <a:ea typeface="Microsoft YaHei"/>
                  <a:cs typeface="Arial"/>
                </a:rPr>
                <a:t>PART 04</a:t>
              </a:r>
            </a:p>
          </p:txBody>
        </p:sp>
      </p:grpSp>
      <p:grpSp>
        <p:nvGrpSpPr>
          <p:cNvPr id="172" name="Group 172"/>
          <p:cNvGrpSpPr/>
          <p:nvPr/>
        </p:nvGrpSpPr>
        <p:grpSpPr>
          <a:xfrm>
            <a:off x="11049000" y="571500"/>
            <a:ext cx="762000" cy="762000"/>
            <a:chOff x="11049000" y="571500"/>
            <a:chExt cx="762000" cy="762000"/>
          </a:xfrm>
        </p:grpSpPr>
        <p:sp>
          <p:nvSpPr>
            <p:cNvPr id="169" name="Ellipse 169"/>
            <p:cNvSpPr/>
            <p:nvPr/>
          </p:nvSpPr>
          <p:spPr>
            <a:xfrm>
              <a:off x="11049000" y="571500"/>
              <a:ext cx="762000" cy="762000"/>
            </a:xfrm>
            <a:prstGeom prst="ellipse">
              <a:avLst/>
            </a:prstGeom>
            <a:noFill/>
            <a:ln w="9525">
              <a:solidFill>
                <a:srgbClr val="667EEA">
                  <a:alpha val="15000"/>
                </a:srgbClr>
              </a:solidFill>
            </a:ln>
          </p:spPr>
        </p:sp>
        <p:sp>
          <p:nvSpPr>
            <p:cNvPr id="170" name="Ellipse 170"/>
            <p:cNvSpPr/>
            <p:nvPr/>
          </p:nvSpPr>
          <p:spPr>
            <a:xfrm>
              <a:off x="11191875" y="714375"/>
              <a:ext cx="476250" cy="476250"/>
            </a:xfrm>
            <a:prstGeom prst="ellipse">
              <a:avLst/>
            </a:prstGeom>
            <a:noFill/>
            <a:ln w="9525">
              <a:solidFill>
                <a:srgbClr val="667EEA">
                  <a:alpha val="15000"/>
                </a:srgbClr>
              </a:solidFill>
            </a:ln>
          </p:spPr>
        </p:sp>
        <p:sp>
          <p:nvSpPr>
            <p:cNvPr id="171" name="Ellipse 171"/>
            <p:cNvSpPr/>
            <p:nvPr/>
          </p:nvSpPr>
          <p:spPr>
            <a:xfrm>
              <a:off x="11334750" y="857250"/>
              <a:ext cx="190500" cy="190500"/>
            </a:xfrm>
            <a:prstGeom prst="ellipse">
              <a:avLst/>
            </a:prstGeom>
            <a:solidFill>
              <a:srgbClr val="667EEA">
                <a:alpha val="15000"/>
              </a:srgbClr>
            </a:solidFill>
            <a:ln>
              <a:noFill/>
            </a:ln>
          </p:spPr>
        </p:sp>
      </p:grpSp>
      <p:grpSp>
        <p:nvGrpSpPr>
          <p:cNvPr id="176" name="Group 176"/>
          <p:cNvGrpSpPr/>
          <p:nvPr/>
        </p:nvGrpSpPr>
        <p:grpSpPr>
          <a:xfrm>
            <a:off x="476250" y="5619750"/>
            <a:ext cx="571500" cy="571500"/>
            <a:chOff x="476250" y="5619750"/>
            <a:chExt cx="571500" cy="571500"/>
          </a:xfrm>
        </p:grpSpPr>
        <p:sp>
          <p:nvSpPr>
            <p:cNvPr id="173" name="Ellipse 173"/>
            <p:cNvSpPr/>
            <p:nvPr/>
          </p:nvSpPr>
          <p:spPr>
            <a:xfrm>
              <a:off x="476250" y="5619750"/>
              <a:ext cx="571500" cy="571500"/>
            </a:xfrm>
            <a:prstGeom prst="ellipse">
              <a:avLst/>
            </a:prstGeom>
            <a:noFill/>
            <a:ln w="9525">
              <a:solidFill>
                <a:srgbClr val="F5576C">
                  <a:alpha val="10000"/>
                </a:srgbClr>
              </a:solidFill>
            </a:ln>
          </p:spPr>
        </p:sp>
        <p:sp>
          <p:nvSpPr>
            <p:cNvPr id="174" name="Ellipse 174"/>
            <p:cNvSpPr/>
            <p:nvPr/>
          </p:nvSpPr>
          <p:spPr>
            <a:xfrm>
              <a:off x="619125" y="5762625"/>
              <a:ext cx="285750" cy="285750"/>
            </a:xfrm>
            <a:prstGeom prst="ellipse">
              <a:avLst/>
            </a:prstGeom>
            <a:noFill/>
            <a:ln w="9525">
              <a:solidFill>
                <a:srgbClr val="F5576C">
                  <a:alpha val="10000"/>
                </a:srgbClr>
              </a:solidFill>
            </a:ln>
          </p:spPr>
        </p:sp>
        <p:sp>
          <p:nvSpPr>
            <p:cNvPr id="175" name="Ellipse 175"/>
            <p:cNvSpPr/>
            <p:nvPr/>
          </p:nvSpPr>
          <p:spPr>
            <a:xfrm>
              <a:off x="714375" y="5857875"/>
              <a:ext cx="95250" cy="95250"/>
            </a:xfrm>
            <a:prstGeom prst="ellipse">
              <a:avLst/>
            </a:prstGeom>
            <a:solidFill>
              <a:srgbClr val="F5576C">
                <a:alpha val="100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4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4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4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4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4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2" grpId="0"/>
      <p:bldP spid="70" grpId="0"/>
      <p:bldP spid="98" grpId="0"/>
      <p:bldP spid="130" grpId="0"/>
      <p:bldP spid="155" grpId="0"/>
      <p:bldP spid="160" grpId="0"/>
      <p:bldP spid="16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311586" y="597218"/>
            <a:ext cx="3568827" cy="993457"/>
            <a:chOff x="4311586" y="597218"/>
            <a:chExt cx="3568827" cy="993457"/>
          </a:xfrm>
        </p:grpSpPr>
        <p:sp>
          <p:nvSpPr>
            <p:cNvPr id="3" name="TextBox 3"/>
            <p:cNvSpPr txBox="1"/>
            <p:nvPr/>
          </p:nvSpPr>
          <p:spPr>
            <a:xfrm>
              <a:off x="4311586" y="597218"/>
              <a:ext cx="3568827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关键技术深度解析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381500" y="11430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38100" cap="rnd">
              <a:solidFill>
                <a:srgbClr val="3B82F6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766310" y="1346835"/>
              <a:ext cx="26593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核心算法架构与前沿技术融合路径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714500"/>
            <a:ext cx="5143500" cy="2190750"/>
            <a:chOff x="762000" y="1714500"/>
            <a:chExt cx="5143500" cy="2190750"/>
          </a:xfrm>
        </p:grpSpPr>
        <p:sp>
          <p:nvSpPr>
            <p:cNvPr id="7" name="Rectangle 7"/>
            <p:cNvSpPr/>
            <p:nvPr/>
          </p:nvSpPr>
          <p:spPr>
            <a:xfrm>
              <a:off x="762000" y="1714500"/>
              <a:ext cx="5143500" cy="219075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52500" y="1905000"/>
              <a:ext cx="57150" cy="4572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17295" y="1965008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知识表示学习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23962" y="2307431"/>
              <a:ext cx="1983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TransE / RotatE / 图嵌入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23962" y="2593181"/>
              <a:ext cx="29860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将离散实体与关系映射至连续向量空间，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23962" y="2812256"/>
              <a:ext cx="24931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支持语义相似度计算与逻辑推理。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4362450" y="1838325"/>
              <a:ext cx="419100" cy="4191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4476750" y="195262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95250"/>
                  </a:moveTo>
                  <a:lnTo>
                    <a:pt x="190500" y="95250"/>
                  </a:lnTo>
                  <a:moveTo>
                    <a:pt x="95250" y="0"/>
                  </a:moveTo>
                  <a:lnTo>
                    <a:pt x="95250" y="190500"/>
                  </a:lnTo>
                  <a:moveTo>
                    <a:pt x="28575" y="28575"/>
                  </a:moveTo>
                  <a:lnTo>
                    <a:pt x="161925" y="161925"/>
                  </a:lnTo>
                  <a:moveTo>
                    <a:pt x="28575" y="161925"/>
                  </a:moveTo>
                  <a:lnTo>
                    <a:pt x="161925" y="28575"/>
                  </a:lnTo>
                </a:path>
              </a:pathLst>
            </a:custGeom>
            <a:solidFill>
              <a:srgbClr val="000000"/>
            </a:solidFill>
            <a:ln w="19050" cap="rnd">
              <a:solidFill>
                <a:srgbClr val="3B82F6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6286500" y="1714500"/>
            <a:ext cx="5143500" cy="2190750"/>
            <a:chOff x="6286500" y="1714500"/>
            <a:chExt cx="5143500" cy="2190750"/>
          </a:xfrm>
        </p:grpSpPr>
        <p:sp>
          <p:nvSpPr>
            <p:cNvPr id="16" name="Rectangle 16"/>
            <p:cNvSpPr/>
            <p:nvPr/>
          </p:nvSpPr>
          <p:spPr>
            <a:xfrm>
              <a:off x="6286500" y="1714500"/>
              <a:ext cx="5143500" cy="219075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477000" y="1905000"/>
              <a:ext cx="57150" cy="457200"/>
            </a:xfrm>
            <a:prstGeom prst="roundRect">
              <a:avLst>
                <a:gd name="adj" fmla="val 50000"/>
              </a:avLst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41795" y="1965008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图神经网络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48462" y="2307431"/>
              <a:ext cx="20988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GCN、GAT 在图结构上的应用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48462" y="2593181"/>
              <a:ext cx="26574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通过邻域聚合与注意力机制捕获高阶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48462" y="2812256"/>
              <a:ext cx="2821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拓扑依赖，提升节点分类与聚类性能。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9886950" y="1838325"/>
              <a:ext cx="419100" cy="419100"/>
            </a:xfrm>
            <a:prstGeom prst="ellipse">
              <a:avLst/>
            </a:prstGeom>
            <a:solidFill>
              <a:srgbClr val="F5F3FF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0001250" y="2000250"/>
              <a:ext cx="190500" cy="95250"/>
            </a:xfrm>
            <a:custGeom>
              <a:avLst/>
              <a:gdLst/>
              <a:ahLst/>
              <a:cxnLst/>
              <a:rect l="l" t="t" r="r" b="b"/>
              <a:pathLst>
                <a:path w="190500" h="95250">
                  <a:moveTo>
                    <a:pt x="0" y="47625"/>
                  </a:moveTo>
                  <a:lnTo>
                    <a:pt x="190500" y="47625"/>
                  </a:lnTo>
                  <a:moveTo>
                    <a:pt x="47625" y="0"/>
                  </a:moveTo>
                  <a:lnTo>
                    <a:pt x="142875" y="95250"/>
                  </a:lnTo>
                  <a:moveTo>
                    <a:pt x="47625" y="95250"/>
                  </a:moveTo>
                  <a:lnTo>
                    <a:pt x="142875" y="0"/>
                  </a:lnTo>
                </a:path>
              </a:pathLst>
            </a:custGeom>
            <a:solidFill>
              <a:srgbClr val="000000"/>
            </a:solidFill>
            <a:ln w="19050" cap="rnd">
              <a:solidFill>
                <a:srgbClr val="8B5CF6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762000" y="4095750"/>
            <a:ext cx="5143500" cy="2190750"/>
            <a:chOff x="762000" y="4095750"/>
            <a:chExt cx="5143500" cy="2190750"/>
          </a:xfrm>
        </p:grpSpPr>
        <p:sp>
          <p:nvSpPr>
            <p:cNvPr id="25" name="Rectangle 25"/>
            <p:cNvSpPr/>
            <p:nvPr/>
          </p:nvSpPr>
          <p:spPr>
            <a:xfrm>
              <a:off x="762000" y="4095750"/>
              <a:ext cx="5143500" cy="219075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952500" y="4286250"/>
              <a:ext cx="57150" cy="45720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217295" y="4346258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知识图谱补全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23962" y="4688681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链接预测与缺失关系补全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23962" y="4974431"/>
              <a:ext cx="26574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基于评分函数与负采样策略自动推断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23962" y="5193506"/>
              <a:ext cx="24931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潜在关联，动态完善图谱覆盖率。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4362450" y="4219575"/>
              <a:ext cx="419100" cy="419100"/>
            </a:xfrm>
            <a:prstGeom prst="ellipse">
              <a:avLst/>
            </a:prstGeom>
            <a:solidFill>
              <a:srgbClr val="ECFDF5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4476750" y="433387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95250"/>
                  </a:moveTo>
                  <a:lnTo>
                    <a:pt x="190500" y="95250"/>
                  </a:lnTo>
                  <a:moveTo>
                    <a:pt x="95250" y="0"/>
                  </a:moveTo>
                  <a:lnTo>
                    <a:pt x="95250" y="190500"/>
                  </a:lnTo>
                  <a:moveTo>
                    <a:pt x="38100" y="38100"/>
                  </a:moveTo>
                  <a:lnTo>
                    <a:pt x="152400" y="152400"/>
                  </a:lnTo>
                  <a:moveTo>
                    <a:pt x="38100" y="152400"/>
                  </a:moveTo>
                  <a:lnTo>
                    <a:pt x="152400" y="38100"/>
                  </a:lnTo>
                </a:path>
              </a:pathLst>
            </a:custGeom>
            <a:solidFill>
              <a:srgbClr val="000000"/>
            </a:solidFill>
            <a:ln w="19050" cap="rnd">
              <a:solidFill>
                <a:srgbClr val="10B981"/>
              </a:solidFill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6286500" y="4095750"/>
            <a:ext cx="5143500" cy="2190750"/>
            <a:chOff x="6286500" y="4095750"/>
            <a:chExt cx="5143500" cy="2190750"/>
          </a:xfrm>
        </p:grpSpPr>
        <p:sp>
          <p:nvSpPr>
            <p:cNvPr id="34" name="Rectangle 34"/>
            <p:cNvSpPr/>
            <p:nvPr/>
          </p:nvSpPr>
          <p:spPr>
            <a:xfrm>
              <a:off x="6286500" y="4095750"/>
              <a:ext cx="5143500" cy="219075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77000" y="4286250"/>
              <a:ext cx="57150" cy="4572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41795" y="4346258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大模型融合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48462" y="4688681"/>
              <a:ext cx="23370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RAG + KG 增强生成式AI的准确性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48462" y="4974431"/>
              <a:ext cx="24931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结合检索增强与结构化知识约束，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48462" y="5193506"/>
              <a:ext cx="2821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有效抑制幻觉，提升专业领域可信度。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9886950" y="4219575"/>
              <a:ext cx="419100" cy="419100"/>
            </a:xfrm>
            <a:prstGeom prst="ellipse">
              <a:avLst/>
            </a:prstGeom>
            <a:solidFill>
              <a:srgbClr val="FFFBEB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10001250" y="4381500"/>
              <a:ext cx="190500" cy="95250"/>
            </a:xfrm>
            <a:custGeom>
              <a:avLst/>
              <a:gdLst/>
              <a:ahLst/>
              <a:cxnLst/>
              <a:rect l="l" t="t" r="r" b="b"/>
              <a:pathLst>
                <a:path w="190500" h="95250">
                  <a:moveTo>
                    <a:pt x="0" y="47625"/>
                  </a:moveTo>
                  <a:lnTo>
                    <a:pt x="190500" y="47625"/>
                  </a:lnTo>
                  <a:moveTo>
                    <a:pt x="47625" y="0"/>
                  </a:moveTo>
                  <a:lnTo>
                    <a:pt x="142875" y="95250"/>
                  </a:lnTo>
                  <a:moveTo>
                    <a:pt x="47625" y="95250"/>
                  </a:moveTo>
                  <a:lnTo>
                    <a:pt x="142875" y="0"/>
                  </a:lnTo>
                </a:path>
              </a:pathLst>
            </a:custGeom>
            <a:solidFill>
              <a:srgbClr val="000000"/>
            </a:solidFill>
            <a:ln w="19050" cap="rnd">
              <a:solidFill>
                <a:srgbClr val="F59E0B"/>
              </a:solidFill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952500" y="6477000"/>
            <a:ext cx="10287000" cy="338138"/>
            <a:chOff x="952500" y="6477000"/>
            <a:chExt cx="10287000" cy="338138"/>
          </a:xfrm>
        </p:grpSpPr>
        <p:sp>
          <p:nvSpPr>
            <p:cNvPr id="43" name="Line 43"/>
            <p:cNvSpPr/>
            <p:nvPr/>
          </p:nvSpPr>
          <p:spPr>
            <a:xfrm>
              <a:off x="952500" y="6477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829008" y="6601778"/>
              <a:ext cx="25339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第 5 页 / 共 9 页 | 核心技术架构详解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4" grpId="0"/>
      <p:bldP spid="33" grpId="0"/>
      <p:bldP spid="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3842004" y="563880"/>
            <a:ext cx="4507992" cy="731520"/>
            <a:chOff x="3842004" y="563880"/>
            <a:chExt cx="4507992" cy="731520"/>
          </a:xfrm>
        </p:grpSpPr>
        <p:sp>
          <p:nvSpPr>
            <p:cNvPr id="4" name="TextBox 4"/>
            <p:cNvSpPr txBox="1"/>
            <p:nvPr/>
          </p:nvSpPr>
          <p:spPr>
            <a:xfrm>
              <a:off x="3842004" y="563880"/>
              <a:ext cx="4507992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应用落地场景总览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143500" y="1190625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38100" cap="rnd">
              <a:solidFill>
                <a:srgbClr val="2563EB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143000" y="1905000"/>
            <a:ext cx="10157841" cy="3619500"/>
            <a:chOff x="1143000" y="1905000"/>
            <a:chExt cx="10157841" cy="3619500"/>
          </a:xfrm>
        </p:grpSpPr>
        <p:grpSp>
          <p:nvGrpSpPr>
            <p:cNvPr id="12" name="Group 12"/>
            <p:cNvGrpSpPr/>
            <p:nvPr/>
          </p:nvGrpSpPr>
          <p:grpSpPr>
            <a:xfrm>
              <a:off x="1143000" y="1905000"/>
              <a:ext cx="3957066" cy="1524000"/>
              <a:chOff x="1143000" y="1905000"/>
              <a:chExt cx="3957066" cy="15240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1143000" y="1905000"/>
                <a:ext cx="3048000" cy="1524000"/>
              </a:xfrm>
              <a:prstGeom prst="roundRect">
                <a:avLst>
                  <a:gd name="adj" fmla="val 7500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1257300" y="2019300"/>
                <a:ext cx="533400" cy="5334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428845" y="2091690"/>
                <a:ext cx="19031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🔍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979295" y="2060258"/>
                <a:ext cx="105403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智能搜索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985010" y="2394585"/>
                <a:ext cx="311505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— 语义理解与实体卡片（如 Google KG）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4572000" y="1905000"/>
              <a:ext cx="3048000" cy="1524000"/>
              <a:chOff x="4572000" y="1905000"/>
              <a:chExt cx="3048000" cy="15240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572000" y="1905000"/>
                <a:ext cx="3048000" cy="1524000"/>
              </a:xfrm>
              <a:prstGeom prst="roundRect">
                <a:avLst>
                  <a:gd name="adj" fmla="val 7500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4686300" y="2019300"/>
                <a:ext cx="533400" cy="5334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857845" y="2091690"/>
                <a:ext cx="19031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💬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408295" y="2060258"/>
                <a:ext cx="105403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智能问答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414010" y="2394585"/>
                <a:ext cx="152895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— KBQA 与对话系统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8001000" y="1905000"/>
              <a:ext cx="3299841" cy="1524000"/>
              <a:chOff x="8001000" y="1905000"/>
              <a:chExt cx="3299841" cy="15240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8001000" y="1905000"/>
                <a:ext cx="3048000" cy="1524000"/>
              </a:xfrm>
              <a:prstGeom prst="roundRect">
                <a:avLst>
                  <a:gd name="adj" fmla="val 7500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8115300" y="2019300"/>
                <a:ext cx="533400" cy="5334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8286845" y="2091690"/>
                <a:ext cx="19031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📈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837295" y="2060258"/>
                <a:ext cx="105403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推荐系统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843010" y="2394585"/>
                <a:ext cx="245783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— 增强推荐的可解释性与精准度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2857500" y="4000500"/>
              <a:ext cx="3048000" cy="1524000"/>
              <a:chOff x="2857500" y="4000500"/>
              <a:chExt cx="3048000" cy="15240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2857500" y="4000500"/>
                <a:ext cx="3048000" cy="1524000"/>
              </a:xfrm>
              <a:prstGeom prst="roundRect">
                <a:avLst>
                  <a:gd name="adj" fmla="val 7500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2971800" y="4114800"/>
                <a:ext cx="533400" cy="5334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3143345" y="4187190"/>
                <a:ext cx="19031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🛡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693795" y="4155758"/>
                <a:ext cx="105403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风险控制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699510" y="4490085"/>
                <a:ext cx="193205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— 关联挖掘与反欺诈检测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286500" y="4000500"/>
              <a:ext cx="3048000" cy="1524000"/>
              <a:chOff x="6286500" y="4000500"/>
              <a:chExt cx="3048000" cy="15240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286500" y="4000500"/>
                <a:ext cx="3048000" cy="1524000"/>
              </a:xfrm>
              <a:prstGeom prst="roundRect">
                <a:avLst>
                  <a:gd name="adj" fmla="val 7500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6400800" y="4114800"/>
                <a:ext cx="533400" cy="5334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572345" y="4187190"/>
                <a:ext cx="19031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🏥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122795" y="4155758"/>
                <a:ext cx="105403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行业应用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128510" y="4490085"/>
                <a:ext cx="212483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— 医疗/金融/法律知识图谱</a:t>
                </a:r>
              </a:p>
            </p:txBody>
          </p:sp>
        </p:grpSp>
      </p:grpSp>
      <p:sp>
        <p:nvSpPr>
          <p:cNvPr id="38" name="TextBox 38"/>
          <p:cNvSpPr txBox="1"/>
          <p:nvPr/>
        </p:nvSpPr>
        <p:spPr>
          <a:xfrm>
            <a:off x="11210925" y="6442710"/>
            <a:ext cx="4248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6 / 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916305" y="340042"/>
            <a:ext cx="3568827" cy="579120"/>
            <a:chOff x="916305" y="340042"/>
            <a:chExt cx="3568827" cy="579120"/>
          </a:xfrm>
        </p:grpSpPr>
        <p:sp>
          <p:nvSpPr>
            <p:cNvPr id="3" name="TextBox 3"/>
            <p:cNvSpPr txBox="1"/>
            <p:nvPr/>
          </p:nvSpPr>
          <p:spPr>
            <a:xfrm>
              <a:off x="916305" y="340042"/>
              <a:ext cx="3568827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典型应用案例解析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952500" y="8763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38100" cap="rnd">
              <a:solidFill>
                <a:srgbClr val="3B82F6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952500" y="1183005"/>
            <a:ext cx="4953000" cy="2341245"/>
            <a:chOff x="952500" y="1183005"/>
            <a:chExt cx="4953000" cy="2341245"/>
          </a:xfrm>
        </p:grpSpPr>
        <p:sp>
          <p:nvSpPr>
            <p:cNvPr id="6" name="Rectangle 6"/>
            <p:cNvSpPr/>
            <p:nvPr/>
          </p:nvSpPr>
          <p:spPr>
            <a:xfrm>
              <a:off x="952500" y="1238250"/>
              <a:ext cx="4953000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952500" y="1428750"/>
              <a:ext cx="38100" cy="3810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88280" y="1183005"/>
              <a:ext cx="56069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3B82F6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01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1123950" y="1409700"/>
              <a:ext cx="419100" cy="419100"/>
            </a:xfrm>
            <a:prstGeom prst="ellipse">
              <a:avLst/>
            </a:prstGeom>
            <a:noFill/>
            <a:ln w="19050">
              <a:solidFill>
                <a:srgbClr val="3B82F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476375" y="1762125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123825" h="123825">
                  <a:moveTo>
                    <a:pt x="0" y="0"/>
                  </a:moveTo>
                  <a:lnTo>
                    <a:pt x="123825" y="123825"/>
                  </a:lnTo>
                </a:path>
              </a:pathLst>
            </a:custGeom>
            <a:noFill/>
            <a:ln w="19050" cap="rnd">
              <a:solidFill>
                <a:srgbClr val="3B82F6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228725" y="1514475"/>
              <a:ext cx="57150" cy="5715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381125" y="1476375"/>
              <a:ext cx="57150" cy="5715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304925" y="1638300"/>
              <a:ext cx="57150" cy="5715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1257300" y="1504950"/>
              <a:ext cx="152400" cy="38100"/>
            </a:xfrm>
            <a:custGeom>
              <a:avLst/>
              <a:gdLst/>
              <a:ahLst/>
              <a:cxnLst/>
              <a:rect l="l" t="t" r="r" b="b"/>
              <a:pathLst>
                <a:path w="152400" h="38100">
                  <a:moveTo>
                    <a:pt x="0" y="38100"/>
                  </a:moveTo>
                  <a:lnTo>
                    <a:pt x="152400" y="0"/>
                  </a:lnTo>
                </a:path>
              </a:pathLst>
            </a:custGeom>
            <a:noFill/>
            <a:ln w="14288">
              <a:solidFill>
                <a:srgbClr val="3B82F6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333500" y="1504950"/>
              <a:ext cx="76200" cy="161925"/>
            </a:xfrm>
            <a:custGeom>
              <a:avLst/>
              <a:gdLst/>
              <a:ahLst/>
              <a:cxnLst/>
              <a:rect l="l" t="t" r="r" b="b"/>
              <a:pathLst>
                <a:path w="76200" h="161925">
                  <a:moveTo>
                    <a:pt x="76200" y="0"/>
                  </a:moveTo>
                  <a:lnTo>
                    <a:pt x="0" y="161925"/>
                  </a:lnTo>
                </a:path>
              </a:pathLst>
            </a:custGeom>
            <a:noFill/>
            <a:ln w="14288">
              <a:solidFill>
                <a:srgbClr val="3B82F6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257300" y="1543050"/>
              <a:ext cx="76200" cy="123825"/>
            </a:xfrm>
            <a:custGeom>
              <a:avLst/>
              <a:gdLst/>
              <a:ahLst/>
              <a:cxnLst/>
              <a:rect l="l" t="t" r="r" b="b"/>
              <a:pathLst>
                <a:path w="76200" h="123825">
                  <a:moveTo>
                    <a:pt x="76200" y="123825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3B82F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312545" y="2060258"/>
              <a:ext cx="139562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Google 搜索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8260" y="2394585"/>
              <a:ext cx="25279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Knowledge Graph 赋能语义搜索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286500" y="1183005"/>
            <a:ext cx="5034496" cy="2341245"/>
            <a:chOff x="6286500" y="1183005"/>
            <a:chExt cx="5034496" cy="2341245"/>
          </a:xfrm>
        </p:grpSpPr>
        <p:sp>
          <p:nvSpPr>
            <p:cNvPr id="20" name="Rectangle 20"/>
            <p:cNvSpPr/>
            <p:nvPr/>
          </p:nvSpPr>
          <p:spPr>
            <a:xfrm>
              <a:off x="6286500" y="1238250"/>
              <a:ext cx="4953000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86500" y="1428750"/>
              <a:ext cx="38100" cy="38100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622280" y="1183005"/>
              <a:ext cx="6987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0B981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72250" y="1524000"/>
              <a:ext cx="190500" cy="190500"/>
            </a:xfrm>
            <a:prstGeom prst="roundRect">
              <a:avLst>
                <a:gd name="adj" fmla="val 20000"/>
              </a:avLst>
            </a:prstGeom>
            <a:noFill/>
            <a:ln w="19050">
              <a:solidFill>
                <a:srgbClr val="10B981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6667500" y="142875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rgbClr val="10B981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6572250" y="161925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10B981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6343650" y="1438275"/>
              <a:ext cx="76200" cy="762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6915150" y="1438275"/>
              <a:ext cx="76200" cy="762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6629400" y="1819275"/>
              <a:ext cx="76200" cy="762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6381750" y="1476375"/>
              <a:ext cx="190500" cy="142875"/>
            </a:xfrm>
            <a:custGeom>
              <a:avLst/>
              <a:gdLst/>
              <a:ahLst/>
              <a:cxnLst/>
              <a:rect l="l" t="t" r="r" b="b"/>
              <a:pathLst>
                <a:path w="190500" h="142875">
                  <a:moveTo>
                    <a:pt x="190500" y="142875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10B981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6762750" y="1476375"/>
              <a:ext cx="190500" cy="142875"/>
            </a:xfrm>
            <a:custGeom>
              <a:avLst/>
              <a:gdLst/>
              <a:ahLst/>
              <a:cxnLst/>
              <a:rect l="l" t="t" r="r" b="b"/>
              <a:pathLst>
                <a:path w="190500" h="142875">
                  <a:moveTo>
                    <a:pt x="0" y="142875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rgbClr val="10B981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6667500" y="1714500"/>
              <a:ext cx="9525" cy="104775"/>
            </a:xfrm>
            <a:custGeom>
              <a:avLst/>
              <a:gdLst/>
              <a:ahLst/>
              <a:cxnLst/>
              <a:rect l="l" t="t" r="r" b="b"/>
              <a:pathLst>
                <a:path w="9525" h="104775">
                  <a:moveTo>
                    <a:pt x="0" y="0"/>
                  </a:moveTo>
                  <a:lnTo>
                    <a:pt x="0" y="104775"/>
                  </a:lnTo>
                </a:path>
              </a:pathLst>
            </a:custGeom>
            <a:noFill/>
            <a:ln w="14288">
              <a:solidFill>
                <a:srgbClr val="10B981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46545" y="2060258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医疗辅助诊断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52260" y="2394585"/>
              <a:ext cx="19758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症状-疾病-药物知识推理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52500" y="3714750"/>
            <a:ext cx="5034496" cy="2476500"/>
            <a:chOff x="952500" y="3714750"/>
            <a:chExt cx="5034496" cy="2476500"/>
          </a:xfrm>
        </p:grpSpPr>
        <p:sp>
          <p:nvSpPr>
            <p:cNvPr id="35" name="Rectangle 35"/>
            <p:cNvSpPr/>
            <p:nvPr/>
          </p:nvSpPr>
          <p:spPr>
            <a:xfrm>
              <a:off x="952500" y="3905250"/>
              <a:ext cx="4953000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52500" y="4095750"/>
              <a:ext cx="38100" cy="3810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88280" y="3850005"/>
              <a:ext cx="6987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59E0B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03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1190625" y="3714750"/>
              <a:ext cx="285750" cy="428625"/>
            </a:xfrm>
            <a:custGeom>
              <a:avLst/>
              <a:gdLst/>
              <a:ahLst/>
              <a:cxnLst/>
              <a:rect l="l" t="t" r="r" b="b"/>
              <a:pathLst>
                <a:path w="285750" h="428625">
                  <a:moveTo>
                    <a:pt x="142875" y="0"/>
                  </a:moveTo>
                  <a:lnTo>
                    <a:pt x="285750" y="76200"/>
                  </a:lnTo>
                  <a:lnTo>
                    <a:pt x="285750" y="238125"/>
                  </a:lnTo>
                  <a:cubicBezTo>
                    <a:pt x="285750" y="333375"/>
                    <a:pt x="142875" y="428625"/>
                    <a:pt x="142875" y="428625"/>
                  </a:cubicBezTo>
                  <a:cubicBezTo>
                    <a:pt x="142875" y="428625"/>
                    <a:pt x="0" y="333375"/>
                    <a:pt x="0" y="238125"/>
                  </a:cubicBezTo>
                  <a:lnTo>
                    <a:pt x="0" y="76200"/>
                  </a:lnTo>
                  <a:close/>
                </a:path>
              </a:pathLst>
            </a:custGeom>
            <a:noFill/>
            <a:ln w="19050">
              <a:solidFill>
                <a:srgbClr val="F59E0B"/>
              </a:solidFill>
              <a:round/>
            </a:ln>
          </p:spPr>
        </p:sp>
        <p:sp>
          <p:nvSpPr>
            <p:cNvPr id="39" name="Ellipse 39"/>
            <p:cNvSpPr/>
            <p:nvPr/>
          </p:nvSpPr>
          <p:spPr>
            <a:xfrm>
              <a:off x="1304925" y="3829050"/>
              <a:ext cx="57150" cy="5715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228725" y="3924300"/>
              <a:ext cx="57150" cy="5715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381125" y="3924300"/>
              <a:ext cx="57150" cy="5715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2" name="Line 42"/>
            <p:cNvSpPr/>
            <p:nvPr/>
          </p:nvSpPr>
          <p:spPr>
            <a:xfrm>
              <a:off x="1257300" y="3857625"/>
              <a:ext cx="76200" cy="95250"/>
            </a:xfrm>
            <a:custGeom>
              <a:avLst/>
              <a:gdLst/>
              <a:ahLst/>
              <a:cxnLst/>
              <a:rect l="l" t="t" r="r" b="b"/>
              <a:pathLst>
                <a:path w="76200" h="95250">
                  <a:moveTo>
                    <a:pt x="76200" y="0"/>
                  </a:moveTo>
                  <a:lnTo>
                    <a:pt x="0" y="95250"/>
                  </a:lnTo>
                </a:path>
              </a:pathLst>
            </a:custGeom>
            <a:noFill/>
            <a:ln w="14288">
              <a:solidFill>
                <a:srgbClr val="F59E0B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1333500" y="3857625"/>
              <a:ext cx="76200" cy="95250"/>
            </a:xfrm>
            <a:custGeom>
              <a:avLst/>
              <a:gdLst/>
              <a:ahLst/>
              <a:cxnLst/>
              <a:rect l="l" t="t" r="r" b="b"/>
              <a:pathLst>
                <a:path w="76200" h="95250">
                  <a:moveTo>
                    <a:pt x="0" y="0"/>
                  </a:moveTo>
                  <a:lnTo>
                    <a:pt x="76200" y="95250"/>
                  </a:lnTo>
                </a:path>
              </a:pathLst>
            </a:custGeom>
            <a:noFill/>
            <a:ln w="14288">
              <a:solidFill>
                <a:srgbClr val="F59E0B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1257300" y="3952875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14288">
              <a:solidFill>
                <a:srgbClr val="F59E0B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312545" y="4727258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金融风控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318260" y="5061585"/>
              <a:ext cx="24841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企业关联关系挖掘与反团伙欺诈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286500" y="3733800"/>
            <a:ext cx="5034496" cy="2457450"/>
            <a:chOff x="6286500" y="3733800"/>
            <a:chExt cx="5034496" cy="2457450"/>
          </a:xfrm>
        </p:grpSpPr>
        <p:sp>
          <p:nvSpPr>
            <p:cNvPr id="48" name="Rectangle 48"/>
            <p:cNvSpPr/>
            <p:nvPr/>
          </p:nvSpPr>
          <p:spPr>
            <a:xfrm>
              <a:off x="6286500" y="3905250"/>
              <a:ext cx="4953000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86500" y="4095750"/>
              <a:ext cx="38100" cy="381000"/>
            </a:xfrm>
            <a:prstGeom prst="roundRect">
              <a:avLst>
                <a:gd name="adj" fmla="val 50000"/>
              </a:avLst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622280" y="3850005"/>
              <a:ext cx="6987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8B5CF6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04</a:t>
              </a:r>
            </a:p>
          </p:txBody>
        </p:sp>
        <p:sp>
          <p:nvSpPr>
            <p:cNvPr id="51" name="Polygon 51"/>
            <p:cNvSpPr/>
            <p:nvPr/>
          </p:nvSpPr>
          <p:spPr>
            <a:xfrm>
              <a:off x="6524625" y="3733800"/>
              <a:ext cx="285750" cy="342900"/>
            </a:xfrm>
            <a:custGeom>
              <a:avLst/>
              <a:gdLst/>
              <a:ahLst/>
              <a:cxnLst/>
              <a:rect l="l" t="t" r="r" b="b"/>
              <a:pathLst>
                <a:path w="285750" h="342900">
                  <a:moveTo>
                    <a:pt x="142875" y="0"/>
                  </a:moveTo>
                  <a:lnTo>
                    <a:pt x="285750" y="76200"/>
                  </a:lnTo>
                  <a:lnTo>
                    <a:pt x="285750" y="266700"/>
                  </a:lnTo>
                  <a:lnTo>
                    <a:pt x="142875" y="342900"/>
                  </a:lnTo>
                  <a:lnTo>
                    <a:pt x="0" y="266700"/>
                  </a:lnTo>
                  <a:lnTo>
                    <a:pt x="0" y="76200"/>
                  </a:lnTo>
                  <a:close/>
                </a:path>
              </a:pathLst>
            </a:custGeom>
            <a:noFill/>
            <a:ln w="19050">
              <a:solidFill>
                <a:srgbClr val="8B5CF6"/>
              </a:solidFill>
              <a:round/>
            </a:ln>
          </p:spPr>
        </p:sp>
        <p:sp>
          <p:nvSpPr>
            <p:cNvPr id="52" name="Ellipse 52"/>
            <p:cNvSpPr/>
            <p:nvPr/>
          </p:nvSpPr>
          <p:spPr>
            <a:xfrm>
              <a:off x="6629400" y="386715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6543675" y="3800475"/>
              <a:ext cx="57150" cy="5715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6734175" y="3800475"/>
              <a:ext cx="57150" cy="5715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6638925" y="3971925"/>
              <a:ext cx="57150" cy="5715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6572250" y="3829050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95250" y="762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8B5CF6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6667500" y="3829050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0" y="76200"/>
                  </a:moveTo>
                  <a:lnTo>
                    <a:pt x="95250" y="0"/>
                  </a:lnTo>
                </a:path>
              </a:pathLst>
            </a:custGeom>
            <a:noFill/>
            <a:ln w="14288">
              <a:solidFill>
                <a:srgbClr val="8B5CF6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6667500" y="3905250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0"/>
                  </a:moveTo>
                  <a:lnTo>
                    <a:pt x="0" y="95250"/>
                  </a:lnTo>
                </a:path>
              </a:pathLst>
            </a:custGeom>
            <a:noFill/>
            <a:ln w="14288">
              <a:solidFill>
                <a:srgbClr val="8B5CF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46545" y="4727258"/>
              <a:ext cx="13576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大模型+RAG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52260" y="5061585"/>
              <a:ext cx="221246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利用知识图谱减少 LLM 幻觉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0881122" y="6458902"/>
            <a:ext cx="3717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7 / 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4" grpId="0"/>
      <p:bldP spid="47" grpId="0"/>
      <p:bldP spid="6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120"/>
              </a:gs>
              <a:gs pos="100000">
                <a:srgbClr val="1E293B"/>
              </a:gs>
            </a:gsLst>
            <a:lin ang="2700000" scaled="1"/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-381000"/>
            <a:ext cx="13049250" cy="8382000"/>
            <a:chOff x="0" y="-381000"/>
            <a:chExt cx="13049250" cy="8382000"/>
          </a:xfrm>
        </p:grpSpPr>
        <p:sp>
          <p:nvSpPr>
            <p:cNvPr id="3" name="Ellipse 3"/>
            <p:cNvSpPr/>
            <p:nvPr/>
          </p:nvSpPr>
          <p:spPr>
            <a:xfrm>
              <a:off x="8858250" y="-381000"/>
              <a:ext cx="4191000" cy="4191000"/>
            </a:xfrm>
            <a:prstGeom prst="ellipse">
              <a:avLst/>
            </a:prstGeom>
            <a:solidFill>
              <a:srgbClr val="38BDF8">
                <a:alpha val="4000"/>
              </a:srgbClr>
            </a:solidFill>
            <a:ln>
              <a:noFill/>
            </a:ln>
            <a:effectLst>
              <a:glow rad="76200">
                <a:srgbClr val="000000">
                  <a:alpha val="30000"/>
                </a:srgbClr>
              </a:glow>
            </a:effectLst>
          </p:spPr>
        </p:sp>
        <p:sp>
          <p:nvSpPr>
            <p:cNvPr id="4" name="Ellipse 4"/>
            <p:cNvSpPr/>
            <p:nvPr/>
          </p:nvSpPr>
          <p:spPr>
            <a:xfrm>
              <a:off x="7524750" y="3048000"/>
              <a:ext cx="4953000" cy="4953000"/>
            </a:xfrm>
            <a:prstGeom prst="ellipse">
              <a:avLst/>
            </a:prstGeom>
            <a:solidFill>
              <a:srgbClr val="818CF8">
                <a:alpha val="4000"/>
              </a:srgbClr>
            </a:solidFill>
            <a:ln>
              <a:noFill/>
            </a:ln>
            <a:effectLst>
              <a:glow rad="76200">
                <a:srgbClr val="000000">
                  <a:alpha val="30000"/>
                </a:srgbClr>
              </a:glow>
            </a:effectLst>
          </p:spPr>
        </p:sp>
        <p:sp>
          <p:nvSpPr>
            <p:cNvPr id="5" name="Freeform 5"/>
            <p:cNvSpPr/>
            <p:nvPr/>
          </p:nvSpPr>
          <p:spPr>
            <a:xfrm>
              <a:off x="0" y="6572250"/>
              <a:ext cx="12192000" cy="285750"/>
            </a:xfrm>
            <a:custGeom>
              <a:avLst/>
              <a:gdLst/>
              <a:ahLst/>
              <a:cxnLst/>
              <a:rect l="l" t="t" r="r" b="b"/>
              <a:pathLst>
                <a:path w="12192000" h="285750">
                  <a:moveTo>
                    <a:pt x="0" y="285750"/>
                  </a:moveTo>
                  <a:lnTo>
                    <a:pt x="12192000" y="285750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F172A">
                <a:alpha val="60000"/>
              </a:srgbClr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0" y="65722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334155">
                  <a:alpha val="50000"/>
                </a:srgbClr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4491871" y="991552"/>
            <a:ext cx="3208258" cy="1308736"/>
            <a:chOff x="4491871" y="991552"/>
            <a:chExt cx="3208258" cy="1308736"/>
          </a:xfrm>
        </p:grpSpPr>
        <p:sp>
          <p:nvSpPr>
            <p:cNvPr id="8" name="TextBox 8"/>
            <p:cNvSpPr txBox="1"/>
            <p:nvPr/>
          </p:nvSpPr>
          <p:spPr>
            <a:xfrm>
              <a:off x="4491871" y="991552"/>
              <a:ext cx="3208258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总结与展望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4953000" y="1762125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47625" cap="rnd">
              <a:gradFill>
                <a:gsLst>
                  <a:gs pos="0">
                    <a:srgbClr val="38BDF8"/>
                  </a:gs>
                  <a:gs pos="100000">
                    <a:srgbClr val="818CF8"/>
                  </a:gs>
                </a:gsLst>
                <a:lin ang="0" scaled="1"/>
              </a:gra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888206" y="1965008"/>
              <a:ext cx="24155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SUMMARY &amp; OUTLOOK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90700" y="2552700"/>
            <a:ext cx="6491287" cy="609600"/>
            <a:chOff x="1790700" y="2552700"/>
            <a:chExt cx="6491287" cy="609600"/>
          </a:xfrm>
        </p:grpSpPr>
        <p:sp>
          <p:nvSpPr>
            <p:cNvPr id="12" name="Ellipse 12"/>
            <p:cNvSpPr/>
            <p:nvPr/>
          </p:nvSpPr>
          <p:spPr>
            <a:xfrm>
              <a:off x="1790700" y="2552700"/>
              <a:ext cx="609600" cy="609600"/>
            </a:xfrm>
            <a:prstGeom prst="ellipse">
              <a:avLst/>
            </a:prstGeom>
            <a:gradFill>
              <a:gsLst>
                <a:gs pos="0">
                  <a:srgbClr val="38BDF8"/>
                </a:gs>
                <a:gs pos="100000">
                  <a:srgbClr val="818C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036590" y="2774632"/>
              <a:ext cx="1178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38425" y="2690812"/>
              <a:ext cx="564356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F1F5F9"/>
                  </a:solidFill>
                  <a:latin typeface="Segoe UI"/>
                  <a:ea typeface="Microsoft YaHei"/>
                  <a:cs typeface="Segoe UI"/>
                </a:rPr>
                <a:t>知识图谱是连接数据与智能的关键桥梁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667000" y="31242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19050" cap="rnd">
              <a:solidFill>
                <a:srgbClr val="38BDF8">
                  <a:alpha val="40000"/>
                </a:srgbClr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790700" y="3695700"/>
            <a:ext cx="5883354" cy="609600"/>
            <a:chOff x="1790700" y="3695700"/>
            <a:chExt cx="5883354" cy="609600"/>
          </a:xfrm>
        </p:grpSpPr>
        <p:sp>
          <p:nvSpPr>
            <p:cNvPr id="17" name="Ellipse 17"/>
            <p:cNvSpPr/>
            <p:nvPr/>
          </p:nvSpPr>
          <p:spPr>
            <a:xfrm>
              <a:off x="1790700" y="3695700"/>
              <a:ext cx="609600" cy="609600"/>
            </a:xfrm>
            <a:prstGeom prst="ellipse">
              <a:avLst/>
            </a:prstGeom>
            <a:gradFill>
              <a:gsLst>
                <a:gs pos="0">
                  <a:srgbClr val="818CF8"/>
                </a:gs>
                <a:gs pos="100000">
                  <a:srgbClr val="34D399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004961" y="3917632"/>
              <a:ext cx="1810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38425" y="3833812"/>
              <a:ext cx="503562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F1F5F9"/>
                  </a:solidFill>
                  <a:latin typeface="Segoe UI"/>
                  <a:ea typeface="Microsoft YaHei"/>
                  <a:cs typeface="Segoe UI"/>
                </a:rPr>
                <a:t>核心技术日趋成熟 → 产业落地加速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2667000" y="42672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19050" cap="rnd">
              <a:solidFill>
                <a:srgbClr val="818CF8">
                  <a:alpha val="40000"/>
                </a:srgbClr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790700" y="4838700"/>
            <a:ext cx="6672024" cy="609600"/>
            <a:chOff x="1790700" y="4838700"/>
            <a:chExt cx="6672024" cy="609600"/>
          </a:xfrm>
        </p:grpSpPr>
        <p:sp>
          <p:nvSpPr>
            <p:cNvPr id="22" name="Ellipse 22"/>
            <p:cNvSpPr/>
            <p:nvPr/>
          </p:nvSpPr>
          <p:spPr>
            <a:xfrm>
              <a:off x="1790700" y="4838700"/>
              <a:ext cx="609600" cy="609600"/>
            </a:xfrm>
            <a:prstGeom prst="ellipse">
              <a:avLst/>
            </a:prstGeom>
            <a:gradFill>
              <a:gsLst>
                <a:gs pos="0">
                  <a:srgbClr val="34D399"/>
                </a:gs>
                <a:gs pos="100000">
                  <a:srgbClr val="FBBF24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004961" y="5060632"/>
              <a:ext cx="1810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38425" y="4976812"/>
              <a:ext cx="582429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F1F5F9"/>
                  </a:solidFill>
                  <a:latin typeface="Segoe UI"/>
                  <a:ea typeface="Microsoft YaHei"/>
                  <a:cs typeface="Segoe UI"/>
                </a:rPr>
                <a:t>未来：LLM + KG 深度融合，迈向可信 AI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2667000" y="54102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19050" cap="rnd">
              <a:solidFill>
                <a:srgbClr val="34D399">
                  <a:alpha val="40000"/>
                </a:srgbClr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5540216" y="6315075"/>
            <a:ext cx="1111568" cy="304800"/>
            <a:chOff x="5540216" y="6315075"/>
            <a:chExt cx="1111568" cy="304800"/>
          </a:xfrm>
        </p:grpSpPr>
        <p:sp>
          <p:nvSpPr>
            <p:cNvPr id="27" name="TextBox 27"/>
            <p:cNvSpPr txBox="1"/>
            <p:nvPr/>
          </p:nvSpPr>
          <p:spPr>
            <a:xfrm>
              <a:off x="5540216" y="6315075"/>
              <a:ext cx="11115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THANK YOU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21" grpId="0"/>
      <p:bldP spid="26" grpId="0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8F9FA"/>
                </a:gs>
                <a:gs pos="100000">
                  <a:srgbClr val="E9ECEF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95250"/>
            </a:xfrm>
            <a:prstGeom prst="rect">
              <a:avLst/>
            </a:prstGeom>
            <a:gradFill>
              <a:gsLst>
                <a:gs pos="0">
                  <a:srgbClr val="3498DB"/>
                </a:gs>
                <a:gs pos="100000">
                  <a:srgbClr val="2980B9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762750"/>
              <a:ext cx="12192000" cy="95250"/>
            </a:xfrm>
            <a:prstGeom prst="rect">
              <a:avLst/>
            </a:prstGeom>
            <a:gradFill>
              <a:gsLst>
                <a:gs pos="0">
                  <a:srgbClr val="3498DB"/>
                </a:gs>
                <a:gs pos="100000">
                  <a:srgbClr val="2980B9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71500" y="571500"/>
            <a:ext cx="11049000" cy="5715000"/>
            <a:chOff x="571500" y="571500"/>
            <a:chExt cx="11049000" cy="5715000"/>
          </a:xfrm>
        </p:grpSpPr>
        <p:sp>
          <p:nvSpPr>
            <p:cNvPr id="6" name="Ellipse 6"/>
            <p:cNvSpPr/>
            <p:nvPr/>
          </p:nvSpPr>
          <p:spPr>
            <a:xfrm>
              <a:off x="4000500" y="1333500"/>
              <a:ext cx="4191000" cy="4191000"/>
            </a:xfrm>
            <a:prstGeom prst="ellipse">
              <a:avLst/>
            </a:prstGeom>
            <a:solidFill>
              <a:srgbClr val="FFFFFF">
                <a:alpha val="60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4191000" y="1524000"/>
              <a:ext cx="3810000" cy="3810000"/>
            </a:xfrm>
            <a:prstGeom prst="ellipse">
              <a:avLst/>
            </a:prstGeom>
            <a:noFill/>
            <a:ln w="19050">
              <a:solidFill>
                <a:srgbClr val="BDC3C7"/>
              </a:solidFill>
              <a:custDash>
                <a:ds d="600000" sp="600000"/>
              </a:custDash>
            </a:ln>
          </p:spPr>
        </p:sp>
        <p:sp>
          <p:nvSpPr>
            <p:cNvPr id="8" name="Rectangle 8"/>
            <p:cNvSpPr/>
            <p:nvPr/>
          </p:nvSpPr>
          <p:spPr>
            <a:xfrm rot="2700000">
              <a:off x="571500" y="571500"/>
              <a:ext cx="1143000" cy="1143000"/>
            </a:xfrm>
            <a:prstGeom prst="roundRect">
              <a:avLst>
                <a:gd name="adj" fmla="val 12500"/>
              </a:avLst>
            </a:prstGeom>
            <a:solidFill>
              <a:srgbClr val="ECF0F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 rot="2700000">
              <a:off x="10477500" y="5143500"/>
              <a:ext cx="1143000" cy="1143000"/>
            </a:xfrm>
            <a:prstGeom prst="roundRect">
              <a:avLst>
                <a:gd name="adj" fmla="val 12500"/>
              </a:avLst>
            </a:prstGeom>
            <a:solidFill>
              <a:srgbClr val="ECF0F1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066800" y="5638800"/>
              <a:ext cx="152400" cy="152400"/>
            </a:xfrm>
            <a:prstGeom prst="ellipse">
              <a:avLst/>
            </a:prstGeom>
            <a:solidFill>
              <a:srgbClr val="3498DB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257300" y="5638800"/>
              <a:ext cx="152400" cy="152400"/>
            </a:xfrm>
            <a:prstGeom prst="ellipse">
              <a:avLst/>
            </a:prstGeom>
            <a:solidFill>
              <a:srgbClr val="3498DB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447800" y="5638800"/>
              <a:ext cx="152400" cy="152400"/>
            </a:xfrm>
            <a:prstGeom prst="ellipse">
              <a:avLst/>
            </a:prstGeom>
            <a:solidFill>
              <a:srgbClr val="3498DB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591800" y="1066800"/>
              <a:ext cx="152400" cy="152400"/>
            </a:xfrm>
            <a:prstGeom prst="ellipse">
              <a:avLst/>
            </a:prstGeom>
            <a:solidFill>
              <a:srgbClr val="3498DB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0782300" y="1066800"/>
              <a:ext cx="152400" cy="152400"/>
            </a:xfrm>
            <a:prstGeom prst="ellipse">
              <a:avLst/>
            </a:prstGeom>
            <a:solidFill>
              <a:srgbClr val="3498DB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0972800" y="1066800"/>
              <a:ext cx="152400" cy="152400"/>
            </a:xfrm>
            <a:prstGeom prst="ellipse">
              <a:avLst/>
            </a:prstGeom>
            <a:solidFill>
              <a:srgbClr val="3498DB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4093488" y="2062162"/>
            <a:ext cx="4005024" cy="3148013"/>
            <a:chOff x="4093488" y="2062162"/>
            <a:chExt cx="4005024" cy="3148013"/>
          </a:xfrm>
        </p:grpSpPr>
        <p:sp>
          <p:nvSpPr>
            <p:cNvPr id="17" name="TextBox 17"/>
            <p:cNvSpPr txBox="1"/>
            <p:nvPr/>
          </p:nvSpPr>
          <p:spPr>
            <a:xfrm>
              <a:off x="4093488" y="2062162"/>
              <a:ext cx="4005024" cy="1676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谢谢！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4762500" y="3381375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57150" cap="rnd">
              <a:solidFill>
                <a:srgbClr val="3498D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133327" y="3672840"/>
              <a:ext cx="1925345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rgbClr val="3498DB"/>
                  </a:solidFill>
                  <a:latin typeface="Arial"/>
                  <a:ea typeface="Microsoft YaHei"/>
                  <a:cs typeface="Arial"/>
                </a:rPr>
                <a:t>Q &amp; 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78705" y="4661535"/>
              <a:ext cx="243459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欢迎交流讨论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196638" y="6377940"/>
            <a:ext cx="63722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95A5A6"/>
                </a:solidFill>
                <a:latin typeface="Arial"/>
                <a:ea typeface="Microsoft YaHei"/>
                <a:cs typeface="Arial"/>
              </a:rPr>
              <a:t>9 / 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
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-952500" y="-952500"/>
            <a:ext cx="14287500" cy="9048750"/>
            <a:chOff x="-952500" y="-952500"/>
            <a:chExt cx="14287500" cy="90487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F172A"/>
                </a:gs>
                <a:gs pos="50000">
                  <a:srgbClr val="1E1B4B"/>
                </a:gs>
                <a:gs pos="100000">
                  <a:srgbClr val="0F172A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-952500" y="-952500"/>
              <a:ext cx="4762500" cy="4762500"/>
            </a:xfrm>
            <a:prstGeom prst="ellipse">
              <a:avLst/>
            </a:prstGeom>
            <a:solidFill>
              <a:srgbClr val="0072FF">
                <a:alpha val="8000"/>
              </a:srgbClr>
            </a:solidFill>
            <a:ln>
              <a:noFill/>
            </a:ln>
            <a:effectLst>
              <a:glow rad="57150">
                <a:srgbClr val="000000">
                  <a:alpha val="30000"/>
                </a:srgbClr>
              </a:glow>
            </a:effectLst>
          </p:spPr>
        </p:sp>
        <p:sp>
          <p:nvSpPr>
            <p:cNvPr id="4" name="Ellipse 4"/>
            <p:cNvSpPr/>
            <p:nvPr/>
          </p:nvSpPr>
          <p:spPr>
            <a:xfrm>
              <a:off x="7620000" y="2381250"/>
              <a:ext cx="5715000" cy="5715000"/>
            </a:xfrm>
            <a:prstGeom prst="ellipse">
              <a:avLst/>
            </a:prstGeom>
            <a:solidFill>
              <a:srgbClr val="00C6FF">
                <a:alpha val="6000"/>
              </a:srgbClr>
            </a:solidFill>
            <a:ln>
              <a:noFill/>
            </a:ln>
            <a:effectLst>
              <a:glow rad="57150">
                <a:srgbClr val="000000">
                  <a:alpha val="30000"/>
                </a:srgbClr>
              </a:glow>
            </a:effectLst>
          </p:spPr>
        </p:sp>
        <p:sp>
          <p:nvSpPr>
            <p:cNvPr id="5" name="Freeform 5"/>
            <p:cNvSpPr/>
            <p:nvPr/>
          </p:nvSpPr>
          <p:spPr>
            <a:xfrm>
              <a:off x="0" y="5080000"/>
              <a:ext cx="12192000" cy="2063750"/>
            </a:xfrm>
            <a:custGeom>
              <a:avLst/>
              <a:gdLst/>
              <a:ahLst/>
              <a:cxnLst/>
              <a:rect l="l" t="t" r="r" b="b"/>
              <a:pathLst>
                <a:path w="12192000" h="2063750">
                  <a:moveTo>
                    <a:pt x="0" y="635000"/>
                  </a:moveTo>
                  <a:cubicBezTo>
                    <a:pt x="1905000" y="0"/>
                    <a:pt x="3937000" y="158750"/>
                    <a:pt x="6096000" y="1111250"/>
                  </a:cubicBezTo>
                  <a:cubicBezTo>
                    <a:pt x="8255000" y="2063750"/>
                    <a:pt x="10287000" y="1746250"/>
                    <a:pt x="12192000" y="158750"/>
                  </a:cubicBezTo>
                  <a:lnTo>
                    <a:pt x="12192000" y="1778000"/>
                  </a:lnTo>
                  <a:lnTo>
                    <a:pt x="0" y="1778000"/>
                  </a:ln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114425" y="733425"/>
            <a:ext cx="9867900" cy="3581400"/>
            <a:chOff x="1114425" y="733425"/>
            <a:chExt cx="9867900" cy="3581400"/>
          </a:xfrm>
        </p:grpSpPr>
        <p:grpSp>
          <p:nvGrpSpPr>
            <p:cNvPr id="10" name="Group 10"/>
            <p:cNvGrpSpPr/>
            <p:nvPr/>
          </p:nvGrpSpPr>
          <p:grpSpPr>
            <a:xfrm>
              <a:off x="1143000" y="762000"/>
              <a:ext cx="9810750" cy="3524250"/>
              <a:chOff x="1143000" y="762000"/>
              <a:chExt cx="9810750" cy="35242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143000" y="1428750"/>
                <a:ext cx="2667000" cy="2857500"/>
              </a:xfrm>
              <a:custGeom>
                <a:avLst/>
                <a:gdLst/>
                <a:ahLst/>
                <a:cxnLst/>
                <a:rect l="l" t="t" r="r" b="b"/>
                <a:pathLst>
                  <a:path w="2667000" h="2857500">
                    <a:moveTo>
                      <a:pt x="0" y="476250"/>
                    </a:moveTo>
                    <a:lnTo>
                      <a:pt x="1524000" y="0"/>
                    </a:lnTo>
                    <a:lnTo>
                      <a:pt x="2667000" y="952500"/>
                    </a:lnTo>
                    <a:lnTo>
                      <a:pt x="2190750" y="2381250"/>
                    </a:lnTo>
                    <a:lnTo>
                      <a:pt x="762000" y="2857500"/>
                    </a:lnTo>
                    <a:close/>
                  </a:path>
                </a:pathLst>
              </a:custGeom>
              <a:noFill/>
              <a:ln w="14288">
                <a:solidFill>
                  <a:srgbClr val="FFFFFF">
                    <a:alpha val="15000"/>
                  </a:srgbClr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382000" y="1714500"/>
                <a:ext cx="2571750" cy="2286000"/>
              </a:xfrm>
              <a:custGeom>
                <a:avLst/>
                <a:gdLst/>
                <a:ahLst/>
                <a:cxnLst/>
                <a:rect l="l" t="t" r="r" b="b"/>
                <a:pathLst>
                  <a:path w="2571750" h="2286000">
                    <a:moveTo>
                      <a:pt x="0" y="666750"/>
                    </a:moveTo>
                    <a:lnTo>
                      <a:pt x="1143000" y="0"/>
                    </a:lnTo>
                    <a:lnTo>
                      <a:pt x="2571750" y="952500"/>
                    </a:lnTo>
                    <a:lnTo>
                      <a:pt x="2095500" y="2286000"/>
                    </a:lnTo>
                    <a:lnTo>
                      <a:pt x="666750" y="2095500"/>
                    </a:lnTo>
                    <a:close/>
                  </a:path>
                </a:pathLst>
              </a:custGeom>
              <a:noFill/>
              <a:ln w="14288">
                <a:solidFill>
                  <a:srgbClr val="FFFFFF">
                    <a:alpha val="15000"/>
                  </a:srgbClr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4286250" y="762000"/>
                <a:ext cx="2857500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1143000">
                    <a:moveTo>
                      <a:pt x="0" y="190500"/>
                    </a:moveTo>
                    <a:lnTo>
                      <a:pt x="1428750" y="0"/>
                    </a:lnTo>
                    <a:lnTo>
                      <a:pt x="2857500" y="381000"/>
                    </a:lnTo>
                    <a:lnTo>
                      <a:pt x="2381250" y="1143000"/>
                    </a:lnTo>
                    <a:lnTo>
                      <a:pt x="476250" y="952500"/>
                    </a:lnTo>
                    <a:close/>
                  </a:path>
                </a:pathLst>
              </a:custGeom>
              <a:noFill/>
              <a:ln w="14288">
                <a:solidFill>
                  <a:srgbClr val="FFFFFF">
                    <a:alpha val="15000"/>
                  </a:srgbClr>
                </a:solidFill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1114425" y="733425"/>
              <a:ext cx="9867900" cy="3581400"/>
              <a:chOff x="1114425" y="733425"/>
              <a:chExt cx="9867900" cy="3581400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1114425" y="1876425"/>
                <a:ext cx="57150" cy="57150"/>
              </a:xfrm>
              <a:prstGeom prst="ellipse">
                <a:avLst/>
              </a:prstGeom>
              <a:solidFill>
                <a:srgbClr val="00C6FF">
                  <a:alpha val="40000"/>
                </a:srgbClr>
              </a:solidFill>
              <a:ln>
                <a:noFill/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2638425" y="1400175"/>
                <a:ext cx="57150" cy="57150"/>
              </a:xfrm>
              <a:prstGeom prst="ellipse">
                <a:avLst/>
              </a:prstGeom>
              <a:solidFill>
                <a:srgbClr val="00C6FF">
                  <a:alpha val="40000"/>
                </a:srgbClr>
              </a:solidFill>
              <a:ln>
                <a:noFill/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3781425" y="2352675"/>
                <a:ext cx="57150" cy="57150"/>
              </a:xfrm>
              <a:prstGeom prst="ellipse">
                <a:avLst/>
              </a:prstGeom>
              <a:solidFill>
                <a:srgbClr val="00C6FF">
                  <a:alpha val="40000"/>
                </a:srgbClr>
              </a:solidFill>
              <a:ln>
                <a:noFill/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3305175" y="3781425"/>
                <a:ext cx="57150" cy="57150"/>
              </a:xfrm>
              <a:prstGeom prst="ellipse">
                <a:avLst/>
              </a:prstGeom>
              <a:solidFill>
                <a:srgbClr val="00C6FF">
                  <a:alpha val="40000"/>
                </a:srgbClr>
              </a:solidFill>
              <a:ln>
                <a:noFill/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1876425" y="4257675"/>
                <a:ext cx="57150" cy="57150"/>
              </a:xfrm>
              <a:prstGeom prst="ellipse">
                <a:avLst/>
              </a:prstGeom>
              <a:solidFill>
                <a:srgbClr val="00C6FF">
                  <a:alpha val="40000"/>
                </a:srgbClr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8353425" y="2352675"/>
                <a:ext cx="57150" cy="57150"/>
              </a:xfrm>
              <a:prstGeom prst="ellipse">
                <a:avLst/>
              </a:prstGeom>
              <a:solidFill>
                <a:srgbClr val="00C6FF">
                  <a:alpha val="40000"/>
                </a:srgbClr>
              </a:solidFill>
              <a:ln>
                <a:noFill/>
              </a:ln>
            </p:spPr>
          </p:sp>
          <p:sp>
            <p:nvSpPr>
              <p:cNvPr id="17" name="Ellipse 17"/>
              <p:cNvSpPr/>
              <p:nvPr/>
            </p:nvSpPr>
            <p:spPr>
              <a:xfrm>
                <a:off x="9496425" y="1685925"/>
                <a:ext cx="57150" cy="57150"/>
              </a:xfrm>
              <a:prstGeom prst="ellipse">
                <a:avLst/>
              </a:prstGeom>
              <a:solidFill>
                <a:srgbClr val="00C6FF">
                  <a:alpha val="40000"/>
                </a:srgbClr>
              </a:solidFill>
              <a:ln>
                <a:noFill/>
              </a:ln>
            </p:spPr>
          </p:sp>
          <p:sp>
            <p:nvSpPr>
              <p:cNvPr id="18" name="Ellipse 18"/>
              <p:cNvSpPr/>
              <p:nvPr/>
            </p:nvSpPr>
            <p:spPr>
              <a:xfrm>
                <a:off x="10925175" y="2638425"/>
                <a:ext cx="57150" cy="57150"/>
              </a:xfrm>
              <a:prstGeom prst="ellipse">
                <a:avLst/>
              </a:prstGeom>
              <a:solidFill>
                <a:srgbClr val="00C6FF">
                  <a:alpha val="40000"/>
                </a:srgbClr>
              </a:solidFill>
              <a:ln>
                <a:noFill/>
              </a:ln>
            </p:spPr>
          </p:sp>
          <p:sp>
            <p:nvSpPr>
              <p:cNvPr id="19" name="Ellipse 19"/>
              <p:cNvSpPr/>
              <p:nvPr/>
            </p:nvSpPr>
            <p:spPr>
              <a:xfrm>
                <a:off x="10448925" y="3971925"/>
                <a:ext cx="57150" cy="57150"/>
              </a:xfrm>
              <a:prstGeom prst="ellipse">
                <a:avLst/>
              </a:prstGeom>
              <a:solidFill>
                <a:srgbClr val="00C6FF">
                  <a:alpha val="40000"/>
                </a:srgbClr>
              </a:solidFill>
              <a:ln>
                <a:noFill/>
              </a:ln>
            </p:spPr>
          </p:sp>
          <p:sp>
            <p:nvSpPr>
              <p:cNvPr id="20" name="Ellipse 20"/>
              <p:cNvSpPr/>
              <p:nvPr/>
            </p:nvSpPr>
            <p:spPr>
              <a:xfrm>
                <a:off x="9020175" y="3781425"/>
                <a:ext cx="57150" cy="57150"/>
              </a:xfrm>
              <a:prstGeom prst="ellipse">
                <a:avLst/>
              </a:prstGeom>
              <a:solidFill>
                <a:srgbClr val="00C6FF">
                  <a:alpha val="40000"/>
                </a:srgbClr>
              </a:solidFill>
              <a:ln>
                <a:noFill/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4257675" y="923925"/>
                <a:ext cx="57150" cy="57150"/>
              </a:xfrm>
              <a:prstGeom prst="ellipse">
                <a:avLst/>
              </a:prstGeom>
              <a:solidFill>
                <a:srgbClr val="00C6FF">
                  <a:alpha val="40000"/>
                </a:srgbClr>
              </a:solidFill>
              <a:ln>
                <a:noFill/>
              </a:ln>
            </p:spPr>
          </p:sp>
          <p:sp>
            <p:nvSpPr>
              <p:cNvPr id="22" name="Ellipse 22"/>
              <p:cNvSpPr/>
              <p:nvPr/>
            </p:nvSpPr>
            <p:spPr>
              <a:xfrm>
                <a:off x="5686425" y="733425"/>
                <a:ext cx="57150" cy="57150"/>
              </a:xfrm>
              <a:prstGeom prst="ellipse">
                <a:avLst/>
              </a:prstGeom>
              <a:solidFill>
                <a:srgbClr val="00C6FF">
                  <a:alpha val="40000"/>
                </a:srgbClr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7115175" y="1114425"/>
                <a:ext cx="57150" cy="57150"/>
              </a:xfrm>
              <a:prstGeom prst="ellipse">
                <a:avLst/>
              </a:prstGeom>
              <a:solidFill>
                <a:srgbClr val="00C6FF">
                  <a:alpha val="40000"/>
                </a:srgbClr>
              </a:solidFill>
              <a:ln>
                <a:noFill/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6638925" y="1876425"/>
                <a:ext cx="57150" cy="57150"/>
              </a:xfrm>
              <a:prstGeom prst="ellipse">
                <a:avLst/>
              </a:prstGeom>
              <a:solidFill>
                <a:srgbClr val="00C6FF">
                  <a:alpha val="40000"/>
                </a:srgbClr>
              </a:solidFill>
              <a:ln>
                <a:noFill/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4733925" y="1685925"/>
                <a:ext cx="57150" cy="57150"/>
              </a:xfrm>
              <a:prstGeom prst="ellipse">
                <a:avLst/>
              </a:prstGeom>
              <a:solidFill>
                <a:srgbClr val="00C6FF">
                  <a:alpha val="40000"/>
                </a:srgbClr>
              </a:solidFill>
              <a:ln>
                <a:noFill/>
              </a:ln>
            </p:spPr>
          </p:sp>
        </p:grpSp>
      </p:grpSp>
      <p:grpSp>
        <p:nvGrpSpPr>
          <p:cNvPr id="37" name="Group 37"/>
          <p:cNvGrpSpPr/>
          <p:nvPr/>
        </p:nvGrpSpPr>
        <p:grpSpPr>
          <a:xfrm>
            <a:off x="3429000" y="1986915"/>
            <a:ext cx="5334000" cy="3094673"/>
            <a:chOff x="3429000" y="1986915"/>
            <a:chExt cx="5334000" cy="3094673"/>
          </a:xfrm>
        </p:grpSpPr>
        <p:sp>
          <p:nvSpPr>
            <p:cNvPr id="28" name="TextBox 28"/>
            <p:cNvSpPr txBox="1"/>
            <p:nvPr/>
          </p:nvSpPr>
          <p:spPr>
            <a:xfrm>
              <a:off x="3504076" y="1986915"/>
              <a:ext cx="5183848" cy="1280160"/>
            </a:xfrm>
            <a:prstGeom prst="rect">
              <a:avLst/>
            </a:prstGeom>
            <a:noFill/>
            <a:ln>
              <a:noFill/>
            </a:ln>
            <a:effectLst>
              <a:outerShdw blurRad="76200" dist="3810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6300" b="1" dirty="0">
                  <a:gradFill>
                    <a:gsLst>
                      <a:gs pos="0">
                        <a:srgbClr val="FFFFFF"/>
                      </a:gs>
                      <a:gs pos="100000">
                        <a:srgbClr val="CBD5E1"/>
                      </a:gs>
                    </a:gsLst>
                    <a:lin ang="0" scaled="1"/>
                  </a:gradFill>
                  <a:latin typeface="Arial"/>
                  <a:ea typeface="Microsoft YaHei"/>
                  <a:cs typeface="Arial"/>
                </a:rPr>
                <a:t>Quick Test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4953000" y="31432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38100" cap="rnd">
              <a:gradFill>
                <a:gsLst>
                  <a:gs pos="0">
                    <a:srgbClr val="00C6FF"/>
                  </a:gs>
                  <a:gs pos="100000">
                    <a:srgbClr val="0072FF"/>
                  </a:gs>
                </a:gsLst>
                <a:lin ang="0" scaled="1"/>
              </a:gra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3429000" y="3714750"/>
              <a:ext cx="1143000" cy="571500"/>
              <a:chOff x="3429000" y="3714750"/>
              <a:chExt cx="1143000" cy="5715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3429000" y="3714750"/>
                <a:ext cx="1143000" cy="5715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C6FF"/>
                  </a:gs>
                  <a:gs pos="100000">
                    <a:srgbClr val="0072FF"/>
                  </a:gs>
                </a:gsLst>
                <a:lin ang="0" scaled="1"/>
              </a:gradFill>
              <a:ln>
                <a:noFill/>
              </a:ln>
              <a:effectLst>
                <a:outerShdw blurRad="76200" dist="38100" dir="5400000" algn="ctr" rotWithShape="0">
                  <a:srgbClr val="000000">
                    <a:alpha val="22500"/>
                  </a:srgbClr>
                </a:outerShdw>
              </a:effectLst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3836963" y="3859530"/>
                <a:ext cx="32707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AI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7620000" y="3714750"/>
              <a:ext cx="1143000" cy="571500"/>
              <a:chOff x="7620000" y="3714750"/>
              <a:chExt cx="1143000" cy="57150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7620000" y="3714750"/>
                <a:ext cx="1143000" cy="5715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00C6FF"/>
                  </a:gs>
                  <a:gs pos="100000">
                    <a:srgbClr val="0072FF"/>
                  </a:gs>
                </a:gsLst>
                <a:lin ang="0" scaled="1"/>
              </a:gradFill>
              <a:ln>
                <a:noFill/>
              </a:ln>
              <a:effectLst>
                <a:outerShdw blurRad="76200" dist="38100" dir="5400000" algn="ctr" rotWithShape="0">
                  <a:srgbClr val="000000">
                    <a:alpha val="22500"/>
                  </a:srgbClr>
                </a:outerShdw>
              </a:effectLst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866943" y="3859530"/>
                <a:ext cx="649114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LLM</a:t>
                </a:r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3855791" y="4807268"/>
              <a:ext cx="448041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Artificial Intelligence &amp; Large Language Models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
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2332"/>
              </a:gs>
              <a:gs pos="100000">
                <a:srgbClr val="0F192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gradFill>
                <a:gsLst>
                  <a:gs pos="0">
                    <a:srgbClr val="00D4FF">
                      <a:alpha val="10000"/>
                    </a:srgbClr>
                  </a:gs>
                  <a:gs pos="50000">
                    <a:srgbClr val="00D4FF">
                      <a:alpha val="40000"/>
                    </a:srgbClr>
                  </a:gs>
                  <a:gs pos="100000">
                    <a:srgbClr val="00D4FF">
                      <a:alpha val="1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gradFill>
                <a:gsLst>
                  <a:gs pos="0">
                    <a:srgbClr val="00D4FF">
                      <a:alpha val="10000"/>
                    </a:srgbClr>
                  </a:gs>
                  <a:gs pos="50000">
                    <a:srgbClr val="00D4FF">
                      <a:alpha val="40000"/>
                    </a:srgbClr>
                  </a:gs>
                  <a:gs pos="100000">
                    <a:srgbClr val="00D4FF">
                      <a:alpha val="1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952500" y="9525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1428750"/>
                  </a:lnTo>
                </a:path>
              </a:pathLst>
            </a:custGeom>
            <a:solidFill>
              <a:srgbClr val="000000">
                <a:alpha val="15000"/>
              </a:srgbClr>
            </a:solidFill>
            <a:ln w="9525">
              <a:solidFill>
                <a:srgbClr val="00D4FF">
                  <a:alpha val="15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6" name="Freeform 6"/>
            <p:cNvSpPr/>
            <p:nvPr/>
          </p:nvSpPr>
          <p:spPr>
            <a:xfrm>
              <a:off x="9810750" y="44767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142875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15000"/>
              </a:srgbClr>
            </a:solidFill>
            <a:ln w="9525">
              <a:solidFill>
                <a:srgbClr val="00D4FF">
                  <a:alpha val="15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1428750" y="42862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1428750"/>
                  </a:moveTo>
                  <a:lnTo>
                    <a:pt x="1428750" y="0"/>
                  </a:lnTo>
                </a:path>
              </a:pathLst>
            </a:custGeom>
            <a:solidFill>
              <a:srgbClr val="000000">
                <a:alpha val="10000"/>
              </a:srgbClr>
            </a:solidFill>
            <a:ln w="9525">
              <a:solidFill>
                <a:srgbClr val="00D4FF">
                  <a:alpha val="10000"/>
                </a:srgbClr>
              </a:solidFill>
              <a:prstDash val="dash"/>
            </a:ln>
          </p:spPr>
        </p:sp>
        <p:sp>
          <p:nvSpPr>
            <p:cNvPr id="8" name="Freeform 8"/>
            <p:cNvSpPr/>
            <p:nvPr/>
          </p:nvSpPr>
          <p:spPr>
            <a:xfrm>
              <a:off x="9334500" y="11430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0"/>
                  </a:moveTo>
                  <a:lnTo>
                    <a:pt x="0" y="1428750"/>
                  </a:lnTo>
                </a:path>
              </a:pathLst>
            </a:custGeom>
            <a:solidFill>
              <a:srgbClr val="000000">
                <a:alpha val="10000"/>
              </a:srgbClr>
            </a:solidFill>
            <a:ln w="9525">
              <a:solidFill>
                <a:srgbClr val="00D4FF">
                  <a:alpha val="10000"/>
                </a:srgbClr>
              </a:solidFill>
              <a:prstDash val="dash"/>
            </a:ln>
          </p:spPr>
        </p:sp>
        <p:sp>
          <p:nvSpPr>
            <p:cNvPr id="9" name="Ellipse 9"/>
            <p:cNvSpPr/>
            <p:nvPr/>
          </p:nvSpPr>
          <p:spPr>
            <a:xfrm>
              <a:off x="2352675" y="23526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82175" y="444817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38450" y="4267200"/>
              <a:ext cx="38100" cy="381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315450" y="2552700"/>
              <a:ext cx="38100" cy="381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476375" y="1285875"/>
              <a:ext cx="857250" cy="85725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667875" y="4524375"/>
              <a:ext cx="1238250" cy="1238250"/>
            </a:xfrm>
            <a:prstGeom prst="ellipse">
              <a:avLst/>
            </a:prstGeom>
            <a:noFill/>
            <a:ln w="9525">
              <a:solidFill>
                <a:srgbClr val="00D4FF">
                  <a:alpha val="10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428750" y="5048250"/>
              <a:ext cx="571500" cy="571500"/>
            </a:xfrm>
            <a:prstGeom prst="ellipse">
              <a:avLst/>
            </a:pr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144125" y="1190625"/>
              <a:ext cx="666750" cy="666750"/>
            </a:xfrm>
            <a:prstGeom prst="ellipse">
              <a:avLst/>
            </a:pr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1143000" y="2667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190500" y="0"/>
                  </a:lnTo>
                  <a:lnTo>
                    <a:pt x="381000" y="190500"/>
                  </a:lnTo>
                  <a:lnTo>
                    <a:pt x="190500" y="38100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1049000" y="3810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190500" y="0"/>
                  </a:lnTo>
                  <a:lnTo>
                    <a:pt x="381000" y="190500"/>
                  </a:lnTo>
                  <a:lnTo>
                    <a:pt x="190500" y="38100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000500" y="1333500"/>
            <a:ext cx="4191000" cy="4191000"/>
            <a:chOff x="4000500" y="1333500"/>
            <a:chExt cx="4191000" cy="4191000"/>
          </a:xfrm>
        </p:grpSpPr>
        <p:sp>
          <p:nvSpPr>
            <p:cNvPr id="20" name="Ellipse 20"/>
            <p:cNvSpPr/>
            <p:nvPr/>
          </p:nvSpPr>
          <p:spPr>
            <a:xfrm>
              <a:off x="4000500" y="1333500"/>
              <a:ext cx="4191000" cy="4191000"/>
            </a:xfrm>
            <a:prstGeom prst="ellipse">
              <a:avLst/>
            </a:prstGeom>
            <a:solidFill>
              <a:srgbClr val="00D4FF">
                <a:alpha val="3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572000" y="1905000"/>
              <a:ext cx="3048000" cy="3048000"/>
            </a:xfrm>
            <a:prstGeom prst="ellipse">
              <a:avLst/>
            </a:prstGeom>
            <a:solidFill>
              <a:srgbClr val="00D4FF">
                <a:alpha val="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143500" y="2476500"/>
              <a:ext cx="1905000" cy="1905000"/>
            </a:xfrm>
            <a:prstGeom prst="ellipse">
              <a:avLst/>
            </a:prstGeom>
            <a:solidFill>
              <a:srgbClr val="00D4FF">
                <a:alpha val="8000"/>
              </a:srgb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2984140" y="2571750"/>
            <a:ext cx="6223721" cy="2486025"/>
            <a:chOff x="2984140" y="2571750"/>
            <a:chExt cx="6223721" cy="2486025"/>
          </a:xfrm>
        </p:grpSpPr>
        <p:sp>
          <p:nvSpPr>
            <p:cNvPr id="24" name="Line 24"/>
            <p:cNvSpPr/>
            <p:nvPr/>
          </p:nvSpPr>
          <p:spPr>
            <a:xfrm>
              <a:off x="4953000" y="2571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00D4FF">
                      <a:alpha val="0"/>
                    </a:srgbClr>
                  </a:gs>
                  <a:gs pos="50000">
                    <a:srgbClr val="00D4FF">
                      <a:alpha val="80000"/>
                    </a:srgbClr>
                  </a:gs>
                  <a:gs pos="100000">
                    <a:srgbClr val="00D4FF">
                      <a:alpha val="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84140" y="2750820"/>
              <a:ext cx="622372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 vs RAG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5632" y="3869055"/>
              <a:ext cx="58807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大模型时代下两种知识增强范式的深度对比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19725" y="450532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面向技术团队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0" y="5048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52425" y="352425"/>
            <a:ext cx="11487150" cy="6153150"/>
            <a:chOff x="352425" y="352425"/>
            <a:chExt cx="11487150" cy="6153150"/>
          </a:xfrm>
        </p:grpSpPr>
        <p:sp>
          <p:nvSpPr>
            <p:cNvPr id="30" name="Freeform 30"/>
            <p:cNvSpPr/>
            <p:nvPr/>
          </p:nvSpPr>
          <p:spPr>
            <a:xfrm>
              <a:off x="381000" y="38100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0"/>
                  </a:moveTo>
                  <a:lnTo>
                    <a:pt x="666750" y="0"/>
                  </a:lnTo>
                  <a:lnTo>
                    <a:pt x="666750" y="66675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1144250" y="38100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666750" y="0"/>
                  </a:moveTo>
                  <a:lnTo>
                    <a:pt x="0" y="0"/>
                  </a:ln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81000" y="58102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0" y="666750"/>
                  </a:moveTo>
                  <a:lnTo>
                    <a:pt x="666750" y="666750"/>
                  </a:ln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144250" y="5810250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666750" y="666750"/>
                  </a:moveTo>
                  <a:lnTo>
                    <a:pt x="0" y="6667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52425" y="352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782425" y="352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52425" y="6448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782425" y="6448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-1524000"/>
            <a:ext cx="13335000" cy="8572500"/>
            <a:chOff x="0" y="-1524000"/>
            <a:chExt cx="13335000" cy="8572500"/>
          </a:xfrm>
        </p:grpSpPr>
        <p:sp>
          <p:nvSpPr>
            <p:cNvPr id="3" name="Ellipse 3"/>
            <p:cNvSpPr/>
            <p:nvPr/>
          </p:nvSpPr>
          <p:spPr>
            <a:xfrm>
              <a:off x="8001000" y="-1524000"/>
              <a:ext cx="5334000" cy="5334000"/>
            </a:xfrm>
            <a:prstGeom prst="ellipse">
              <a:avLst/>
            </a:prstGeom>
            <a:solidFill>
              <a:srgbClr val="00D4FF">
                <a:alpha val="3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53500" y="-571500"/>
              <a:ext cx="3429000" cy="3429000"/>
            </a:xfrm>
            <a:prstGeom prst="ellipse">
              <a:avLst/>
            </a:prstGeom>
            <a:solidFill>
              <a:srgbClr val="00D4FF">
                <a:alpha val="5000"/>
              </a:srgb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2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049000" y="6096000"/>
              <a:ext cx="952500" cy="952500"/>
            </a:xfrm>
            <a:prstGeom prst="rect">
              <a:avLst/>
            </a:pr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191875" y="6238875"/>
              <a:ext cx="666750" cy="666750"/>
            </a:xfrm>
            <a:prstGeom prst="rect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1487150" y="6534150"/>
              <a:ext cx="76200" cy="76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49050" y="6496050"/>
              <a:ext cx="152400" cy="152400"/>
            </a:xfrm>
            <a:prstGeom prst="ellipse">
              <a:avLst/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3470" y="674370"/>
            <a:ext cx="1890474" cy="1121092"/>
            <a:chOff x="1093470" y="674370"/>
            <a:chExt cx="1890474" cy="1121092"/>
          </a:xfrm>
        </p:grpSpPr>
        <p:sp>
          <p:nvSpPr>
            <p:cNvPr id="12" name="TextBox 12"/>
            <p:cNvSpPr txBox="1"/>
            <p:nvPr/>
          </p:nvSpPr>
          <p:spPr>
            <a:xfrm>
              <a:off x="1093470" y="674370"/>
              <a:ext cx="129521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143000" y="1333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>
              <a:solidFill>
                <a:srgbClr val="00D4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5855" y="1521142"/>
              <a:ext cx="18580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TABLE OF CONTENTS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1428750" y="1809750"/>
            <a:ext cx="9525" cy="4286250"/>
          </a:xfrm>
          <a:custGeom>
            <a:avLst/>
            <a:gdLst/>
            <a:ahLst/>
            <a:cxnLst/>
            <a:rect l="l" t="t" r="r" b="b"/>
            <a:pathLst>
              <a:path w="952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9050">
            <a:solidFill>
              <a:srgbClr val="00D4FF">
                <a:alpha val="25000"/>
              </a:srgbClr>
            </a:solidFill>
          </a:ln>
        </p:spPr>
      </p:sp>
      <p:grpSp>
        <p:nvGrpSpPr>
          <p:cNvPr id="52" name="Group 52"/>
          <p:cNvGrpSpPr/>
          <p:nvPr/>
        </p:nvGrpSpPr>
        <p:grpSpPr>
          <a:xfrm>
            <a:off x="1143000" y="1571625"/>
            <a:ext cx="9172575" cy="4772025"/>
            <a:chOff x="1143000" y="1571625"/>
            <a:chExt cx="9172575" cy="4772025"/>
          </a:xfrm>
        </p:grpSpPr>
        <p:grpSp>
          <p:nvGrpSpPr>
            <p:cNvPr id="21" name="Group 21"/>
            <p:cNvGrpSpPr/>
            <p:nvPr/>
          </p:nvGrpSpPr>
          <p:grpSpPr>
            <a:xfrm>
              <a:off x="1143000" y="1571625"/>
              <a:ext cx="9172575" cy="485775"/>
              <a:chOff x="1143000" y="1571625"/>
              <a:chExt cx="9172575" cy="4857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143000" y="1571625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11938" y="1724025"/>
                <a:ext cx="2336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82140" y="1691640"/>
                <a:ext cx="13601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背景与问题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0258425" y="1781175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143000" y="2286000"/>
              <a:ext cx="9172575" cy="485775"/>
              <a:chOff x="1143000" y="2286000"/>
              <a:chExt cx="9172575" cy="48577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143000" y="2286000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83184" y="2438400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82140" y="2406015"/>
                <a:ext cx="21488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什么是知识图谱？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0258425" y="2495550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143000" y="3000375"/>
              <a:ext cx="9172575" cy="485775"/>
              <a:chOff x="1143000" y="3000375"/>
              <a:chExt cx="9172575" cy="48577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143000" y="3000375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83184" y="31527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882140" y="3120390"/>
                <a:ext cx="160991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什么是 RAG？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0258425" y="3209925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1143000" y="3714750"/>
              <a:ext cx="9172575" cy="485775"/>
              <a:chOff x="1143000" y="3714750"/>
              <a:chExt cx="9172575" cy="4857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143000" y="3714750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83184" y="3867150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882140" y="3834765"/>
                <a:ext cx="162306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核心维度对比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10258425" y="3924300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143000" y="4429125"/>
              <a:ext cx="9172575" cy="485775"/>
              <a:chOff x="1143000" y="4429125"/>
              <a:chExt cx="9172575" cy="48577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143000" y="4429125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83184" y="458152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882140" y="4549140"/>
                <a:ext cx="24117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应用场景与选型指南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10258425" y="4638675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143000" y="5143500"/>
              <a:ext cx="9172575" cy="485775"/>
              <a:chOff x="1143000" y="5143500"/>
              <a:chExt cx="9172575" cy="48577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1143000" y="5143500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83184" y="5295900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882140" y="5263515"/>
                <a:ext cx="251688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GraphRAG：融合之道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0258425" y="5353050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1143000" y="5857875"/>
              <a:ext cx="9172575" cy="485775"/>
              <a:chOff x="1143000" y="5857875"/>
              <a:chExt cx="9172575" cy="4857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1143000" y="5857875"/>
                <a:ext cx="571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1A2332"/>
              </a:solidFill>
              <a:ln w="14288">
                <a:solidFill>
                  <a:srgbClr val="00D4FF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283184" y="60102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882140" y="5977890"/>
                <a:ext cx="13601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总结与展望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10258425" y="6067425"/>
                <a:ext cx="57150" cy="57150"/>
              </a:xfrm>
              <a:prstGeom prst="ellipse">
                <a:avLst/>
              </a:prstGeom>
              <a:solidFill>
                <a:srgbClr val="00D4FF">
                  <a:alpha val="40000"/>
                </a:srgbClr>
              </a:solidFill>
              <a:ln>
                <a:noFill/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952500" y="6347460"/>
            <a:ext cx="10492740" cy="243840"/>
            <a:chOff x="952500" y="6347460"/>
            <a:chExt cx="10492740" cy="243840"/>
          </a:xfrm>
        </p:grpSpPr>
        <p:sp>
          <p:nvSpPr>
            <p:cNvPr id="53" name="Line 53"/>
            <p:cNvSpPr/>
            <p:nvPr/>
          </p:nvSpPr>
          <p:spPr>
            <a:xfrm>
              <a:off x="952500" y="6477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8E9EAB">
                  <a:alpha val="20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71454" y="6347460"/>
              <a:ext cx="5737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1923"/>
                </a:gs>
                <a:gs pos="100000">
                  <a:srgbClr val="1A233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33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52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71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477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85925" y="1304925"/>
              <a:ext cx="57150" cy="5715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48925" y="5495925"/>
              <a:ext cx="57150" cy="5715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71550" y="1924050"/>
            <a:ext cx="3270742" cy="4267200"/>
            <a:chOff x="971550" y="1924050"/>
            <a:chExt cx="3270742" cy="4267200"/>
          </a:xfrm>
        </p:grpSpPr>
        <p:sp>
          <p:nvSpPr>
            <p:cNvPr id="10" name="TextBox 10"/>
            <p:cNvSpPr txBox="1"/>
            <p:nvPr/>
          </p:nvSpPr>
          <p:spPr>
            <a:xfrm>
              <a:off x="971550" y="1924050"/>
              <a:ext cx="3270742" cy="426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0" b="1" dirty="0">
                  <a:solidFill>
                    <a:srgbClr val="00D4FF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1550" y="1924050"/>
              <a:ext cx="3270742" cy="426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0" b="1" dirty="0">
                  <a:solidFill>
                    <a:srgbClr val="00D4FF">
                      <a:alphaMod val="85000"/>
                    </a:srgbClr>
                  </a:solidFill>
                  <a:effectLst>
                    <a:glow rad="57150">
                      <a:srgbClr val="00000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07205" y="2321242"/>
            <a:ext cx="4634151" cy="1188720"/>
            <a:chOff x="4307205" y="2321242"/>
            <a:chExt cx="4634151" cy="1188720"/>
          </a:xfrm>
        </p:grpSpPr>
        <p:sp>
          <p:nvSpPr>
            <p:cNvPr id="13" name="TextBox 13"/>
            <p:cNvSpPr txBox="1"/>
            <p:nvPr/>
          </p:nvSpPr>
          <p:spPr>
            <a:xfrm>
              <a:off x="4307205" y="2321242"/>
              <a:ext cx="4634151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8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背景与问题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381500" y="3286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381500" y="3641408"/>
            <a:ext cx="4459081" cy="640080"/>
            <a:chOff x="4381500" y="3641408"/>
            <a:chExt cx="4459081" cy="640080"/>
          </a:xfrm>
        </p:grpSpPr>
        <p:sp>
          <p:nvSpPr>
            <p:cNvPr id="16" name="Rectangle 16"/>
            <p:cNvSpPr/>
            <p:nvPr/>
          </p:nvSpPr>
          <p:spPr>
            <a:xfrm>
              <a:off x="4381500" y="3714750"/>
              <a:ext cx="57150" cy="304800"/>
            </a:xfrm>
            <a:prstGeom prst="rect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1045" y="3641408"/>
              <a:ext cx="428953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1. 大模型的核心困境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4875" y="6019800"/>
            <a:ext cx="10382250" cy="509588"/>
            <a:chOff x="904875" y="6019800"/>
            <a:chExt cx="10382250" cy="509588"/>
          </a:xfrm>
        </p:grpSpPr>
        <p:sp>
          <p:nvSpPr>
            <p:cNvPr id="19" name="Line 19"/>
            <p:cNvSpPr/>
            <p:nvPr/>
          </p:nvSpPr>
          <p:spPr>
            <a:xfrm>
              <a:off x="952500" y="6096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524000" y="60960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custDash>
                <a:ds d="800000" sp="800000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904875" y="6048375"/>
              <a:ext cx="95250" cy="952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191875" y="6048375"/>
              <a:ext cx="95250" cy="952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19800" y="6019800"/>
              <a:ext cx="152400" cy="15240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5630275" y="6316028"/>
              <a:ext cx="9314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SLIDE 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381000" y="381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1A2332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10287000" y="381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524000" y="0"/>
                </a:moveTo>
                <a:lnTo>
                  <a:pt x="0" y="0"/>
                </a:lnTo>
                <a:moveTo>
                  <a:pt x="1524000" y="0"/>
                </a:moveTo>
                <a:lnTo>
                  <a:pt x="1524000" y="1524000"/>
                </a:lnTo>
              </a:path>
            </a:pathLst>
          </a:custGeom>
          <a:noFill/>
          <a:ln w="19050">
            <a:solidFill>
              <a:srgbClr val="1A2332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381000" y="4953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0" y="1524000"/>
                </a:moveTo>
                <a:lnTo>
                  <a:pt x="1524000" y="1524000"/>
                </a:lnTo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2332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10287000" y="4953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524000" y="1524000"/>
                </a:moveTo>
                <a:lnTo>
                  <a:pt x="0" y="1524000"/>
                </a:lnTo>
                <a:moveTo>
                  <a:pt x="1524000" y="1524000"/>
                </a:moveTo>
                <a:lnTo>
                  <a:pt x="1524000" y="0"/>
                </a:lnTo>
              </a:path>
            </a:pathLst>
          </a:custGeom>
          <a:noFill/>
          <a:ln w="19050">
            <a:solidFill>
              <a:srgbClr val="1A2332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720090" y="691515"/>
            <a:ext cx="4132326" cy="1089660"/>
            <a:chOff x="720090" y="691515"/>
            <a:chExt cx="4132326" cy="1089660"/>
          </a:xfrm>
        </p:grpSpPr>
        <p:sp>
          <p:nvSpPr>
            <p:cNvPr id="7" name="TextBox 7"/>
            <p:cNvSpPr txBox="1"/>
            <p:nvPr/>
          </p:nvSpPr>
          <p:spPr>
            <a:xfrm>
              <a:off x="720090" y="691515"/>
              <a:ext cx="413232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大模型的知识困境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285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>
              <a:solidFill>
                <a:srgbClr val="00D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1537335"/>
              <a:ext cx="10119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PAGE 04 / 21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095500"/>
            <a:ext cx="5267324" cy="2095500"/>
            <a:chOff x="762000" y="2095500"/>
            <a:chExt cx="5267324" cy="2095500"/>
          </a:xfrm>
        </p:grpSpPr>
        <p:sp>
          <p:nvSpPr>
            <p:cNvPr id="11" name="Rectangle 11"/>
            <p:cNvSpPr/>
            <p:nvPr/>
          </p:nvSpPr>
          <p:spPr>
            <a:xfrm>
              <a:off x="762000" y="2095500"/>
              <a:ext cx="2476500" cy="9525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2700000" scaled="1"/>
            </a:gradFill>
            <a:ln w="9525">
              <a:solidFill>
                <a:srgbClr val="2A3B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795" y="229838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2075" y="2314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幻觉问题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26884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模型可能生成与事实不符的内容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2095500"/>
              <a:ext cx="2476500" cy="9525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2700000" scaled="1"/>
            </a:gradFill>
            <a:ln w="9525">
              <a:solidFill>
                <a:srgbClr val="2A3B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93795" y="2298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9075" y="2314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知识时效性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0462" y="26884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训练数据截止后无法感知新信息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238500"/>
              <a:ext cx="2476500" cy="9525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2700000" scaled="1"/>
            </a:gradFill>
            <a:ln w="9525">
              <a:solidFill>
                <a:srgbClr val="2A3B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6795" y="3441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2075" y="3457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领域专业性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383143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通用模型在垂直领域表现不足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429000" y="3238500"/>
              <a:ext cx="2476500" cy="9525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2700000" scaled="1"/>
            </a:gradFill>
            <a:ln w="9525">
              <a:solidFill>
                <a:srgbClr val="2A3B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93795" y="3441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9075" y="3457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可解释性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00462" y="383143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黑盒推理，难以追溯知识来源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6096000" y="3048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solidFill>
            <a:srgbClr val="000000">
              <a:alpha val="70000"/>
            </a:srgbClr>
          </a:solidFill>
          <a:ln w="19050">
            <a:solidFill>
              <a:srgbClr val="00D4FF">
                <a:alpha val="70000"/>
              </a:srgbClr>
            </a:solidFill>
            <a:custDash>
              <a:ds d="300000" sp="200000"/>
            </a:custDash>
          </a:ln>
        </p:spPr>
      </p:sp>
      <p:sp>
        <p:nvSpPr>
          <p:cNvPr id="29" name="Polygon 29"/>
          <p:cNvSpPr/>
          <p:nvPr/>
        </p:nvSpPr>
        <p:spPr>
          <a:xfrm>
            <a:off x="6667500" y="2990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6858000" y="2095500"/>
            <a:ext cx="4762500" cy="2667000"/>
            <a:chOff x="6858000" y="2095500"/>
            <a:chExt cx="4762500" cy="2667000"/>
          </a:xfrm>
        </p:grpSpPr>
        <p:sp>
          <p:nvSpPr>
            <p:cNvPr id="30" name="Rectangle 30"/>
            <p:cNvSpPr/>
            <p:nvPr/>
          </p:nvSpPr>
          <p:spPr>
            <a:xfrm>
              <a:off x="6858000" y="2095500"/>
              <a:ext cx="4762500" cy="2667000"/>
            </a:xfrm>
            <a:prstGeom prst="roundRect">
              <a:avLst>
                <a:gd name="adj" fmla="val 4286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2700000" scaled="1"/>
            </a:gradFill>
            <a:ln w="19050">
              <a:solidFill>
                <a:srgbClr val="00D4FF"/>
              </a:solidFill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6858000" y="209550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14235" y="2456498"/>
              <a:ext cx="269601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→ 两种主流解决方案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18045" y="2965132"/>
              <a:ext cx="16805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知识图谱 &amp; RAG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4712" y="34028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通过外部结构化知识与检索增强机制，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24712" y="3640931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突破大模型固有局限，实现精准可控。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10820400" y="2247900"/>
              <a:ext cx="457200" cy="457200"/>
            </a:xfrm>
            <a:prstGeom prst="ellipse">
              <a:avLst/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953750" y="2381250"/>
              <a:ext cx="190500" cy="1905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11049000" y="2190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763250" y="2476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</a:ln>
          </p:spPr>
        </p:sp>
      </p:grpSp>
      <p:sp>
        <p:nvSpPr>
          <p:cNvPr id="41" name="Line 41"/>
          <p:cNvSpPr/>
          <p:nvPr/>
        </p:nvSpPr>
        <p:spPr>
          <a:xfrm>
            <a:off x="762000" y="6477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1A2332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48665" y="6601778"/>
            <a:ext cx="24343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E9EAB"/>
                </a:solidFill>
                <a:latin typeface="Segoe UI"/>
                <a:ea typeface="Microsoft YaHei"/>
                <a:cs typeface="Segoe UI"/>
              </a:rPr>
              <a:t>AI KNOWLEDGE ENGINEERING SERIES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2332"/>
              </a:gs>
              <a:gs pos="100000">
                <a:srgbClr val="0F192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A2332">
                  <a:alpha val="35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654171" y="1385888"/>
            <a:ext cx="4883658" cy="4005262"/>
            <a:chOff x="3654171" y="1385888"/>
            <a:chExt cx="4883658" cy="4005262"/>
          </a:xfrm>
        </p:grpSpPr>
        <p:sp>
          <p:nvSpPr>
            <p:cNvPr id="10" name="TextBox 10"/>
            <p:cNvSpPr txBox="1"/>
            <p:nvPr/>
          </p:nvSpPr>
          <p:spPr>
            <a:xfrm>
              <a:off x="4858691" y="1385888"/>
              <a:ext cx="2474619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54171" y="3722370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什么是知识图谱？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41090" y="4599622"/>
              <a:ext cx="350982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1. 符号主义的知识组织方式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381500" y="538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00D4FF">
                      <a:alpha val="0"/>
                    </a:srgbClr>
                  </a:gs>
                  <a:gs pos="50000">
                    <a:srgbClr val="00D4FF"/>
                  </a:gs>
                  <a:gs pos="100000">
                    <a:srgbClr val="00D4FF">
                      <a:alpha val="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4" name="Line 14"/>
            <p:cNvSpPr/>
            <p:nvPr/>
          </p:nvSpPr>
          <p:spPr>
            <a:xfrm>
              <a:off x="4381500" y="538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14300" cap="rnd">
              <a:solidFill>
                <a:srgbClr val="00D4FF">
                  <a:alpha val="25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28675" y="666750"/>
            <a:ext cx="10534650" cy="5524500"/>
            <a:chOff x="828675" y="666750"/>
            <a:chExt cx="10534650" cy="5524500"/>
          </a:xfrm>
        </p:grpSpPr>
        <p:sp>
          <p:nvSpPr>
            <p:cNvPr id="16" name="Freeform 16"/>
            <p:cNvSpPr/>
            <p:nvPr/>
          </p:nvSpPr>
          <p:spPr>
            <a:xfrm>
              <a:off x="857250" y="666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0D4FF">
                  <a:alpha val="70000"/>
                </a:srgb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953750" y="5810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381000" y="381000"/>
                  </a:ln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00D4FF">
                  <a:alpha val="70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28675" y="1019175"/>
              <a:ext cx="57150" cy="57150"/>
            </a:xfrm>
            <a:prstGeom prst="ellipse">
              <a:avLst/>
            </a:prstGeom>
            <a:solidFill>
              <a:srgbClr val="00D4FF">
                <a:alpha val="8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06175" y="5781675"/>
              <a:ext cx="57150" cy="57150"/>
            </a:xfrm>
            <a:prstGeom prst="ellipse">
              <a:avLst/>
            </a:prstGeom>
            <a:solidFill>
              <a:srgbClr val="00D4FF">
                <a:alpha val="8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057400" y="1809750"/>
            <a:ext cx="8086725" cy="3314700"/>
            <a:chOff x="2057400" y="1809750"/>
            <a:chExt cx="8086725" cy="3314700"/>
          </a:xfrm>
        </p:grpSpPr>
        <p:sp>
          <p:nvSpPr>
            <p:cNvPr id="21" name="Ellipse 21"/>
            <p:cNvSpPr/>
            <p:nvPr/>
          </p:nvSpPr>
          <p:spPr>
            <a:xfrm>
              <a:off x="2057400" y="2247900"/>
              <a:ext cx="76200" cy="762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048875" y="4524375"/>
              <a:ext cx="95250" cy="9525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2095500" y="180975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47625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0" y="45720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57150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619375" y="18097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47625" y="0"/>
                  </a:moveTo>
                  <a:lnTo>
                    <a:pt x="95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26" name="Polygon 26"/>
            <p:cNvSpPr/>
            <p:nvPr/>
          </p:nvSpPr>
          <p:spPr>
            <a:xfrm>
              <a:off x="9477375" y="50482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47625" y="0"/>
                  </a:moveTo>
                  <a:lnTo>
                    <a:pt x="95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D4FF">
                <a:alpha val="30000"/>
              </a:srgbClr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715500" y="6347460"/>
            <a:ext cx="1729740" cy="243840"/>
            <a:chOff x="9715500" y="6347460"/>
            <a:chExt cx="1729740" cy="243840"/>
          </a:xfrm>
        </p:grpSpPr>
        <p:sp>
          <p:nvSpPr>
            <p:cNvPr id="28" name="TextBox 28"/>
            <p:cNvSpPr txBox="1"/>
            <p:nvPr/>
          </p:nvSpPr>
          <p:spPr>
            <a:xfrm>
              <a:off x="10871454" y="6347460"/>
              <a:ext cx="5737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05 / 21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715500" y="64293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8E9EAB">
                  <a:alpha val="3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0" grpId="0"/>
      <p:bldP spid="27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810000" y="1143000"/>
              <a:ext cx="4572000" cy="4572000"/>
            </a:xfrm>
            <a:prstGeom prst="ellipse">
              <a:avLst/>
            </a:pr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25805" y="597218"/>
            <a:ext cx="11002423" cy="888682"/>
            <a:chOff x="725805" y="597218"/>
            <a:chExt cx="11002423" cy="888682"/>
          </a:xfrm>
        </p:grpSpPr>
        <p:sp>
          <p:nvSpPr>
            <p:cNvPr id="9" name="TextBox 9"/>
            <p:cNvSpPr txBox="1"/>
            <p:nvPr/>
          </p:nvSpPr>
          <p:spPr>
            <a:xfrm>
              <a:off x="725805" y="597218"/>
              <a:ext cx="492369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知识图谱（KG）核心原理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1108710"/>
              <a:ext cx="32815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CORE PRINCIPLES OF KNOWLEDGE GRAPHS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26165" y="791528"/>
              <a:ext cx="5020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06 / 21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14763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00D4FF">
                  <a:alpha val="60000"/>
                </a:srgbClr>
              </a:solidFill>
            </a:ln>
          </p:spPr>
        </p:sp>
      </p:grpSp>
      <p:sp>
        <p:nvSpPr>
          <p:cNvPr id="14" name="Line 14"/>
          <p:cNvSpPr/>
          <p:nvPr/>
        </p:nvSpPr>
        <p:spPr>
          <a:xfrm>
            <a:off x="6096000" y="17145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  <a:custDash>
              <a:ds d="600000" sp="600000"/>
            </a:custDash>
          </a:ln>
        </p:spPr>
      </p:sp>
      <p:grpSp>
        <p:nvGrpSpPr>
          <p:cNvPr id="35" name="Group 35"/>
          <p:cNvGrpSpPr/>
          <p:nvPr/>
        </p:nvGrpSpPr>
        <p:grpSpPr>
          <a:xfrm>
            <a:off x="744855" y="1902142"/>
            <a:ext cx="5434870" cy="4155758"/>
            <a:chOff x="744855" y="1902142"/>
            <a:chExt cx="5434870" cy="4155758"/>
          </a:xfrm>
        </p:grpSpPr>
        <p:grpSp>
          <p:nvGrpSpPr>
            <p:cNvPr id="18" name="Group 18"/>
            <p:cNvGrpSpPr/>
            <p:nvPr/>
          </p:nvGrpSpPr>
          <p:grpSpPr>
            <a:xfrm>
              <a:off x="744855" y="1902142"/>
              <a:ext cx="4468749" cy="345758"/>
              <a:chOff x="744855" y="1902142"/>
              <a:chExt cx="4468749" cy="34575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44855" y="1902142"/>
                <a:ext cx="2018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78230" y="1902142"/>
                <a:ext cx="41353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基于 &lt;实体-关系-实体&gt; 三元组的结构化知识库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62000" y="22383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744855" y="2854642"/>
              <a:ext cx="4734925" cy="345758"/>
              <a:chOff x="744855" y="2854642"/>
              <a:chExt cx="4734925" cy="345758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44855" y="2854642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78230" y="2854642"/>
                <a:ext cx="44015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Schema 先行：预定义本体（Ontology）约束语义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762000" y="3190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744855" y="3807142"/>
              <a:ext cx="5434870" cy="345758"/>
              <a:chOff x="744855" y="3807142"/>
              <a:chExt cx="5434870" cy="34575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44855" y="3807142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78230" y="3807142"/>
                <a:ext cx="51014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推理机制：路径推理、规则推理、图算法（如 PageRank）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762000" y="41433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744855" y="4759642"/>
              <a:ext cx="4587049" cy="345758"/>
              <a:chOff x="744855" y="4759642"/>
              <a:chExt cx="4587049" cy="34575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44855" y="4759642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78230" y="4759642"/>
                <a:ext cx="42536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典型代表：Google Knowledge Graph、Wikidata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62000" y="5095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744855" y="5712142"/>
              <a:ext cx="3719513" cy="345758"/>
              <a:chOff x="744855" y="5712142"/>
              <a:chExt cx="3719513" cy="345758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44855" y="5712142"/>
                <a:ext cx="2511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78230" y="5712142"/>
                <a:ext cx="33861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特点：高精度、可解释、但构建成本高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762000" y="60483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</p:grpSp>
      <p:grpSp>
        <p:nvGrpSpPr>
          <p:cNvPr id="60" name="Group 60"/>
          <p:cNvGrpSpPr/>
          <p:nvPr/>
        </p:nvGrpSpPr>
        <p:grpSpPr>
          <a:xfrm>
            <a:off x="7429500" y="2149316"/>
            <a:ext cx="3994309" cy="3375184"/>
            <a:chOff x="7429500" y="2149316"/>
            <a:chExt cx="3994309" cy="3375184"/>
          </a:xfrm>
        </p:grpSpPr>
        <p:sp>
          <p:nvSpPr>
            <p:cNvPr id="36" name="Polygon 36"/>
            <p:cNvSpPr/>
            <p:nvPr/>
          </p:nvSpPr>
          <p:spPr>
            <a:xfrm>
              <a:off x="7429500" y="2286000"/>
              <a:ext cx="3238500" cy="3238500"/>
            </a:xfrm>
            <a:custGeom>
              <a:avLst/>
              <a:gdLst/>
              <a:ahLst/>
              <a:cxnLst/>
              <a:rect l="l" t="t" r="r" b="b"/>
              <a:pathLst>
                <a:path w="3238500" h="3238500">
                  <a:moveTo>
                    <a:pt x="952500" y="0"/>
                  </a:moveTo>
                  <a:lnTo>
                    <a:pt x="2857500" y="381000"/>
                  </a:lnTo>
                  <a:lnTo>
                    <a:pt x="3238500" y="1905000"/>
                  </a:lnTo>
                  <a:lnTo>
                    <a:pt x="2286000" y="3238500"/>
                  </a:lnTo>
                  <a:lnTo>
                    <a:pt x="381000" y="2857500"/>
                  </a:lnTo>
                  <a:lnTo>
                    <a:pt x="0" y="133350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048750" y="22860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76200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001250" y="2286000"/>
              <a:ext cx="666750" cy="1524000"/>
            </a:xfrm>
            <a:custGeom>
              <a:avLst/>
              <a:gdLst/>
              <a:ahLst/>
              <a:cxnLst/>
              <a:rect l="l" t="t" r="r" b="b"/>
              <a:pathLst>
                <a:path w="666750" h="1524000">
                  <a:moveTo>
                    <a:pt x="0" y="0"/>
                  </a:moveTo>
                  <a:lnTo>
                    <a:pt x="666750" y="1524000"/>
                  </a:lnTo>
                </a:path>
              </a:pathLst>
            </a:cu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287000" y="3810000"/>
              <a:ext cx="381000" cy="1333500"/>
            </a:xfrm>
            <a:custGeom>
              <a:avLst/>
              <a:gdLst/>
              <a:ahLst/>
              <a:cxnLst/>
              <a:rect l="l" t="t" r="r" b="b"/>
              <a:pathLst>
                <a:path w="381000" h="1333500">
                  <a:moveTo>
                    <a:pt x="381000" y="0"/>
                  </a:moveTo>
                  <a:lnTo>
                    <a:pt x="0" y="1333500"/>
                  </a:lnTo>
                </a:path>
              </a:pathLst>
            </a:cu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334500" y="476250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952500" y="3810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048750" y="3048000"/>
              <a:ext cx="285750" cy="1714500"/>
            </a:xfrm>
            <a:custGeom>
              <a:avLst/>
              <a:gdLst/>
              <a:ahLst/>
              <a:cxnLst/>
              <a:rect l="l" t="t" r="r" b="b"/>
              <a:pathLst>
                <a:path w="285750" h="1714500">
                  <a:moveTo>
                    <a:pt x="285750" y="1714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048750" y="3048000"/>
              <a:ext cx="1238250" cy="2095500"/>
            </a:xfrm>
            <a:custGeom>
              <a:avLst/>
              <a:gdLst/>
              <a:ahLst/>
              <a:cxnLst/>
              <a:rect l="l" t="t" r="r" b="b"/>
              <a:pathLst>
                <a:path w="1238250" h="2095500">
                  <a:moveTo>
                    <a:pt x="0" y="0"/>
                  </a:moveTo>
                  <a:lnTo>
                    <a:pt x="1238250" y="209550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9334500" y="2286000"/>
              <a:ext cx="666750" cy="2476500"/>
            </a:xfrm>
            <a:custGeom>
              <a:avLst/>
              <a:gdLst/>
              <a:ahLst/>
              <a:cxnLst/>
              <a:rect l="l" t="t" r="r" b="b"/>
              <a:pathLst>
                <a:path w="666750" h="2476500">
                  <a:moveTo>
                    <a:pt x="66675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  <a:prstDash val="dash"/>
            </a:ln>
          </p:spPr>
        </p:sp>
        <p:sp>
          <p:nvSpPr>
            <p:cNvPr id="44" name="Ellipse 44"/>
            <p:cNvSpPr/>
            <p:nvPr/>
          </p:nvSpPr>
          <p:spPr>
            <a:xfrm>
              <a:off x="8953500" y="2952750"/>
              <a:ext cx="190500" cy="19050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877300" y="2876550"/>
              <a:ext cx="342900" cy="342900"/>
            </a:xfrm>
            <a:prstGeom prst="ellipse">
              <a:avLst/>
            </a:prstGeom>
            <a:noFill/>
            <a:ln w="9525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9925050" y="2209800"/>
              <a:ext cx="152400" cy="1524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582275" y="3724275"/>
              <a:ext cx="171450" cy="17145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220325" y="5076825"/>
              <a:ext cx="133350" cy="13335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229725" y="4657725"/>
              <a:ext cx="209550" cy="20955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144000" y="4572000"/>
              <a:ext cx="381000" cy="381000"/>
            </a:xfrm>
            <a:prstGeom prst="ellipse">
              <a:avLst/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133648" y="2149316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Entity_A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00398" y="36733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Relation_X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19398" y="5006816"/>
              <a:ext cx="5209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Entity_B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6898" y="4625816"/>
              <a:ext cx="545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Ontology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91500" y="2857500"/>
              <a:ext cx="381000" cy="19050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91500" y="2914650"/>
              <a:ext cx="238125" cy="19050"/>
            </a:xfrm>
            <a:prstGeom prst="rect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1210925" y="3019425"/>
              <a:ext cx="57150" cy="57150"/>
            </a:xfrm>
            <a:prstGeom prst="ellipse">
              <a:avLst/>
            </a:prstGeom>
            <a:solidFill>
              <a:srgbClr val="00D4FF">
                <a:alpha val="70000"/>
              </a:srgbClr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1210925" y="3114675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1210925" y="3209925"/>
              <a:ext cx="57150" cy="57150"/>
            </a:xfrm>
            <a:prstGeom prst="ellipse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923"/>
              </a:gs>
              <a:gs pos="100000">
                <a:srgbClr val="141E2B"/>
              </a:gs>
            </a:gsLst>
            <a:lin ang="270000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-952500"/>
            <a:ext cx="13620750" cy="7810500"/>
            <a:chOff x="0" y="-952500"/>
            <a:chExt cx="13620750" cy="78105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6858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286750" y="-9525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239250" y="0"/>
              <a:ext cx="3429000" cy="3429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191750" y="9525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096250" y="9525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50" y="0"/>
                  </a:moveTo>
                  <a:lnTo>
                    <a:pt x="952500" y="476250"/>
                  </a:lnTo>
                  <a:lnTo>
                    <a:pt x="476250" y="95250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525000" y="38100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50" y="0"/>
                  </a:moveTo>
                  <a:lnTo>
                    <a:pt x="952500" y="476250"/>
                  </a:lnTo>
                  <a:lnTo>
                    <a:pt x="476250" y="95250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38175" y="757238"/>
            <a:ext cx="3708178" cy="5472112"/>
            <a:chOff x="638175" y="757238"/>
            <a:chExt cx="3708178" cy="5472112"/>
          </a:xfrm>
        </p:grpSpPr>
        <p:sp>
          <p:nvSpPr>
            <p:cNvPr id="11" name="TextBox 11"/>
            <p:cNvSpPr txBox="1"/>
            <p:nvPr/>
          </p:nvSpPr>
          <p:spPr>
            <a:xfrm>
              <a:off x="638175" y="757238"/>
              <a:ext cx="1892356" cy="198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0" b="1" dirty="0">
                  <a:solidFill>
                    <a:srgbClr val="00D4F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085499"/>
              <a:ext cx="864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SLIDE 07 / 21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090" y="2406015"/>
              <a:ext cx="362626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知识图谱技术栈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048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00D4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全链路架构解析与核心组件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3900" y="6153150"/>
              <a:ext cx="76200" cy="7620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4000500" y="1143000"/>
            <a:ext cx="7429500" cy="4810125"/>
            <a:chOff x="4000500" y="1143000"/>
            <a:chExt cx="7429500" cy="4810125"/>
          </a:xfrm>
        </p:grpSpPr>
        <p:grpSp>
          <p:nvGrpSpPr>
            <p:cNvPr id="24" name="Group 24"/>
            <p:cNvGrpSpPr/>
            <p:nvPr/>
          </p:nvGrpSpPr>
          <p:grpSpPr>
            <a:xfrm>
              <a:off x="4000500" y="1143000"/>
              <a:ext cx="7429500" cy="809625"/>
              <a:chOff x="4000500" y="1143000"/>
              <a:chExt cx="7429500" cy="8096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000500" y="1143000"/>
                <a:ext cx="7429500" cy="809625"/>
              </a:xfrm>
              <a:prstGeom prst="roundRect">
                <a:avLst>
                  <a:gd name="adj" fmla="val 9412"/>
                </a:avLst>
              </a:prstGeom>
              <a:gradFill>
                <a:gsLst>
                  <a:gs pos="0">
                    <a:srgbClr val="1A2332">
                      <a:alpha val="95000"/>
                    </a:srgbClr>
                  </a:gs>
                  <a:gs pos="100000">
                    <a:srgbClr val="151D28">
                      <a:alpha val="95000"/>
                    </a:srgbClr>
                  </a:gs>
                </a:gsLst>
                <a:lin ang="0" scaled="1"/>
              </a:gradFill>
              <a:ln w="14288">
                <a:solidFill>
                  <a:srgbClr val="00D4FF">
                    <a:alpha val="95000"/>
                  </a:srgbClr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000500" y="1143000"/>
                <a:ext cx="5715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356735" y="1389698"/>
                <a:ext cx="303712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838700" y="1314450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存储层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843462" y="1593056"/>
                <a:ext cx="36597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Neo4j / NebulaGraph / JanusGraph（图数据库）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000500" y="2143125"/>
              <a:ext cx="7429500" cy="809625"/>
              <a:chOff x="4000500" y="2143125"/>
              <a:chExt cx="7429500" cy="80962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000500" y="2143125"/>
                <a:ext cx="7429500" cy="809625"/>
              </a:xfrm>
              <a:prstGeom prst="roundRect">
                <a:avLst>
                  <a:gd name="adj" fmla="val 9412"/>
                </a:avLst>
              </a:prstGeom>
              <a:gradFill>
                <a:gsLst>
                  <a:gs pos="0">
                    <a:srgbClr val="1A2332">
                      <a:alpha val="95000"/>
                    </a:srgbClr>
                  </a:gs>
                  <a:gs pos="100000">
                    <a:srgbClr val="151D28">
                      <a:alpha val="95000"/>
                    </a:srgbClr>
                  </a:gs>
                </a:gsLst>
                <a:lin ang="0" scaled="1"/>
              </a:gradFill>
              <a:ln w="14288">
                <a:solidFill>
                  <a:srgbClr val="00D4FF">
                    <a:alpha val="95000"/>
                  </a:srgbClr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000500" y="2143125"/>
                <a:ext cx="5715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356735" y="2389822"/>
                <a:ext cx="378471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38700" y="2314575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构建层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43462" y="2593181"/>
                <a:ext cx="26985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NLP 实体抽取 + 关系抽取 + 知识融合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000500" y="3143250"/>
              <a:ext cx="7429500" cy="809625"/>
              <a:chOff x="4000500" y="3143250"/>
              <a:chExt cx="7429500" cy="8096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000500" y="3143250"/>
                <a:ext cx="7429500" cy="809625"/>
              </a:xfrm>
              <a:prstGeom prst="roundRect">
                <a:avLst>
                  <a:gd name="adj" fmla="val 9412"/>
                </a:avLst>
              </a:prstGeom>
              <a:gradFill>
                <a:gsLst>
                  <a:gs pos="0">
                    <a:srgbClr val="1A2332">
                      <a:alpha val="95000"/>
                    </a:srgbClr>
                  </a:gs>
                  <a:gs pos="100000">
                    <a:srgbClr val="151D28">
                      <a:alpha val="95000"/>
                    </a:srgbClr>
                  </a:gs>
                </a:gsLst>
                <a:lin ang="0" scaled="1"/>
              </a:gradFill>
              <a:ln w="14288">
                <a:solidFill>
                  <a:srgbClr val="00D4FF">
                    <a:alpha val="95000"/>
                  </a:srgbClr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000500" y="3143250"/>
                <a:ext cx="5715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56735" y="3389948"/>
                <a:ext cx="378471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38700" y="3314700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查询层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43462" y="3593306"/>
                <a:ext cx="2107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SPARQL / Cypher / Gremlin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4143375"/>
              <a:ext cx="7429500" cy="809625"/>
              <a:chOff x="4000500" y="4143375"/>
              <a:chExt cx="7429500" cy="80962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000500" y="4143375"/>
                <a:ext cx="7429500" cy="809625"/>
              </a:xfrm>
              <a:prstGeom prst="roundRect">
                <a:avLst>
                  <a:gd name="adj" fmla="val 9412"/>
                </a:avLst>
              </a:prstGeom>
              <a:gradFill>
                <a:gsLst>
                  <a:gs pos="0">
                    <a:srgbClr val="1A2332">
                      <a:alpha val="95000"/>
                    </a:srgbClr>
                  </a:gs>
                  <a:gs pos="100000">
                    <a:srgbClr val="151D28">
                      <a:alpha val="95000"/>
                    </a:srgbClr>
                  </a:gs>
                </a:gsLst>
                <a:lin ang="0" scaled="1"/>
              </a:gradFill>
              <a:ln w="14288">
                <a:solidFill>
                  <a:srgbClr val="00D4FF">
                    <a:alpha val="95000"/>
                  </a:srgbClr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000500" y="4143375"/>
                <a:ext cx="5715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356735" y="4390072"/>
                <a:ext cx="378471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838700" y="4314825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推理层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843462" y="4593431"/>
                <a:ext cx="19920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规则引擎 / GNN / 符号推理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000500" y="5143500"/>
              <a:ext cx="7429500" cy="809625"/>
              <a:chOff x="4000500" y="5143500"/>
              <a:chExt cx="7429500" cy="809625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000500" y="5143500"/>
                <a:ext cx="7429500" cy="809625"/>
              </a:xfrm>
              <a:prstGeom prst="roundRect">
                <a:avLst>
                  <a:gd name="adj" fmla="val 9412"/>
                </a:avLst>
              </a:prstGeom>
              <a:gradFill>
                <a:gsLst>
                  <a:gs pos="0">
                    <a:srgbClr val="1A2332">
                      <a:alpha val="98000"/>
                    </a:srgbClr>
                  </a:gs>
                  <a:gs pos="100000">
                    <a:srgbClr val="151D28">
                      <a:alpha val="98000"/>
                    </a:srgbClr>
                  </a:gs>
                </a:gsLst>
                <a:lin ang="0" scaled="1"/>
              </a:gradFill>
              <a:ln w="19050">
                <a:solidFill>
                  <a:srgbClr val="00D4FF">
                    <a:alpha val="98000"/>
                  </a:srgbClr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000500" y="5143500"/>
                <a:ext cx="57150" cy="809625"/>
              </a:xfrm>
              <a:prstGeom prst="roundRect">
                <a:avLst>
                  <a:gd name="adj" fmla="val 50000"/>
                </a:avLst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5" name="Polygon 45"/>
              <p:cNvSpPr/>
              <p:nvPr/>
            </p:nvSpPr>
            <p:spPr>
              <a:xfrm>
                <a:off x="4333875" y="54006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lnTo>
                      <a:pt x="142875" y="0"/>
                    </a:lnTo>
                    <a:lnTo>
                      <a:pt x="285750" y="142875"/>
                    </a:lnTo>
                    <a:lnTo>
                      <a:pt x="142875" y="285750"/>
                    </a:ln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791075" y="5267325"/>
                <a:ext cx="129175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与 LLM 结合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795838" y="5545931"/>
                <a:ext cx="45962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KG-LLM 双向增强：结构化知识引导生成，大模型反馈优化图谱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733425" y="6448425"/>
            <a:ext cx="10725150" cy="352425"/>
            <a:chOff x="733425" y="6448425"/>
            <a:chExt cx="10725150" cy="352425"/>
          </a:xfrm>
        </p:grpSpPr>
        <p:sp>
          <p:nvSpPr>
            <p:cNvPr id="50" name="Line 50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33425" y="6448425"/>
              <a:ext cx="57150" cy="571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1401425" y="6448425"/>
              <a:ext cx="57150" cy="571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0570" y="6617970"/>
              <a:ext cx="3709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© 2024 Knowledge Graph Architecture Series | Confidential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952500" y="0"/>
            <a:ext cx="13144500" cy="6858000"/>
            <a:chOff x="-952500" y="0"/>
            <a:chExt cx="13144500" cy="6858000"/>
          </a:xfrm>
        </p:grpSpPr>
        <p:sp>
          <p:nvSpPr>
            <p:cNvPr id="3" name="Line 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952500" y="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-177856" y="1323975"/>
            <a:ext cx="3803761" cy="3981450"/>
            <a:chOff x="-177856" y="1323975"/>
            <a:chExt cx="3803761" cy="3981450"/>
          </a:xfrm>
        </p:grpSpPr>
        <p:sp>
          <p:nvSpPr>
            <p:cNvPr id="8" name="TextBox 8"/>
            <p:cNvSpPr txBox="1"/>
            <p:nvPr/>
          </p:nvSpPr>
          <p:spPr>
            <a:xfrm>
              <a:off x="-177856" y="1323975"/>
              <a:ext cx="3784711" cy="396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0" b="1" dirty="0">
                  <a:solidFill>
                    <a:srgbClr val="00D4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158806" y="1343025"/>
              <a:ext cx="3784711" cy="396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0" b="1" dirty="0">
                  <a:solidFill>
                    <a:srgbClr val="00D4FF">
                      <a:alphaMod val="2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01540" y="2339340"/>
            <a:ext cx="4501667" cy="1794510"/>
            <a:chOff x="4701540" y="2339340"/>
            <a:chExt cx="4501667" cy="1794510"/>
          </a:xfrm>
        </p:grpSpPr>
        <p:sp>
          <p:nvSpPr>
            <p:cNvPr id="11" name="TextBox 11"/>
            <p:cNvSpPr txBox="1"/>
            <p:nvPr/>
          </p:nvSpPr>
          <p:spPr>
            <a:xfrm>
              <a:off x="4701540" y="2339340"/>
              <a:ext cx="450166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什么是 RAG？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2020" y="3646170"/>
              <a:ext cx="36187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1. 检索增强生成的范式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5375" y="6048375"/>
            <a:ext cx="10001250" cy="133350"/>
            <a:chOff x="1095375" y="6048375"/>
            <a:chExt cx="10001250" cy="133350"/>
          </a:xfrm>
        </p:grpSpPr>
        <p:sp>
          <p:nvSpPr>
            <p:cNvPr id="14" name="Line 14"/>
            <p:cNvSpPr/>
            <p:nvPr/>
          </p:nvSpPr>
          <p:spPr>
            <a:xfrm>
              <a:off x="1143000" y="6096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 cap="rnd">
              <a:solidFill>
                <a:srgbClr val="00D4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143000" y="61722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 cap="rnd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95375" y="6048375"/>
              <a:ext cx="95250" cy="95250"/>
            </a:xfrm>
            <a:prstGeom prst="rect">
              <a:avLst/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001375" y="6048375"/>
              <a:ext cx="95250" cy="95250"/>
            </a:xfrm>
            <a:prstGeom prst="rect">
              <a:avLst/>
            </a:prstGeom>
            <a:solidFill>
              <a:srgbClr val="00D4FF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1131772" y="63636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E9EAB"/>
                </a:solidFill>
                <a:latin typeface="Arial"/>
                <a:ea typeface="Microsoft YaHei"/>
                <a:cs typeface="Arial"/>
              </a:rPr>
              <a:t>08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D4FF">
                  <a:alpha val="5000"/>
                </a:srgbClr>
              </a:gs>
              <a:gs pos="100000">
                <a:srgbClr val="0F192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76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66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27710" y="565785"/>
            <a:ext cx="2532188" cy="777240"/>
            <a:chOff x="727710" y="565785"/>
            <a:chExt cx="2532188" cy="777240"/>
          </a:xfrm>
        </p:grpSpPr>
        <p:sp>
          <p:nvSpPr>
            <p:cNvPr id="18" name="TextBox 18"/>
            <p:cNvSpPr txBox="1"/>
            <p:nvPr/>
          </p:nvSpPr>
          <p:spPr>
            <a:xfrm>
              <a:off x="727710" y="565785"/>
              <a:ext cx="253218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RAG 核心原理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6760" y="1013460"/>
              <a:ext cx="9243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Slide 9 / 21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1333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00D4FF"/>
                  </a:gs>
                  <a:gs pos="100000">
                    <a:srgbClr val="00D4FF">
                      <a:alpha val="30000"/>
                    </a:srgbClr>
                  </a:gs>
                </a:gsLst>
                <a:lin ang="0" scaled="1"/>
              </a:gra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14500" y="2476500"/>
            <a:ext cx="9525" cy="3048000"/>
            <a:chOff x="1714500" y="2476500"/>
            <a:chExt cx="9525" cy="3048000"/>
          </a:xfrm>
        </p:grpSpPr>
        <p:sp>
          <p:nvSpPr>
            <p:cNvPr id="22" name="Line 22"/>
            <p:cNvSpPr/>
            <p:nvPr/>
          </p:nvSpPr>
          <p:spPr>
            <a:xfrm>
              <a:off x="1714500" y="2476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D4FF">
                  <a:alpha val="4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1714500" y="3429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D4FF">
                  <a:alpha val="4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1714500" y="4381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D4FF">
                  <a:alpha val="4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1714500" y="5334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D4FF">
                  <a:alpha val="40000"/>
                </a:srgbClr>
              </a:solidFill>
              <a:custDash>
                <a:ds d="300000" sp="200000"/>
              </a:custDash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333500" y="1714500"/>
            <a:ext cx="9525000" cy="4572000"/>
            <a:chOff x="1333500" y="1714500"/>
            <a:chExt cx="9525000" cy="4572000"/>
          </a:xfrm>
        </p:grpSpPr>
        <p:grpSp>
          <p:nvGrpSpPr>
            <p:cNvPr id="33" name="Group 33"/>
            <p:cNvGrpSpPr/>
            <p:nvPr/>
          </p:nvGrpSpPr>
          <p:grpSpPr>
            <a:xfrm>
              <a:off x="1333500" y="1714500"/>
              <a:ext cx="9525000" cy="762000"/>
              <a:chOff x="1333500" y="1714500"/>
              <a:chExt cx="9525000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333500" y="1714500"/>
                <a:ext cx="952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00D4FF">
                    <a:alpha val="20000"/>
                  </a:srgbClr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543050" y="192405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671657" y="2013585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078355" y="1902142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三段式架构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082165" y="2172652"/>
                <a:ext cx="39141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索引（Index） → 检索（Retrieve） → 生成（Generate）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9715500" y="20002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285750" y="95250"/>
                    </a:lnTo>
                    <a:lnTo>
                      <a:pt x="190500" y="0"/>
                    </a:lnTo>
                    <a:moveTo>
                      <a:pt x="285750" y="9525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333500" y="2667000"/>
              <a:ext cx="9525000" cy="762000"/>
              <a:chOff x="1333500" y="2667000"/>
              <a:chExt cx="9525000" cy="762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333500" y="2667000"/>
                <a:ext cx="952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00D4FF">
                    <a:alpha val="20000"/>
                  </a:srgbClr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1543050" y="287655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48654" y="296608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078355" y="2854642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向量化处理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82165" y="3125152"/>
                <a:ext cx="28636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文档切片 → Embedding 模型 → 向量数据库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715500" y="2952750"/>
                <a:ext cx="381000" cy="190500"/>
              </a:xfrm>
              <a:prstGeom prst="roundRect">
                <a:avLst>
                  <a:gd name="adj" fmla="val 20000"/>
                </a:avLst>
              </a:pr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9763125" y="30480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1333500" y="3619500"/>
              <a:ext cx="9525000" cy="762000"/>
              <a:chOff x="1333500" y="3619500"/>
              <a:chExt cx="9525000" cy="762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1333500" y="3619500"/>
                <a:ext cx="952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00D4FF">
                    <a:alpha val="20000"/>
                  </a:srgbClr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543050" y="382905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648654" y="391858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078355" y="380714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语义检索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082165" y="4077652"/>
                <a:ext cx="20739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基于余弦相似度的 top-k 召回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91700" y="3886200"/>
                <a:ext cx="228600" cy="228600"/>
              </a:xfrm>
              <a:prstGeom prst="ellipse">
                <a:avLst/>
              </a:pr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9867900" y="3962400"/>
                <a:ext cx="76200" cy="762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9906000" y="3810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9906000" y="41148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9715500" y="4000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762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0020300" y="4000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1333500" y="4572000"/>
              <a:ext cx="9525000" cy="762000"/>
              <a:chOff x="1333500" y="4572000"/>
              <a:chExt cx="9525000" cy="762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1333500" y="4572000"/>
                <a:ext cx="952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00D4FF">
                    <a:alpha val="20000"/>
                  </a:srgbClr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1543050" y="478155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648654" y="487108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078355" y="475964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注入推理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082165" y="5030152"/>
                <a:ext cx="2825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将检索上下文注入 LLM Prompt 进行生成</a:t>
                </a:r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9715500" y="48577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745861" y="4919662"/>
                <a:ext cx="32027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00D4FF"/>
                    </a:solidFill>
                    <a:latin typeface="Consolas"/>
                    <a:ea typeface="Microsoft YaHei"/>
                    <a:cs typeface="Consolas"/>
                  </a:rPr>
                  <a:t>{ctx}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333500" y="5524500"/>
              <a:ext cx="9525000" cy="762000"/>
              <a:chOff x="1333500" y="5524500"/>
              <a:chExt cx="9525000" cy="762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1333500" y="5524500"/>
                <a:ext cx="952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00D4FF">
                    <a:alpha val="20000"/>
                  </a:srgbClr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1543050" y="5734050"/>
                <a:ext cx="342900" cy="3429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648654" y="582358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5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078355" y="571214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核心特点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082165" y="5982652"/>
                <a:ext cx="32777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Segoe UI"/>
                    <a:ea typeface="Microsoft YaHei"/>
                    <a:cs typeface="Segoe UI"/>
                  </a:rPr>
                  <a:t>灵活 · 低成本 · 实时更新 | 精度受限于检索质量</a:t>
                </a:r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715500" y="5810250"/>
                <a:ext cx="381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0">
                    <a:moveTo>
                      <a:pt x="0" y="95250"/>
                    </a:moveTo>
                    <a:lnTo>
                      <a:pt x="95250" y="0"/>
                    </a:lnTo>
                    <a:lnTo>
                      <a:pt x="190500" y="95250"/>
                    </a:lnTo>
                    <a:lnTo>
                      <a:pt x="285750" y="0"/>
                    </a:lnTo>
                    <a:lnTo>
                      <a:pt x="381000" y="95250"/>
                    </a:lnTo>
                  </a:path>
                </a:pathLst>
              </a:custGeom>
              <a:noFill/>
              <a:ln w="14288">
                <a:solidFill>
                  <a:srgbClr val="00D4FF"/>
                </a:solidFill>
              </a:ln>
            </p:spPr>
          </p:sp>
        </p:grpSp>
      </p:grpSp>
      <p:grpSp>
        <p:nvGrpSpPr>
          <p:cNvPr id="75" name="Group 75"/>
          <p:cNvGrpSpPr/>
          <p:nvPr/>
        </p:nvGrpSpPr>
        <p:grpSpPr>
          <a:xfrm>
            <a:off x="11049000" y="381000"/>
            <a:ext cx="762000" cy="762000"/>
            <a:chOff x="11049000" y="381000"/>
            <a:chExt cx="762000" cy="762000"/>
          </a:xfrm>
        </p:grpSpPr>
        <p:sp>
          <p:nvSpPr>
            <p:cNvPr id="70" name="Ellipse 70"/>
            <p:cNvSpPr/>
            <p:nvPr/>
          </p:nvSpPr>
          <p:spPr>
            <a:xfrm>
              <a:off x="11049000" y="381000"/>
              <a:ext cx="762000" cy="762000"/>
            </a:xfrm>
            <a:prstGeom prst="ellipse">
              <a:avLst/>
            </a:prstGeom>
            <a:noFill/>
            <a:ln w="19050">
              <a:solidFill>
                <a:srgbClr val="00D4FF">
                  <a:alpha val="10000"/>
                </a:srgbClr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11239500" y="571500"/>
              <a:ext cx="381000" cy="381000"/>
            </a:xfrm>
            <a:prstGeom prst="ellipse">
              <a:avLst/>
            </a:prstGeom>
            <a:noFill/>
            <a:ln w="19050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11049000" y="762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00D4FF">
                  <a:alpha val="10000"/>
                </a:srgbClr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11430000" y="3810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rgbClr val="00D4FF">
                  <a:alpha val="10000"/>
                </a:srgbClr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1239500" y="571500"/>
              <a:ext cx="381000" cy="381000"/>
            </a:xfrm>
            <a:prstGeom prst="roundRect">
              <a:avLst>
                <a:gd name="adj" fmla="val 10000"/>
              </a:avLst>
            </a:prstGeom>
            <a:noFill/>
            <a:ln w="9525">
              <a:solidFill>
                <a:srgbClr val="00D4FF">
                  <a:alpha val="5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763500" cy="6858000"/>
            <a:chOff x="0" y="0"/>
            <a:chExt cx="127635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191500" y="1143000"/>
              <a:ext cx="4572000" cy="4572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763000" y="17145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9334500" y="2286000"/>
              <a:ext cx="2286000" cy="22860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  <a:custDash>
                <a:ds d="200000" sp="6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8191500" y="1143000"/>
              <a:ext cx="4572000" cy="4572000"/>
            </a:xfrm>
            <a:custGeom>
              <a:avLst/>
              <a:gdLst/>
              <a:ahLst/>
              <a:cxnLst/>
              <a:rect l="l" t="t" r="r" b="b"/>
              <a:pathLst>
                <a:path w="4572000" h="4572000">
                  <a:moveTo>
                    <a:pt x="2286000" y="0"/>
                  </a:moveTo>
                  <a:lnTo>
                    <a:pt x="2286000" y="4572000"/>
                  </a:lnTo>
                  <a:moveTo>
                    <a:pt x="0" y="2286000"/>
                  </a:moveTo>
                  <a:lnTo>
                    <a:pt x="4572000" y="2286000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9525">
              <a:solidFill>
                <a:srgbClr val="00D4FF">
                  <a:alpha val="50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16280" y="563880"/>
            <a:ext cx="11485816" cy="922020"/>
            <a:chOff x="716280" y="563880"/>
            <a:chExt cx="11485816" cy="922020"/>
          </a:xfrm>
        </p:grpSpPr>
        <p:sp>
          <p:nvSpPr>
            <p:cNvPr id="11" name="TextBox 11"/>
            <p:cNvSpPr txBox="1"/>
            <p:nvPr/>
          </p:nvSpPr>
          <p:spPr>
            <a:xfrm>
              <a:off x="716280" y="563880"/>
              <a:ext cx="282418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RAG 技术栈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6760" y="1156335"/>
              <a:ext cx="40264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RETRIEVAL-AUGMENTED GENERATION ARCHITECTURE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07140" y="758190"/>
              <a:ext cx="7949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10 / 21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4763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00D4FF">
                  <a:alpha val="60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42950" y="1790700"/>
            <a:ext cx="5181600" cy="1181100"/>
            <a:chOff x="742950" y="1790700"/>
            <a:chExt cx="5181600" cy="1181100"/>
          </a:xfrm>
        </p:grpSpPr>
        <p:sp>
          <p:nvSpPr>
            <p:cNvPr id="16" name="Rectangle 16"/>
            <p:cNvSpPr/>
            <p:nvPr/>
          </p:nvSpPr>
          <p:spPr>
            <a:xfrm>
              <a:off x="762000" y="180975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1790700"/>
              <a:ext cx="5181600" cy="1181100"/>
            </a:xfrm>
            <a:prstGeom prst="roundRect">
              <a:avLst>
                <a:gd name="adj" fmla="val 11290"/>
              </a:avLst>
            </a:prstGeom>
            <a:noFill/>
            <a:ln w="3810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85825" y="2171700"/>
              <a:ext cx="419100" cy="4191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 w="19050">
              <a:solidFill>
                <a:srgbClr val="00D4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1925" y="23088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55420" y="2155508"/>
              <a:ext cx="1863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Embedding 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2088" y="2526506"/>
              <a:ext cx="2296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text-embedding-3 / BGE / E5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" y="3219450"/>
            <a:ext cx="5181600" cy="1181100"/>
            <a:chOff x="742950" y="3219450"/>
            <a:chExt cx="5181600" cy="1181100"/>
          </a:xfrm>
        </p:grpSpPr>
        <p:sp>
          <p:nvSpPr>
            <p:cNvPr id="23" name="Rectangle 23"/>
            <p:cNvSpPr/>
            <p:nvPr/>
          </p:nvSpPr>
          <p:spPr>
            <a:xfrm>
              <a:off x="762000" y="323850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" y="3219450"/>
              <a:ext cx="5181600" cy="1181100"/>
            </a:xfrm>
            <a:prstGeom prst="roundRect">
              <a:avLst>
                <a:gd name="adj" fmla="val 11290"/>
              </a:avLst>
            </a:prstGeom>
            <a:noFill/>
            <a:ln w="3810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85825" y="3600450"/>
              <a:ext cx="419100" cy="4191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 w="19050">
              <a:solidFill>
                <a:srgbClr val="00D4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8922" y="3737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5420" y="358425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向量数据库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62088" y="3955256"/>
              <a:ext cx="2920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Milvus / Pinecone / Qdrant / Chroma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2950" y="4648200"/>
            <a:ext cx="5181600" cy="1181100"/>
            <a:chOff x="742950" y="4648200"/>
            <a:chExt cx="5181600" cy="1181100"/>
          </a:xfrm>
        </p:grpSpPr>
        <p:sp>
          <p:nvSpPr>
            <p:cNvPr id="30" name="Rectangle 30"/>
            <p:cNvSpPr/>
            <p:nvPr/>
          </p:nvSpPr>
          <p:spPr>
            <a:xfrm>
              <a:off x="762000" y="466725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2950" y="4648200"/>
              <a:ext cx="5181600" cy="1181100"/>
            </a:xfrm>
            <a:prstGeom prst="roundRect">
              <a:avLst>
                <a:gd name="adj" fmla="val 11290"/>
              </a:avLst>
            </a:prstGeom>
            <a:noFill/>
            <a:ln w="3810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5825" y="5029200"/>
              <a:ext cx="419100" cy="4191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 w="19050">
              <a:solidFill>
                <a:srgbClr val="00D4F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8922" y="51663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55420" y="5013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检索策略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2088" y="5384006"/>
              <a:ext cx="255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Dense Retrieval + BM25 混合检索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57950" y="1790700"/>
            <a:ext cx="5181600" cy="1181100"/>
            <a:chOff x="6457950" y="1790700"/>
            <a:chExt cx="5181600" cy="1181100"/>
          </a:xfrm>
        </p:grpSpPr>
        <p:sp>
          <p:nvSpPr>
            <p:cNvPr id="37" name="Rectangle 37"/>
            <p:cNvSpPr/>
            <p:nvPr/>
          </p:nvSpPr>
          <p:spPr>
            <a:xfrm>
              <a:off x="6477000" y="180975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1790700"/>
              <a:ext cx="5181600" cy="1181100"/>
            </a:xfrm>
            <a:prstGeom prst="roundRect">
              <a:avLst>
                <a:gd name="adj" fmla="val 11290"/>
              </a:avLst>
            </a:prstGeom>
            <a:noFill/>
            <a:ln w="3810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600825" y="2171700"/>
              <a:ext cx="419100" cy="4191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 w="19050">
              <a:solidFill>
                <a:srgbClr val="00D4F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93922" y="2308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0" y="2155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优化技术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77088" y="2526506"/>
              <a:ext cx="2575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RAPTOR / HyDE / Self-RAG / CRAG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57950" y="3219450"/>
            <a:ext cx="5181600" cy="1181100"/>
            <a:chOff x="6457950" y="3219450"/>
            <a:chExt cx="5181600" cy="1181100"/>
          </a:xfrm>
        </p:grpSpPr>
        <p:sp>
          <p:nvSpPr>
            <p:cNvPr id="44" name="Rectangle 44"/>
            <p:cNvSpPr/>
            <p:nvPr/>
          </p:nvSpPr>
          <p:spPr>
            <a:xfrm>
              <a:off x="6477000" y="323850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57950" y="3219450"/>
              <a:ext cx="5181600" cy="1181100"/>
            </a:xfrm>
            <a:prstGeom prst="roundRect">
              <a:avLst>
                <a:gd name="adj" fmla="val 11290"/>
              </a:avLst>
            </a:prstGeom>
            <a:noFill/>
            <a:ln w="3810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600825" y="3600450"/>
              <a:ext cx="419100" cy="419100"/>
            </a:xfrm>
            <a:prstGeom prst="ellipse">
              <a:avLst/>
            </a:prstGeom>
            <a:solidFill>
              <a:srgbClr val="00D4FF">
                <a:alpha val="15000"/>
              </a:srgbClr>
            </a:solidFill>
            <a:ln w="19050">
              <a:solidFill>
                <a:srgbClr val="00D4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93922" y="37376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70420" y="35842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框架生态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77088" y="3955256"/>
              <a:ext cx="27560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Consolas"/>
                  <a:ea typeface="Microsoft YaHei"/>
                  <a:cs typeface="Consolas"/>
                </a:rPr>
                <a:t>LangChain / LlamaIndex / Haystack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48665" y="6477000"/>
            <a:ext cx="10681335" cy="290512"/>
            <a:chOff x="748665" y="6477000"/>
            <a:chExt cx="10681335" cy="290512"/>
          </a:xfrm>
        </p:grpSpPr>
        <p:sp>
          <p:nvSpPr>
            <p:cNvPr id="51" name="Line 51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8665" y="655415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E9EAB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SYSTEM ARCHITECTURE // RAG STACK OVERVIEW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239500" y="6572250"/>
              <a:ext cx="190500" cy="38100"/>
            </a:xfrm>
            <a:prstGeom prst="rect">
              <a:avLst/>
            </a:prstGeom>
            <a:solidFill>
              <a:srgbClr val="00D4FF">
                <a:alpha val="8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6" grpId="0"/>
      <p:bldP spid="43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2332"/>
              </a:gs>
              <a:gs pos="100000">
                <a:srgbClr val="0F192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762000"/>
            <a:ext cx="10668000" cy="5334000"/>
            <a:chOff x="762000" y="762000"/>
            <a:chExt cx="10668000" cy="5334000"/>
          </a:xfrm>
        </p:grpSpPr>
        <p:sp>
          <p:nvSpPr>
            <p:cNvPr id="9" name="Freeform 9"/>
            <p:cNvSpPr/>
            <p:nvPr/>
          </p:nvSpPr>
          <p:spPr>
            <a:xfrm>
              <a:off x="7620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571500"/>
                  </a:moveTo>
                  <a:lnTo>
                    <a:pt x="0" y="0"/>
                  </a:ln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858500" y="76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5715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620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0" y="571500"/>
                  </a:lnTo>
                  <a:lnTo>
                    <a:pt x="571500" y="57150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858500" y="5524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0"/>
                  </a:moveTo>
                  <a:lnTo>
                    <a:pt x="571500" y="571500"/>
                  </a:ln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640342" y="857250"/>
            <a:ext cx="2911316" cy="3048000"/>
            <a:chOff x="4640342" y="857250"/>
            <a:chExt cx="2911316" cy="3048000"/>
          </a:xfrm>
        </p:grpSpPr>
        <p:sp>
          <p:nvSpPr>
            <p:cNvPr id="14" name="TextBox 14"/>
            <p:cNvSpPr txBox="1"/>
            <p:nvPr/>
          </p:nvSpPr>
          <p:spPr>
            <a:xfrm>
              <a:off x="4640342" y="857250"/>
              <a:ext cx="2911316" cy="304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0" b="1" dirty="0">
                  <a:solidFill>
                    <a:srgbClr val="00D4FF">
                      <a:alphaMod val="12000"/>
                    </a:srgbClr>
                  </a:solidFill>
                  <a:effectLst>
                    <a:glow rad="76200">
                      <a:srgbClr val="00000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0342" y="857250"/>
              <a:ext cx="2911316" cy="304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97116" y="3101340"/>
            <a:ext cx="4997768" cy="1537335"/>
            <a:chOff x="3597116" y="3101340"/>
            <a:chExt cx="4997768" cy="1537335"/>
          </a:xfrm>
        </p:grpSpPr>
        <p:sp>
          <p:nvSpPr>
            <p:cNvPr id="17" name="TextBox 17"/>
            <p:cNvSpPr txBox="1"/>
            <p:nvPr/>
          </p:nvSpPr>
          <p:spPr>
            <a:xfrm>
              <a:off x="3826764" y="3101340"/>
              <a:ext cx="45384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核心维度对比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7116" y="4090035"/>
              <a:ext cx="49977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知识图谱 vs RAG — 全面对决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952875" y="5076825"/>
            <a:ext cx="4286250" cy="133350"/>
            <a:chOff x="3952875" y="5076825"/>
            <a:chExt cx="4286250" cy="133350"/>
          </a:xfrm>
        </p:grpSpPr>
        <p:sp>
          <p:nvSpPr>
            <p:cNvPr id="20" name="Line 20"/>
            <p:cNvSpPr/>
            <p:nvPr/>
          </p:nvSpPr>
          <p:spPr>
            <a:xfrm>
              <a:off x="4000500" y="5143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334000" y="5143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952875" y="5095875"/>
              <a:ext cx="95250" cy="952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8143875" y="5095875"/>
              <a:ext cx="95250" cy="9525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24" name="Ellipse 24"/>
            <p:cNvSpPr/>
            <p:nvPr/>
          </p:nvSpPr>
          <p:spPr>
            <a:xfrm>
              <a:off x="6029325" y="5076825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25" name="Line 25"/>
            <p:cNvSpPr/>
            <p:nvPr/>
          </p:nvSpPr>
          <p:spPr>
            <a:xfrm>
              <a:off x="4572000" y="51435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524750" y="51435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6" grpId="0"/>
      <p:bldP spid="19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23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619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57250" y="666750"/>
              <a:ext cx="571500" cy="571500"/>
            </a:xfrm>
            <a:prstGeom prst="ellipse">
              <a:avLst/>
            </a:pr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20375" y="5476875"/>
              <a:ext cx="857250" cy="85725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52500" y="62865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190500"/>
                  </a:moveTo>
                  <a:lnTo>
                    <a:pt x="190500" y="0"/>
                  </a:lnTo>
                  <a:lnTo>
                    <a:pt x="381000" y="190500"/>
                  </a:lnTo>
                </a:path>
              </a:pathLst>
            </a:custGeom>
            <a:noFill/>
            <a:ln w="9525">
              <a:solidFill>
                <a:srgbClr val="00D4FF">
                  <a:alpha val="2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858500" y="571500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0" y="0"/>
                  </a:moveTo>
                  <a:lnTo>
                    <a:pt x="190500" y="1905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00D4FF">
                  <a:alpha val="2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8185" y="437198"/>
            <a:ext cx="3711733" cy="977264"/>
            <a:chOff x="718185" y="437198"/>
            <a:chExt cx="3711733" cy="977264"/>
          </a:xfrm>
        </p:grpSpPr>
        <p:sp>
          <p:nvSpPr>
            <p:cNvPr id="11" name="TextBox 11"/>
            <p:cNvSpPr txBox="1"/>
            <p:nvPr/>
          </p:nvSpPr>
          <p:spPr>
            <a:xfrm>
              <a:off x="718185" y="437198"/>
              <a:ext cx="371173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🔹 知识表示方式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10001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4855" y="1140142"/>
              <a:ext cx="3553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Knowledge Representation Paradigms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1524000"/>
            <a:ext cx="4762500" cy="3905250"/>
            <a:chOff x="762000" y="1524000"/>
            <a:chExt cx="4762500" cy="3905250"/>
          </a:xfrm>
        </p:grpSpPr>
        <p:sp>
          <p:nvSpPr>
            <p:cNvPr id="15" name="Rectangle 15"/>
            <p:cNvSpPr/>
            <p:nvPr/>
          </p:nvSpPr>
          <p:spPr>
            <a:xfrm>
              <a:off x="762000" y="1524000"/>
              <a:ext cx="4762500" cy="3905250"/>
            </a:xfrm>
            <a:prstGeom prst="roundRect">
              <a:avLst>
                <a:gd name="adj" fmla="val 2439"/>
              </a:avLst>
            </a:prstGeom>
            <a:solidFill>
              <a:srgbClr val="1A2332">
                <a:alpha val="85000"/>
              </a:srgbClr>
            </a:solidFill>
            <a:ln w="9525">
              <a:solidFill>
                <a:srgbClr val="00D4FF">
                  <a:alpha val="8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425" y="1804988"/>
              <a:ext cx="18341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1. 知识图谱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2045" y="2298382"/>
              <a:ext cx="3415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显式符号化表示，结构化三元组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924050" y="2914650"/>
              <a:ext cx="2135504" cy="1321594"/>
              <a:chOff x="1924050" y="2914650"/>
              <a:chExt cx="2135504" cy="1321594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924050" y="3257550"/>
                <a:ext cx="342900" cy="342900"/>
              </a:xfrm>
              <a:prstGeom prst="ellipse">
                <a:avLst/>
              </a:prstGeom>
              <a:solidFill>
                <a:srgbClr val="00D4FF">
                  <a:alpha val="90000"/>
                </a:srgbClr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914650" y="2914650"/>
                <a:ext cx="266700" cy="266700"/>
              </a:xfrm>
              <a:prstGeom prst="ellipse">
                <a:avLst/>
              </a:prstGeom>
              <a:solidFill>
                <a:srgbClr val="00D4FF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457450" y="3981450"/>
                <a:ext cx="228600" cy="228600"/>
              </a:xfrm>
              <a:prstGeom prst="ellipse">
                <a:avLst/>
              </a:prstGeom>
              <a:solidFill>
                <a:srgbClr val="00D4FF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524250" y="3619500"/>
                <a:ext cx="190500" cy="190500"/>
              </a:xfrm>
              <a:prstGeom prst="ellipse">
                <a:avLst/>
              </a:prstGeom>
              <a:solidFill>
                <a:srgbClr val="00D4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2095500" y="3048000"/>
                <a:ext cx="952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381000">
                    <a:moveTo>
                      <a:pt x="0" y="381000"/>
                    </a:moveTo>
                    <a:lnTo>
                      <a:pt x="952500" y="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80000"/>
                  </a:srgbClr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2095500" y="3429000"/>
                <a:ext cx="4762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666750">
                    <a:moveTo>
                      <a:pt x="0" y="0"/>
                    </a:moveTo>
                    <a:lnTo>
                      <a:pt x="476250" y="66675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80000"/>
                  </a:srgbClr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3048000" y="3048000"/>
                <a:ext cx="571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666750">
                    <a:moveTo>
                      <a:pt x="0" y="0"/>
                    </a:moveTo>
                    <a:lnTo>
                      <a:pt x="571500" y="66675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80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2571750" y="3714750"/>
                <a:ext cx="1047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381000">
                    <a:moveTo>
                      <a:pt x="0" y="381000"/>
                    </a:moveTo>
                    <a:lnTo>
                      <a:pt x="1047750" y="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80000"/>
                  </a:srgbClr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321242" y="3371374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实体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178492" y="2990374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关系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02242" y="4038124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属性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49992" y="3657124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事件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667500" y="1524000"/>
            <a:ext cx="4762500" cy="3905250"/>
            <a:chOff x="6667500" y="1524000"/>
            <a:chExt cx="4762500" cy="3905250"/>
          </a:xfrm>
        </p:grpSpPr>
        <p:sp>
          <p:nvSpPr>
            <p:cNvPr id="32" name="Rectangle 32"/>
            <p:cNvSpPr/>
            <p:nvPr/>
          </p:nvSpPr>
          <p:spPr>
            <a:xfrm>
              <a:off x="6667500" y="1524000"/>
              <a:ext cx="4762500" cy="3905250"/>
            </a:xfrm>
            <a:prstGeom prst="roundRect">
              <a:avLst>
                <a:gd name="adj" fmla="val 2439"/>
              </a:avLst>
            </a:prstGeom>
            <a:solidFill>
              <a:srgbClr val="1A2332">
                <a:alpha val="85000"/>
              </a:srgbClr>
            </a:solidFill>
            <a:ln w="9525">
              <a:solidFill>
                <a:srgbClr val="00D4FF">
                  <a:alpha val="8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19925" y="1804988"/>
              <a:ext cx="11095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2. RAG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7545" y="2298382"/>
              <a:ext cx="38976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隐式语义表示，非结构化文档向量化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334250" y="3143250"/>
              <a:ext cx="1905000" cy="1576388"/>
              <a:chOff x="7334250" y="3143250"/>
              <a:chExt cx="1905000" cy="1576388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429500" y="3238500"/>
                <a:ext cx="95250" cy="1047750"/>
              </a:xfrm>
              <a:prstGeom prst="rect">
                <a:avLst/>
              </a:prstGeom>
              <a:solidFill>
                <a:srgbClr val="00D4FF">
                  <a:alpha val="90000"/>
                </a:srgbClr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7667625" y="3429000"/>
                <a:ext cx="95250" cy="857250"/>
              </a:xfrm>
              <a:prstGeom prst="rect">
                <a:avLst/>
              </a:prstGeom>
              <a:solidFill>
                <a:srgbClr val="00D4FF">
                  <a:alpha val="75000"/>
                </a:srgbClr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7905750" y="3143250"/>
                <a:ext cx="95250" cy="1143000"/>
              </a:xfrm>
              <a:prstGeom prst="rect">
                <a:avLst/>
              </a:prstGeom>
              <a:solidFill>
                <a:srgbClr val="00D4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143875" y="3524250"/>
                <a:ext cx="95250" cy="762000"/>
              </a:xfrm>
              <a:prstGeom prst="rect">
                <a:avLst/>
              </a:prstGeom>
              <a:solidFill>
                <a:srgbClr val="00D4FF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382000" y="3333750"/>
                <a:ext cx="95250" cy="952500"/>
              </a:xfrm>
              <a:prstGeom prst="rect">
                <a:avLst/>
              </a:prstGeom>
              <a:solidFill>
                <a:srgbClr val="00D4FF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620125" y="3286125"/>
                <a:ext cx="95250" cy="1000125"/>
              </a:xfrm>
              <a:prstGeom prst="rect">
                <a:avLst/>
              </a:prstGeom>
              <a:solidFill>
                <a:srgbClr val="00D4FF">
                  <a:alpha val="88000"/>
                </a:srgbClr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858250" y="3476625"/>
                <a:ext cx="95250" cy="809625"/>
              </a:xfrm>
              <a:prstGeom prst="rect">
                <a:avLst/>
              </a:prstGeom>
              <a:solidFill>
                <a:srgbClr val="00D4FF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9096375" y="3190875"/>
                <a:ext cx="95250" cy="1095375"/>
              </a:xfrm>
              <a:prstGeom prst="rect">
                <a:avLst/>
              </a:prstGeom>
              <a:solidFill>
                <a:srgbClr val="00D4FF">
                  <a:alpha val="92000"/>
                </a:srgbClr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334250" y="43815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16165" y="4506278"/>
                <a:ext cx="12534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高维向量嵌入空间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5981700" y="1524000"/>
            <a:ext cx="228600" cy="3905250"/>
            <a:chOff x="5981700" y="1524000"/>
            <a:chExt cx="228600" cy="3905250"/>
          </a:xfrm>
        </p:grpSpPr>
        <p:sp>
          <p:nvSpPr>
            <p:cNvPr id="47" name="Line 47"/>
            <p:cNvSpPr/>
            <p:nvPr/>
          </p:nvSpPr>
          <p:spPr>
            <a:xfrm>
              <a:off x="6096000" y="152400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48" name="Ellipse 48"/>
            <p:cNvSpPr/>
            <p:nvPr/>
          </p:nvSpPr>
          <p:spPr>
            <a:xfrm>
              <a:off x="6038850" y="3419475"/>
              <a:ext cx="114300" cy="114300"/>
            </a:xfrm>
            <a:prstGeom prst="ellipse">
              <a:avLst/>
            </a:prstGeom>
            <a:solidFill>
              <a:srgbClr val="00D4FF">
                <a:alpha val="8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981700" y="3362325"/>
              <a:ext cx="228600" cy="228600"/>
            </a:xfrm>
            <a:prstGeom prst="ellipse">
              <a:avLst/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3663984" y="5837872"/>
            <a:ext cx="4864032" cy="448628"/>
            <a:chOff x="3663984" y="5837872"/>
            <a:chExt cx="4864032" cy="448628"/>
          </a:xfrm>
        </p:grpSpPr>
        <p:sp>
          <p:nvSpPr>
            <p:cNvPr id="51" name="TextBox 51"/>
            <p:cNvSpPr txBox="1"/>
            <p:nvPr/>
          </p:nvSpPr>
          <p:spPr>
            <a:xfrm>
              <a:off x="3663984" y="5837872"/>
              <a:ext cx="48640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本质区别：符号主义 vs 连接主义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381500" y="623887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6048375" y="6191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0" y="6537960"/>
            <a:ext cx="1920240" cy="243840"/>
            <a:chOff x="9525000" y="6537960"/>
            <a:chExt cx="1920240" cy="243840"/>
          </a:xfrm>
        </p:grpSpPr>
        <p:sp>
          <p:nvSpPr>
            <p:cNvPr id="55" name="TextBox 55"/>
            <p:cNvSpPr txBox="1"/>
            <p:nvPr/>
          </p:nvSpPr>
          <p:spPr>
            <a:xfrm>
              <a:off x="10915269" y="6537960"/>
              <a:ext cx="5299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12 / 21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525000" y="661987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8E9EAB">
                  <a:alpha val="3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46" grpId="0"/>
      <p:bldP spid="50" grpId="0"/>
      <p:bldP spid="54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91590" y="596265"/>
            <a:ext cx="4056417" cy="994410"/>
            <a:chOff x="1291590" y="596265"/>
            <a:chExt cx="4056417" cy="994410"/>
          </a:xfrm>
        </p:grpSpPr>
        <p:sp>
          <p:nvSpPr>
            <p:cNvPr id="10" name="TextBox 10"/>
            <p:cNvSpPr txBox="1"/>
            <p:nvPr/>
          </p:nvSpPr>
          <p:spPr>
            <a:xfrm>
              <a:off x="1291590" y="596265"/>
              <a:ext cx="4056417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🔹 检索与推理机制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333500" y="1190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8260" y="1346835"/>
              <a:ext cx="29573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RETRIEVAL &amp; REASONING MECHANISMS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6096000" y="152400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19050">
            <a:solidFill>
              <a:srgbClr val="00D4FF">
                <a:alpha val="40000"/>
              </a:srgbClr>
            </a:solidFill>
            <a:custDash>
              <a:ds d="300000" sp="300000"/>
            </a:custDash>
          </a:ln>
        </p:spPr>
      </p:sp>
      <p:grpSp>
        <p:nvGrpSpPr>
          <p:cNvPr id="30" name="Group 30"/>
          <p:cNvGrpSpPr/>
          <p:nvPr/>
        </p:nvGrpSpPr>
        <p:grpSpPr>
          <a:xfrm>
            <a:off x="1333500" y="1524000"/>
            <a:ext cx="4381500" cy="3048000"/>
            <a:chOff x="1333500" y="1524000"/>
            <a:chExt cx="4381500" cy="3048000"/>
          </a:xfrm>
        </p:grpSpPr>
        <p:sp>
          <p:nvSpPr>
            <p:cNvPr id="15" name="Rectangle 15"/>
            <p:cNvSpPr/>
            <p:nvPr/>
          </p:nvSpPr>
          <p:spPr>
            <a:xfrm>
              <a:off x="1333500" y="1524000"/>
              <a:ext cx="4381500" cy="3048000"/>
            </a:xfrm>
            <a:prstGeom prst="roundRect">
              <a:avLst>
                <a:gd name="adj" fmla="val 3125"/>
              </a:avLst>
            </a:prstGeom>
            <a:solidFill>
              <a:srgbClr val="1A2332">
                <a:alpha val="85000"/>
              </a:srgbClr>
            </a:solidFill>
            <a:ln w="14288">
              <a:solidFill>
                <a:srgbClr val="00D4FF">
                  <a:alpha val="8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89735" y="1789748"/>
              <a:ext cx="199327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知识图谱 (KG)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7355" y="22831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核心机制：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95450" y="2647950"/>
              <a:ext cx="1100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精确匹配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95450" y="3028950"/>
              <a:ext cx="8815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图遍历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95450" y="3409950"/>
              <a:ext cx="1100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多跳推理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4333875" y="2047875"/>
              <a:ext cx="476250" cy="1238250"/>
              <a:chOff x="4333875" y="2047875"/>
              <a:chExt cx="476250" cy="123825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4381500" y="2095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0"/>
                    </a:moveTo>
                    <a:lnTo>
                      <a:pt x="381000" y="38100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4381500" y="2476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3810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381500" y="2857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0"/>
                    </a:moveTo>
                    <a:lnTo>
                      <a:pt x="381000" y="381000"/>
                    </a:ln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381500" y="2095500"/>
                <a:ext cx="381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143000">
                    <a:moveTo>
                      <a:pt x="0" y="0"/>
                    </a:moveTo>
                    <a:lnTo>
                      <a:pt x="381000" y="114300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40000"/>
                  </a:srgbClr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333875" y="2047875"/>
                <a:ext cx="95250" cy="95250"/>
              </a:xfrm>
              <a:prstGeom prst="ellipse">
                <a:avLst/>
              </a:prstGeom>
              <a:solidFill>
                <a:srgbClr val="00D4FF"/>
              </a:solidFill>
              <a:ln w="19050">
                <a:solidFill>
                  <a:srgbClr val="00D4FF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4714875" y="2428875"/>
                <a:ext cx="95250" cy="95250"/>
              </a:xfrm>
              <a:prstGeom prst="ellipse">
                <a:avLst/>
              </a:prstGeom>
              <a:solidFill>
                <a:srgbClr val="00D4FF"/>
              </a:solidFill>
              <a:ln w="19050">
                <a:solidFill>
                  <a:srgbClr val="00D4FF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333875" y="2809875"/>
                <a:ext cx="95250" cy="95250"/>
              </a:xfrm>
              <a:prstGeom prst="ellipse">
                <a:avLst/>
              </a:prstGeom>
              <a:solidFill>
                <a:srgbClr val="00D4FF"/>
              </a:solidFill>
              <a:ln w="19050">
                <a:solidFill>
                  <a:srgbClr val="00D4FF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714875" y="3190875"/>
                <a:ext cx="95250" cy="95250"/>
              </a:xfrm>
              <a:prstGeom prst="ellipse">
                <a:avLst/>
              </a:prstGeom>
              <a:solidFill>
                <a:srgbClr val="00D4FF"/>
              </a:solidFill>
              <a:ln w="19050">
                <a:solidFill>
                  <a:srgbClr val="00D4FF"/>
                </a:solidFill>
              </a:ln>
            </p:spPr>
          </p:sp>
        </p:grpSp>
      </p:grpSp>
      <p:grpSp>
        <p:nvGrpSpPr>
          <p:cNvPr id="43" name="Group 43"/>
          <p:cNvGrpSpPr/>
          <p:nvPr/>
        </p:nvGrpSpPr>
        <p:grpSpPr>
          <a:xfrm>
            <a:off x="6477000" y="1524000"/>
            <a:ext cx="4381500" cy="3048000"/>
            <a:chOff x="6477000" y="1524000"/>
            <a:chExt cx="4381500" cy="3048000"/>
          </a:xfrm>
        </p:grpSpPr>
        <p:sp>
          <p:nvSpPr>
            <p:cNvPr id="31" name="Rectangle 31"/>
            <p:cNvSpPr/>
            <p:nvPr/>
          </p:nvSpPr>
          <p:spPr>
            <a:xfrm>
              <a:off x="6477000" y="1524000"/>
              <a:ext cx="4381500" cy="3048000"/>
            </a:xfrm>
            <a:prstGeom prst="roundRect">
              <a:avLst>
                <a:gd name="adj" fmla="val 3125"/>
              </a:avLst>
            </a:prstGeom>
            <a:solidFill>
              <a:srgbClr val="1A2332">
                <a:alpha val="85000"/>
              </a:srgbClr>
            </a:solidFill>
            <a:ln w="14288">
              <a:solidFill>
                <a:srgbClr val="00D4FF">
                  <a:alpha val="8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3235" y="1789748"/>
              <a:ext cx="12307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RAG 架构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0855" y="228314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核心机制：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38950" y="2647950"/>
              <a:ext cx="15387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模糊语义检索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38950" y="3028950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LLM 隐式推理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38950" y="3409950"/>
              <a:ext cx="17578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动态上下文注入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572500" y="1968500"/>
              <a:ext cx="1524000" cy="1333500"/>
              <a:chOff x="8572500" y="1968500"/>
              <a:chExt cx="1524000" cy="1333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572500" y="1968500"/>
                <a:ext cx="1524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571500">
                    <a:moveTo>
                      <a:pt x="0" y="127000"/>
                    </a:moveTo>
                    <a:cubicBezTo>
                      <a:pt x="254000" y="0"/>
                      <a:pt x="508000" y="63500"/>
                      <a:pt x="762000" y="317500"/>
                    </a:cubicBezTo>
                    <a:cubicBezTo>
                      <a:pt x="1016000" y="571500"/>
                      <a:pt x="1270000" y="508000"/>
                      <a:pt x="1524000" y="127000"/>
                    </a:cubicBezTo>
                  </a:path>
                </a:pathLst>
              </a:custGeom>
              <a:noFill/>
              <a:ln w="19050">
                <a:solidFill>
                  <a:srgbClr val="00D4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0" y="2349500"/>
                <a:ext cx="1524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571500">
                    <a:moveTo>
                      <a:pt x="0" y="127000"/>
                    </a:moveTo>
                    <a:cubicBezTo>
                      <a:pt x="254000" y="0"/>
                      <a:pt x="508000" y="63500"/>
                      <a:pt x="762000" y="317500"/>
                    </a:cubicBezTo>
                    <a:cubicBezTo>
                      <a:pt x="1016000" y="571500"/>
                      <a:pt x="1270000" y="508000"/>
                      <a:pt x="1524000" y="127000"/>
                    </a:cubicBezTo>
                  </a:path>
                </a:pathLst>
              </a:custGeom>
              <a:noFill/>
              <a:ln w="19050">
                <a:solidFill>
                  <a:srgbClr val="00D4FF">
                    <a:alpha val="6000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72500" y="2730500"/>
                <a:ext cx="1524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571500">
                    <a:moveTo>
                      <a:pt x="0" y="127000"/>
                    </a:moveTo>
                    <a:cubicBezTo>
                      <a:pt x="254000" y="0"/>
                      <a:pt x="508000" y="63500"/>
                      <a:pt x="762000" y="317500"/>
                    </a:cubicBezTo>
                    <a:cubicBezTo>
                      <a:pt x="1016000" y="571500"/>
                      <a:pt x="1270000" y="508000"/>
                      <a:pt x="1524000" y="127000"/>
                    </a:cubicBezTo>
                  </a:path>
                </a:pathLst>
              </a:custGeom>
              <a:noFill/>
              <a:ln w="19050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9296400" y="22479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D4FF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9677400" y="215265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D4FF"/>
                </a:solidFill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1333500" y="4953000"/>
            <a:ext cx="9525000" cy="762000"/>
            <a:chOff x="1333500" y="4953000"/>
            <a:chExt cx="9525000" cy="762000"/>
          </a:xfrm>
        </p:grpSpPr>
        <p:sp>
          <p:nvSpPr>
            <p:cNvPr id="44" name="Rectangle 44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rgbClr val="00D4FF">
                <a:alpha val="8000"/>
              </a:srgbClr>
            </a:solidFill>
            <a:ln w="14288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424539" y="5232082"/>
              <a:ext cx="53429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KG 擅长确定性推理 ｜ RAG 擅长开放式语义理解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43000" y="1143000"/>
            <a:ext cx="9906000" cy="4572000"/>
            <a:chOff x="1143000" y="1143000"/>
            <a:chExt cx="9906000" cy="4572000"/>
          </a:xfrm>
        </p:grpSpPr>
        <p:sp>
          <p:nvSpPr>
            <p:cNvPr id="47" name="Polyline 47"/>
            <p:cNvSpPr/>
            <p:nvPr/>
          </p:nvSpPr>
          <p:spPr>
            <a:xfrm>
              <a:off x="1143000" y="1143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48" name="Polyline 48"/>
            <p:cNvSpPr/>
            <p:nvPr/>
          </p:nvSpPr>
          <p:spPr>
            <a:xfrm>
              <a:off x="10858500" y="1143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1905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49" name="Polyline 49"/>
            <p:cNvSpPr/>
            <p:nvPr/>
          </p:nvSpPr>
          <p:spPr>
            <a:xfrm>
              <a:off x="1143000" y="5524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50" name="Polyline 50"/>
            <p:cNvSpPr/>
            <p:nvPr/>
          </p:nvSpPr>
          <p:spPr>
            <a:xfrm>
              <a:off x="10858500" y="5524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43" grpId="0"/>
      <p:bldP spid="46" grpId="0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762000"/>
            <a:ext cx="12192000" cy="5334000"/>
            <a:chOff x="0" y="762000"/>
            <a:chExt cx="12192000" cy="5334000"/>
          </a:xfrm>
        </p:grpSpPr>
        <p:sp>
          <p:nvSpPr>
            <p:cNvPr id="3" name="Line 3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5905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00D4FF">
                  <a:alpha val="8000"/>
                </a:srgbClr>
              </a:solidFill>
              <a:custDash>
                <a:ds d="600000" sp="12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4191000" y="15240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00D4FF">
                  <a:alpha val="6000"/>
                </a:srgbClr>
              </a:solidFill>
              <a:custDash>
                <a:ds d="300000" sp="900000"/>
              </a:custDash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31520" y="455295"/>
            <a:ext cx="10698480" cy="487680"/>
            <a:chOff x="731520" y="455295"/>
            <a:chExt cx="10698480" cy="487680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455295"/>
              <a:ext cx="295012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🔹 核心能力对比表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9048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00D4FF">
                  <a:alpha val="80000"/>
                </a:srgbClr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762000" y="1047750"/>
            <a:ext cx="10668000" cy="4486275"/>
            <a:chOff x="762000" y="1047750"/>
            <a:chExt cx="10668000" cy="4486275"/>
          </a:xfrm>
        </p:grpSpPr>
        <p:sp>
          <p:nvSpPr>
            <p:cNvPr id="11" name="Rectangle 11"/>
            <p:cNvSpPr/>
            <p:nvPr/>
          </p:nvSpPr>
          <p:spPr>
            <a:xfrm>
              <a:off x="762000" y="1047750"/>
              <a:ext cx="10668000" cy="476250"/>
            </a:xfrm>
            <a:prstGeom prst="roundRect">
              <a:avLst>
                <a:gd name="adj" fmla="val 12000"/>
              </a:avLst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59553" y="1140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评估维度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17178" y="1140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8059" y="1140142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62000" y="1619250"/>
              <a:ext cx="10668000" cy="581025"/>
              <a:chOff x="762000" y="1619250"/>
              <a:chExt cx="10668000" cy="58102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161925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912620" y="1775460"/>
                <a:ext cx="5562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精确性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792152" y="1775460"/>
                <a:ext cx="512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46170" y="1775460"/>
                <a:ext cx="3196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⭐⭐⭐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62000" y="219075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2286000"/>
              <a:ext cx="10668000" cy="581025"/>
              <a:chOff x="762000" y="2286000"/>
              <a:chExt cx="10668000" cy="5810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228600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912620" y="2442210"/>
                <a:ext cx="5562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召回率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888546" y="2442210"/>
                <a:ext cx="3196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⭐⭐⭐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697974" y="244221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762000" y="28575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62000" y="2952750"/>
              <a:ext cx="10668000" cy="581025"/>
              <a:chOff x="762000" y="2952750"/>
              <a:chExt cx="10668000" cy="5810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295275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824990" y="3108960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构建成本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36742" y="3108960"/>
                <a:ext cx="2232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697974" y="310896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762000" y="352425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3619500"/>
              <a:ext cx="10668000" cy="581025"/>
              <a:chOff x="762000" y="3619500"/>
              <a:chExt cx="10668000" cy="5810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2000" y="361950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824990" y="3775710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可解释性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92152" y="3775710"/>
                <a:ext cx="512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⭐⭐⭐⭐⭐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746170" y="3775710"/>
                <a:ext cx="3196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⭐⭐⭐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762000" y="41910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762000" y="4286250"/>
              <a:ext cx="10668000" cy="581025"/>
              <a:chOff x="762000" y="4286250"/>
              <a:chExt cx="10668000" cy="58102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62000" y="428625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912620" y="4442460"/>
                <a:ext cx="5562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实时性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36742" y="4442460"/>
                <a:ext cx="2232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49778" y="4442460"/>
                <a:ext cx="512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⭐⭐⭐⭐⭐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762000" y="485775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762000" y="4953000"/>
              <a:ext cx="10668000" cy="581025"/>
              <a:chOff x="762000" y="4953000"/>
              <a:chExt cx="10668000" cy="581025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4953000"/>
                <a:ext cx="10668000" cy="571500"/>
              </a:xfrm>
              <a:prstGeom prst="roundRect">
                <a:avLst>
                  <a:gd name="adj" fmla="val 6667"/>
                </a:avLst>
              </a:prstGeom>
              <a:solidFill>
                <a:srgbClr val="131C27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912620" y="5109210"/>
                <a:ext cx="5562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扩展性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888546" y="5109210"/>
                <a:ext cx="3196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E9EAB"/>
                    </a:solidFill>
                    <a:latin typeface="Arial"/>
                    <a:ea typeface="Microsoft YaHei"/>
                    <a:cs typeface="Arial"/>
                  </a:rPr>
                  <a:t>⭐⭐⭐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649778" y="5109210"/>
                <a:ext cx="512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00D4FF"/>
                    </a:solidFill>
                    <a:latin typeface="Arial"/>
                    <a:ea typeface="Microsoft YaHei"/>
                    <a:cs typeface="Arial"/>
                  </a:rPr>
                  <a:t>⭐⭐⭐⭐⭐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762000" y="55245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rgbClr val="1A2332"/>
                </a:solidFill>
              </a:ln>
            </p:spPr>
          </p:sp>
        </p:grpSp>
      </p:grpSp>
      <p:grpSp>
        <p:nvGrpSpPr>
          <p:cNvPr id="54" name="Group 54"/>
          <p:cNvGrpSpPr/>
          <p:nvPr/>
        </p:nvGrpSpPr>
        <p:grpSpPr>
          <a:xfrm>
            <a:off x="762000" y="6381750"/>
            <a:ext cx="10681335" cy="338138"/>
            <a:chOff x="762000" y="6381750"/>
            <a:chExt cx="10681335" cy="338138"/>
          </a:xfrm>
        </p:grpSpPr>
        <p:sp>
          <p:nvSpPr>
            <p:cNvPr id="52" name="Line 52"/>
            <p:cNvSpPr/>
            <p:nvPr/>
          </p:nvSpPr>
          <p:spPr>
            <a:xfrm>
              <a:off x="762000" y="6381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A233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79610" y="650652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923"/>
              </a:gs>
              <a:gs pos="100000">
                <a:srgbClr val="1A233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D4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333500"/>
            <a:ext cx="4191000" cy="4191000"/>
          </a:xfrm>
          <a:prstGeom prst="ellipse">
            <a:avLst/>
          </a:prstGeom>
          <a:gradFill>
            <a:gsLst>
              <a:gs pos="0">
                <a:srgbClr val="00D4FF">
                  <a:alpha val="20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1524000" y="1143000"/>
            <a:ext cx="9525000" cy="4762500"/>
            <a:chOff x="1524000" y="1143000"/>
            <a:chExt cx="9525000" cy="4762500"/>
          </a:xfrm>
        </p:grpSpPr>
        <p:sp>
          <p:nvSpPr>
            <p:cNvPr id="5" name="Freeform 5"/>
            <p:cNvSpPr/>
            <p:nvPr/>
          </p:nvSpPr>
          <p:spPr>
            <a:xfrm>
              <a:off x="1524000" y="1333500"/>
              <a:ext cx="2476500" cy="381000"/>
            </a:xfrm>
            <a:custGeom>
              <a:avLst/>
              <a:gdLst/>
              <a:ahLst/>
              <a:cxnLst/>
              <a:rect l="l" t="t" r="r" b="b"/>
              <a:pathLst>
                <a:path w="2476500" h="381000">
                  <a:moveTo>
                    <a:pt x="0" y="0"/>
                  </a:moveTo>
                  <a:lnTo>
                    <a:pt x="952500" y="0"/>
                  </a:lnTo>
                  <a:lnTo>
                    <a:pt x="1333500" y="381000"/>
                  </a:lnTo>
                  <a:lnTo>
                    <a:pt x="2476500" y="381000"/>
                  </a:lnTo>
                </a:path>
              </a:pathLst>
            </a:custGeom>
            <a:noFill/>
            <a:ln w="14288">
              <a:solidFill>
                <a:srgbClr val="00D4FF">
                  <a:alpha val="3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3971925" y="16859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191500" y="5524500"/>
              <a:ext cx="2476500" cy="381000"/>
            </a:xfrm>
            <a:custGeom>
              <a:avLst/>
              <a:gdLst/>
              <a:ahLst/>
              <a:cxnLst/>
              <a:rect l="l" t="t" r="r" b="b"/>
              <a:pathLst>
                <a:path w="2476500" h="381000">
                  <a:moveTo>
                    <a:pt x="2476500" y="381000"/>
                  </a:moveTo>
                  <a:lnTo>
                    <a:pt x="1524000" y="381000"/>
                  </a:lnTo>
                  <a:lnTo>
                    <a:pt x="1143000" y="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D4FF">
                  <a:alpha val="3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162925" y="54959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0477500" y="11430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9906000" y="1809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00D4FF">
                  <a:alpha val="25000"/>
                </a:srgbClr>
              </a:solidFill>
              <a:prstDash val="dash"/>
            </a:ln>
          </p:spPr>
        </p:sp>
        <p:sp>
          <p:nvSpPr>
            <p:cNvPr id="11" name="Ellipse 11"/>
            <p:cNvSpPr/>
            <p:nvPr/>
          </p:nvSpPr>
          <p:spPr>
            <a:xfrm>
              <a:off x="10429875" y="1762125"/>
              <a:ext cx="95250" cy="95250"/>
            </a:xfrm>
            <a:prstGeom prst="ellipse">
              <a:avLst/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458450" y="1790700"/>
              <a:ext cx="38100" cy="38100"/>
            </a:xfrm>
            <a:prstGeom prst="ellipse">
              <a:avLst/>
            </a:prstGeom>
            <a:solidFill>
              <a:srgbClr val="00D4FF">
                <a:alpha val="7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57300" y="1543050"/>
            <a:ext cx="9467850" cy="4705350"/>
            <a:chOff x="1257300" y="1543050"/>
            <a:chExt cx="9467850" cy="4705350"/>
          </a:xfrm>
        </p:grpSpPr>
        <p:sp>
          <p:nvSpPr>
            <p:cNvPr id="14" name="TextBox 14"/>
            <p:cNvSpPr txBox="1"/>
            <p:nvPr/>
          </p:nvSpPr>
          <p:spPr>
            <a:xfrm>
              <a:off x="1257300" y="1543050"/>
              <a:ext cx="4075843" cy="426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0" b="1" dirty="0">
                  <a:solidFill>
                    <a:srgbClr val="00D4FF">
                      <a:alphaMod val="12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7300" y="1543050"/>
              <a:ext cx="4075843" cy="426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0" b="1" dirty="0">
                  <a:solidFill>
                    <a:srgbClr val="00D4FF"/>
                  </a:solidFill>
                  <a:effectLst>
                    <a:glow rad="57150">
                      <a:srgbClr val="00000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72565" y="4515802"/>
              <a:ext cx="569256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应用场景与选型指南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3520" y="5265420"/>
              <a:ext cx="25146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什么场景选谁？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524000" y="61912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28575" cap="rnd">
              <a:solidFill>
                <a:srgbClr val="00D4F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524000" y="61912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 cap="rnd">
              <a:solidFill>
                <a:srgbClr val="FFFFFF">
                  <a:alpha val="60000"/>
                </a:srgb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66850" y="6134100"/>
              <a:ext cx="114300" cy="11430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21" name="Ellipse 21"/>
            <p:cNvSpPr/>
            <p:nvPr/>
          </p:nvSpPr>
          <p:spPr>
            <a:xfrm>
              <a:off x="10610850" y="6134100"/>
              <a:ext cx="114300" cy="114300"/>
            </a:xfrm>
            <a:prstGeom prst="ellipse">
              <a:avLst/>
            </a:prstGeom>
            <a:solidFill>
              <a:srgbClr val="00D4FF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</p:grpSp>
      <p:grpSp>
        <p:nvGrpSpPr>
          <p:cNvPr id="27" name="Group 27"/>
          <p:cNvGrpSpPr/>
          <p:nvPr/>
        </p:nvGrpSpPr>
        <p:grpSpPr>
          <a:xfrm>
            <a:off x="369570" y="188595"/>
            <a:ext cx="11452860" cy="6288405"/>
            <a:chOff x="369570" y="188595"/>
            <a:chExt cx="11452860" cy="6288405"/>
          </a:xfrm>
        </p:grpSpPr>
        <p:sp>
          <p:nvSpPr>
            <p:cNvPr id="23" name="Freeform 23"/>
            <p:cNvSpPr/>
            <p:nvPr/>
          </p:nvSpPr>
          <p:spPr>
            <a:xfrm>
              <a:off x="381000" y="3810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476250" y="0"/>
                  </a:lnTo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334750" y="60007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476250"/>
                  </a:moveTo>
                  <a:lnTo>
                    <a:pt x="0" y="476250"/>
                  </a:lnTo>
                  <a:moveTo>
                    <a:pt x="476250" y="47625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9570" y="188595"/>
              <a:ext cx="7655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SLIDE 15 / 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09484" y="1885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CHAPTER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923"/>
              </a:gs>
              <a:gs pos="100000">
                <a:srgbClr val="141E2B"/>
              </a:gs>
            </a:gsLst>
            <a:lin ang="270000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</p:grpSp>
      <p:sp>
        <p:nvSpPr>
          <p:cNvPr id="11" name="Line 11"/>
          <p:cNvSpPr/>
          <p:nvPr/>
        </p:nvSpPr>
        <p:spPr>
          <a:xfrm>
            <a:off x="6096000" y="1238250"/>
            <a:ext cx="9525" cy="5143500"/>
          </a:xfrm>
          <a:custGeom>
            <a:avLst/>
            <a:gdLst/>
            <a:ahLst/>
            <a:cxnLst/>
            <a:rect l="l" t="t" r="r" b="b"/>
            <a:pathLst>
              <a:path w="9525" h="5143500">
                <a:moveTo>
                  <a:pt x="0" y="0"/>
                </a:moveTo>
                <a:lnTo>
                  <a:pt x="0" y="5143500"/>
                </a:lnTo>
              </a:path>
            </a:pathLst>
          </a:custGeom>
          <a:noFill/>
          <a:ln w="19050">
            <a:solidFill>
              <a:srgbClr val="00D4FF">
                <a:alpha val="2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6096000" y="342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57150">
            <a:solidFill>
              <a:srgbClr val="00D4FF">
                <a:alpha val="80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720090" y="548640"/>
            <a:ext cx="3571113" cy="946785"/>
            <a:chOff x="720090" y="548640"/>
            <a:chExt cx="3571113" cy="946785"/>
          </a:xfrm>
        </p:grpSpPr>
        <p:sp>
          <p:nvSpPr>
            <p:cNvPr id="13" name="TextBox 13"/>
            <p:cNvSpPr txBox="1"/>
            <p:nvPr/>
          </p:nvSpPr>
          <p:spPr>
            <a:xfrm>
              <a:off x="720090" y="548640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场景推荐矩阵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10953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6760" y="1251585"/>
              <a:ext cx="35444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AI 应用架构选型决策指南 | 核心场景匹配模型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1524000"/>
            <a:ext cx="4953000" cy="2286000"/>
            <a:chOff x="762000" y="1524000"/>
            <a:chExt cx="49530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762000" y="1524000"/>
              <a:ext cx="4953000" cy="2286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5400000" scaled="1"/>
            </a:gra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2000" y="1524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524500" y="1524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62000" y="3619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0" y="3619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795" y="167925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0170" y="17078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知识图谱优先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5885" y="2204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金融风控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89885" y="2204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医疗诊断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65885" y="2537460"/>
              <a:ext cx="705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反欺诈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89885" y="253746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法规合规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77000" y="1524000"/>
            <a:ext cx="4953000" cy="2286000"/>
            <a:chOff x="6477000" y="1524000"/>
            <a:chExt cx="4953000" cy="2286000"/>
          </a:xfrm>
        </p:grpSpPr>
        <p:sp>
          <p:nvSpPr>
            <p:cNvPr id="29" name="Rectangle 29"/>
            <p:cNvSpPr/>
            <p:nvPr/>
          </p:nvSpPr>
          <p:spPr>
            <a:xfrm>
              <a:off x="6477000" y="1524000"/>
              <a:ext cx="4953000" cy="2286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5400000" scaled="1"/>
            </a:gra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477000" y="1524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1239500" y="1524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477000" y="3619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239500" y="3619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41795" y="167925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75170" y="1707832"/>
              <a:ext cx="10413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RAG 优先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0885" y="2204085"/>
              <a:ext cx="14062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企业知识库问答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76385" y="2204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客服系统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0885" y="253746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文档摘要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4191000"/>
            <a:ext cx="4953000" cy="2286000"/>
            <a:chOff x="762000" y="4191000"/>
            <a:chExt cx="4953000" cy="2286000"/>
          </a:xfrm>
        </p:grpSpPr>
        <p:sp>
          <p:nvSpPr>
            <p:cNvPr id="40" name="Rectangle 40"/>
            <p:cNvSpPr/>
            <p:nvPr/>
          </p:nvSpPr>
          <p:spPr>
            <a:xfrm>
              <a:off x="762000" y="4191000"/>
              <a:ext cx="4953000" cy="2286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5400000" scaled="1"/>
            </a:gra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2000" y="419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524500" y="419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62000" y="6286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524500" y="6286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26795" y="434625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两者结合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65885" y="487108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智能问答增强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80385" y="4871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复杂推理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5885" y="5204460"/>
              <a:ext cx="1353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GraphRAG 架构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77000" y="4191000"/>
            <a:ext cx="4953000" cy="2286000"/>
            <a:chOff x="6477000" y="4191000"/>
            <a:chExt cx="4953000" cy="2286000"/>
          </a:xfrm>
        </p:grpSpPr>
        <p:sp>
          <p:nvSpPr>
            <p:cNvPr id="51" name="Rectangle 51"/>
            <p:cNvSpPr/>
            <p:nvPr/>
          </p:nvSpPr>
          <p:spPr>
            <a:xfrm>
              <a:off x="6477000" y="4191000"/>
              <a:ext cx="4953000" cy="228600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A2332"/>
                </a:gs>
                <a:gs pos="100000">
                  <a:srgbClr val="151D28"/>
                </a:gs>
              </a:gsLst>
              <a:lin ang="5400000" scaled="1"/>
            </a:gradFill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477000" y="419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1239500" y="419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477000" y="6286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1239500" y="6286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648450" y="4410075"/>
              <a:ext cx="228600" cy="228600"/>
            </a:xfrm>
            <a:prstGeom prst="ellipse">
              <a:avLst/>
            </a:prstGeom>
            <a:solidFill>
              <a:srgbClr val="8E9EAB">
                <a:alpha val="20000"/>
              </a:srgbClr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715125" y="4476750"/>
              <a:ext cx="95250" cy="95250"/>
            </a:xfrm>
            <a:prstGeom prst="ellipse">
              <a:avLst/>
            </a:prstGeom>
            <a:solidFill>
              <a:srgbClr val="8E9EA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75170" y="43748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选型三要素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0885" y="4871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数据质量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3885" y="487108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推理深度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80885" y="5204460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• 更新频率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200400" y="2628900"/>
            <a:ext cx="5791200" cy="2743200"/>
            <a:chOff x="3200400" y="2628900"/>
            <a:chExt cx="5791200" cy="2743200"/>
          </a:xfrm>
        </p:grpSpPr>
        <p:sp>
          <p:nvSpPr>
            <p:cNvPr id="63" name="Ellipse 63"/>
            <p:cNvSpPr/>
            <p:nvPr/>
          </p:nvSpPr>
          <p:spPr>
            <a:xfrm>
              <a:off x="3200400" y="2628900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915400" y="2628900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200400" y="5295900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915400" y="5295900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3238500" y="2667000"/>
            <a:ext cx="5724525" cy="2676525"/>
            <a:chOff x="3238500" y="2667000"/>
            <a:chExt cx="5724525" cy="2676525"/>
          </a:xfrm>
        </p:grpSpPr>
        <p:sp>
          <p:nvSpPr>
            <p:cNvPr id="68" name="Line 68"/>
            <p:cNvSpPr/>
            <p:nvPr/>
          </p:nvSpPr>
          <p:spPr>
            <a:xfrm>
              <a:off x="3238500" y="2667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  <p:sp>
          <p:nvSpPr>
            <p:cNvPr id="69" name="Line 69"/>
            <p:cNvSpPr/>
            <p:nvPr/>
          </p:nvSpPr>
          <p:spPr>
            <a:xfrm>
              <a:off x="6096000" y="2667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  <p:sp>
          <p:nvSpPr>
            <p:cNvPr id="70" name="Line 70"/>
            <p:cNvSpPr/>
            <p:nvPr/>
          </p:nvSpPr>
          <p:spPr>
            <a:xfrm>
              <a:off x="3238500" y="5334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  <p:sp>
          <p:nvSpPr>
            <p:cNvPr id="71" name="Line 71"/>
            <p:cNvSpPr/>
            <p:nvPr/>
          </p:nvSpPr>
          <p:spPr>
            <a:xfrm>
              <a:off x="6096000" y="5334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  <p:sp>
          <p:nvSpPr>
            <p:cNvPr id="72" name="Line 72"/>
            <p:cNvSpPr/>
            <p:nvPr/>
          </p:nvSpPr>
          <p:spPr>
            <a:xfrm>
              <a:off x="3238500" y="26670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  <p:sp>
          <p:nvSpPr>
            <p:cNvPr id="73" name="Line 73"/>
            <p:cNvSpPr/>
            <p:nvPr/>
          </p:nvSpPr>
          <p:spPr>
            <a:xfrm>
              <a:off x="8953500" y="26670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00D4FF">
                  <a:alpha val="30000"/>
                </a:srgbClr>
              </a:solidFill>
              <a:prstDash val="dash"/>
            </a:ln>
          </p:spPr>
        </p:sp>
      </p:grpSp>
      <p:sp>
        <p:nvSpPr>
          <p:cNvPr id="75" name="Line 75"/>
          <p:cNvSpPr/>
          <p:nvPr/>
        </p:nvSpPr>
        <p:spPr>
          <a:xfrm>
            <a:off x="762000" y="6572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00D4FF">
                <a:alpha val="20000"/>
              </a:srgbClr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10979610" y="664940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E9EAB"/>
                </a:solidFill>
                <a:latin typeface="Segoe UI"/>
                <a:ea typeface="Microsoft YaHei"/>
                <a:cs typeface="Segoe UI"/>
              </a:rPr>
              <a:t>16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8" grpId="0"/>
      <p:bldP spid="39" grpId="0"/>
      <p:bldP spid="50" grpId="0"/>
      <p:bldP spid="62" grpId="0"/>
      <p:bldP spid="67" grpId="0"/>
      <p:bldP spid="7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>
              <a:alpha val="40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-190500"/>
            <a:ext cx="12192000" cy="7239000"/>
            <a:chOff x="0" y="-190500"/>
            <a:chExt cx="12192000" cy="7239000"/>
          </a:xfrm>
        </p:grpSpPr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4381500" y="17145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476500" y="-190500"/>
              <a:ext cx="7239000" cy="7239000"/>
            </a:xfrm>
            <a:prstGeom prst="ellipse">
              <a:avLst/>
            </a:prstGeom>
            <a:noFill/>
            <a:ln w="9525">
              <a:solidFill>
                <a:srgbClr val="00D4FF">
                  <a:alpha val="2000"/>
                </a:srgbClr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6019800" y="952500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0"/>
                  </a:moveTo>
                  <a:lnTo>
                    <a:pt x="1524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576262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142875"/>
                  </a:moveTo>
                  <a:lnTo>
                    <a:pt x="1524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4FF">
                <a:alpha val="3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4000" y="1315402"/>
            <a:ext cx="1524000" cy="313373"/>
            <a:chOff x="5334000" y="1315402"/>
            <a:chExt cx="1524000" cy="313373"/>
          </a:xfrm>
        </p:grpSpPr>
        <p:sp>
          <p:nvSpPr>
            <p:cNvPr id="12" name="TextBox 12"/>
            <p:cNvSpPr txBox="1"/>
            <p:nvPr/>
          </p:nvSpPr>
          <p:spPr>
            <a:xfrm>
              <a:off x="5680115" y="1315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CHAPTER 06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334000" y="1619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00D4FF">
                  <a:alpha val="50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455556" y="1657350"/>
            <a:ext cx="5280889" cy="3509962"/>
            <a:chOff x="3455556" y="1657350"/>
            <a:chExt cx="5280889" cy="3509962"/>
          </a:xfrm>
        </p:grpSpPr>
        <p:sp>
          <p:nvSpPr>
            <p:cNvPr id="15" name="TextBox 15"/>
            <p:cNvSpPr txBox="1"/>
            <p:nvPr/>
          </p:nvSpPr>
          <p:spPr>
            <a:xfrm>
              <a:off x="4931474" y="1657350"/>
              <a:ext cx="2329053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00D4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55556" y="3802380"/>
              <a:ext cx="5280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GraphRAG：融合之道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8329" y="4710112"/>
              <a:ext cx="27353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1+1 &gt; 2 的进化方向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19500" y="5810250"/>
            <a:ext cx="4953000" cy="295275"/>
            <a:chOff x="3619500" y="5810250"/>
            <a:chExt cx="4953000" cy="295275"/>
          </a:xfrm>
        </p:grpSpPr>
        <p:sp>
          <p:nvSpPr>
            <p:cNvPr id="19" name="Line 19"/>
            <p:cNvSpPr/>
            <p:nvPr/>
          </p:nvSpPr>
          <p:spPr>
            <a:xfrm>
              <a:off x="3619500" y="590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 cap="rnd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572000" y="590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981700" y="581025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114300" y="0"/>
                  </a:moveTo>
                  <a:lnTo>
                    <a:pt x="228600" y="95250"/>
                  </a:lnTo>
                  <a:lnTo>
                    <a:pt x="11430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000500" y="609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 cap="rnd">
              <a:solidFill>
                <a:srgbClr val="8E9EAB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810500" y="609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 cap="rnd">
              <a:solidFill>
                <a:srgbClr val="8E9EAB">
                  <a:alpha val="4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190500"/>
            <a:ext cx="12477750" cy="5534025"/>
            <a:chOff x="0" y="190500"/>
            <a:chExt cx="12477750" cy="5534025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001250" y="76200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close/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429750" y="190500"/>
              <a:ext cx="3048000" cy="3048000"/>
            </a:xfrm>
            <a:prstGeom prst="ellipse">
              <a:avLst/>
            </a:prstGeom>
            <a:noFill/>
            <a:ln w="9525">
              <a:solidFill>
                <a:srgbClr val="00D4FF">
                  <a:alpha val="6000"/>
                </a:srgbClr>
              </a:solidFill>
              <a:custDash>
                <a:ds d="600000" sp="1000000"/>
              </a:custDash>
            </a:ln>
          </p:spPr>
        </p:sp>
      </p:grpSp>
      <p:sp>
        <p:nvSpPr>
          <p:cNvPr id="9" name="Line 9"/>
          <p:cNvSpPr/>
          <p:nvPr/>
        </p:nvSpPr>
        <p:spPr>
          <a:xfrm>
            <a:off x="4191000" y="38100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9525">
            <a:solidFill>
              <a:srgbClr val="00D4FF">
                <a:alpha val="15000"/>
              </a:srgbClr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521970" y="531495"/>
            <a:ext cx="2730589" cy="4154805"/>
            <a:chOff x="521970" y="531495"/>
            <a:chExt cx="2730589" cy="4154805"/>
          </a:xfrm>
        </p:grpSpPr>
        <p:sp>
          <p:nvSpPr>
            <p:cNvPr id="10" name="TextBox 10"/>
            <p:cNvSpPr txBox="1"/>
            <p:nvPr/>
          </p:nvSpPr>
          <p:spPr>
            <a:xfrm>
              <a:off x="521970" y="531495"/>
              <a:ext cx="273058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GraphRAG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6735" y="1170622"/>
              <a:ext cx="22282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— 知识图谱 + RAG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619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rgbClr val="00D4FF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76300" y="2400300"/>
              <a:ext cx="1466850" cy="1295400"/>
              <a:chOff x="876300" y="2400300"/>
              <a:chExt cx="1466850" cy="1295400"/>
            </a:xfrm>
            <a:effectLst>
              <a:glow rad="28575">
                <a:srgbClr val="000000">
                  <a:alpha val="30000"/>
                </a:srgbClr>
              </a:glow>
            </a:effectLst>
          </p:grpSpPr>
          <p:sp>
            <p:nvSpPr>
              <p:cNvPr id="13" name="Line 13"/>
              <p:cNvSpPr/>
              <p:nvPr/>
            </p:nvSpPr>
            <p:spPr>
              <a:xfrm>
                <a:off x="952500" y="24765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0"/>
                    </a:moveTo>
                    <a:lnTo>
                      <a:pt x="762000" y="38100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70000"/>
                  </a:srgbClr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43000" y="2857500"/>
                <a:ext cx="571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762000">
                    <a:moveTo>
                      <a:pt x="57150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70000"/>
                  </a:srgbClr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952500" y="2476500"/>
                <a:ext cx="190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143000">
                    <a:moveTo>
                      <a:pt x="190500" y="1143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70000"/>
                  </a:srgbClr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714500" y="2857500"/>
                <a:ext cx="571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381000">
                    <a:moveTo>
                      <a:pt x="0" y="0"/>
                    </a:moveTo>
                    <a:lnTo>
                      <a:pt x="571500" y="38100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70000"/>
                  </a:srgbClr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143000" y="3238500"/>
                <a:ext cx="1143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81000">
                    <a:moveTo>
                      <a:pt x="0" y="381000"/>
                    </a:moveTo>
                    <a:lnTo>
                      <a:pt x="1143000" y="0"/>
                    </a:lnTo>
                  </a:path>
                </a:pathLst>
              </a:custGeom>
              <a:noFill/>
              <a:ln w="19050">
                <a:solidFill>
                  <a:srgbClr val="00D4FF">
                    <a:alpha val="70000"/>
                  </a:srgbClr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876300" y="2400300"/>
                <a:ext cx="152400" cy="1524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19" name="Ellipse 19"/>
              <p:cNvSpPr/>
              <p:nvPr/>
            </p:nvSpPr>
            <p:spPr>
              <a:xfrm>
                <a:off x="1619250" y="2762250"/>
                <a:ext cx="190500" cy="1905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20" name="Ellipse 20"/>
              <p:cNvSpPr/>
              <p:nvPr/>
            </p:nvSpPr>
            <p:spPr>
              <a:xfrm>
                <a:off x="1066800" y="3543300"/>
                <a:ext cx="152400" cy="1524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21" name="Ellipse 21"/>
              <p:cNvSpPr/>
              <p:nvPr/>
            </p:nvSpPr>
            <p:spPr>
              <a:xfrm>
                <a:off x="2228850" y="3181350"/>
                <a:ext cx="114300" cy="1143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6260" y="4442460"/>
              <a:ext cx="9681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Page 18 / 21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381500" y="1524000"/>
            <a:ext cx="7239000" cy="4095750"/>
            <a:chOff x="4381500" y="1524000"/>
            <a:chExt cx="7239000" cy="4095750"/>
          </a:xfrm>
        </p:grpSpPr>
        <p:grpSp>
          <p:nvGrpSpPr>
            <p:cNvPr id="29" name="Group 29"/>
            <p:cNvGrpSpPr/>
            <p:nvPr/>
          </p:nvGrpSpPr>
          <p:grpSpPr>
            <a:xfrm>
              <a:off x="4381500" y="1524000"/>
              <a:ext cx="7239000" cy="666750"/>
              <a:chOff x="4381500" y="1524000"/>
              <a:chExt cx="7239000" cy="666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81500" y="1524000"/>
                <a:ext cx="7239000" cy="666750"/>
              </a:xfrm>
              <a:prstGeom prst="roundRect">
                <a:avLst>
                  <a:gd name="adj" fmla="val 8571"/>
                </a:avLst>
              </a:prstGeom>
              <a:solidFill>
                <a:srgbClr val="15202B"/>
              </a:solidFill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4514850" y="1704975"/>
                <a:ext cx="304800" cy="3048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585481" y="1791652"/>
                <a:ext cx="1635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031105" y="1711642"/>
                <a:ext cx="45785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微软 GraphRAG：自动构建知识图谱进行 RAG 增强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81500" y="2381250"/>
              <a:ext cx="7239000" cy="666750"/>
              <a:chOff x="4381500" y="2381250"/>
              <a:chExt cx="7239000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381500" y="2381250"/>
                <a:ext cx="7239000" cy="666750"/>
              </a:xfrm>
              <a:prstGeom prst="roundRect">
                <a:avLst>
                  <a:gd name="adj" fmla="val 8571"/>
                </a:avLst>
              </a:prstGeom>
              <a:solidFill>
                <a:srgbClr val="15202B"/>
              </a:solidFill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514850" y="2562225"/>
                <a:ext cx="304800" cy="3048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565354" y="2648902"/>
                <a:ext cx="203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031105" y="2568892"/>
                <a:ext cx="35847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LightRAG：轻量级图结构实现高效检索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381500" y="3238500"/>
              <a:ext cx="7239000" cy="666750"/>
              <a:chOff x="4381500" y="3238500"/>
              <a:chExt cx="7239000" cy="666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3238500"/>
                <a:ext cx="7239000" cy="666750"/>
              </a:xfrm>
              <a:prstGeom prst="roundRect">
                <a:avLst>
                  <a:gd name="adj" fmla="val 8571"/>
                </a:avLst>
              </a:prstGeom>
              <a:solidFill>
                <a:srgbClr val="15202B"/>
              </a:solidFill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514850" y="3419475"/>
                <a:ext cx="304800" cy="3048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565354" y="3506152"/>
                <a:ext cx="203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31105" y="3426142"/>
                <a:ext cx="42886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核心优势：社区检测 + 多 hop 推理 + 全局理解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381500" y="4095750"/>
              <a:ext cx="7239000" cy="666750"/>
              <a:chOff x="4381500" y="4095750"/>
              <a:chExt cx="7239000" cy="666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381500" y="4095750"/>
                <a:ext cx="7239000" cy="666750"/>
              </a:xfrm>
              <a:prstGeom prst="roundRect">
                <a:avLst>
                  <a:gd name="adj" fmla="val 8571"/>
                </a:avLst>
              </a:prstGeom>
              <a:solidFill>
                <a:srgbClr val="15202B"/>
              </a:solidFill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514850" y="4276725"/>
                <a:ext cx="304800" cy="3048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565354" y="4363402"/>
                <a:ext cx="203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31105" y="4283392"/>
                <a:ext cx="43093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解决 RAG 缺乏关系理解、KG 缺乏灵活性的问题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381500" y="4953000"/>
              <a:ext cx="7239000" cy="666750"/>
              <a:chOff x="4381500" y="4953000"/>
              <a:chExt cx="7239000" cy="666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381500" y="4953000"/>
                <a:ext cx="7239000" cy="666750"/>
              </a:xfrm>
              <a:prstGeom prst="roundRect">
                <a:avLst>
                  <a:gd name="adj" fmla="val 8571"/>
                </a:avLst>
              </a:prstGeom>
              <a:solidFill>
                <a:srgbClr val="15202B"/>
              </a:solidFill>
              <a:ln w="9525">
                <a:solidFill>
                  <a:srgbClr val="00D4FF">
                    <a:alpha val="30000"/>
                  </a:srgbClr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514850" y="5133975"/>
                <a:ext cx="304800" cy="3048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565354" y="5220652"/>
                <a:ext cx="203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1923"/>
                    </a:solidFill>
                    <a:latin typeface="Segoe UI"/>
                    <a:ea typeface="Microsoft YaHei"/>
                    <a:cs typeface="Segoe UI"/>
                  </a:rPr>
                  <a:t>05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031105" y="5140642"/>
                <a:ext cx="39160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未来趋势：Agent + Graph + RAG 三位一体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1923"/>
                </a:gs>
                <a:gs pos="100000">
                  <a:srgbClr val="1A233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381000"/>
            <a:ext cx="11239500" cy="2667000"/>
            <a:chOff x="762000" y="381000"/>
            <a:chExt cx="11239500" cy="2667000"/>
          </a:xfrm>
        </p:grpSpPr>
        <p:sp>
          <p:nvSpPr>
            <p:cNvPr id="9" name="Ellipse 9"/>
            <p:cNvSpPr/>
            <p:nvPr/>
          </p:nvSpPr>
          <p:spPr>
            <a:xfrm>
              <a:off x="9334500" y="381000"/>
              <a:ext cx="2667000" cy="2667000"/>
            </a:xfrm>
            <a:prstGeom prst="ellipse">
              <a:avLst/>
            </a:prstGeom>
            <a:noFill/>
            <a:ln w="19050">
              <a:solidFill>
                <a:srgbClr val="00D4FF">
                  <a:alpha val="8000"/>
                </a:srgb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810750" y="857250"/>
              <a:ext cx="1714500" cy="1714500"/>
            </a:xfrm>
            <a:prstGeom prst="ellipse">
              <a:avLst/>
            </a:prstGeom>
            <a:noFill/>
            <a:ln w="9525">
              <a:solidFill>
                <a:srgbClr val="00D4FF">
                  <a:alpha val="12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096500" y="1143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571500"/>
                  </a:moveTo>
                  <a:lnTo>
                    <a:pt x="1143000" y="571500"/>
                  </a:lnTo>
                  <a:moveTo>
                    <a:pt x="571500" y="0"/>
                  </a:moveTo>
                  <a:lnTo>
                    <a:pt x="571500" y="1143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762000"/>
              <a:ext cx="38100" cy="571500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1428750"/>
              <a:ext cx="38100" cy="190500"/>
            </a:xfrm>
            <a:prstGeom prst="rect">
              <a:avLst/>
            </a:prstGeom>
            <a:solidFill>
              <a:srgbClr val="00D4FF">
                <a:alpha val="3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23925" y="923925"/>
              <a:ext cx="57150" cy="57150"/>
            </a:xfrm>
            <a:prstGeom prst="ellipse">
              <a:avLst/>
            </a:prstGeom>
            <a:solidFill>
              <a:srgbClr val="00D4FF">
                <a:alpha val="8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33450" y="1504950"/>
              <a:ext cx="38100" cy="3810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04850" y="1704975"/>
            <a:ext cx="3784711" cy="3962400"/>
            <a:chOff x="704850" y="1704975"/>
            <a:chExt cx="3784711" cy="3962400"/>
          </a:xfrm>
        </p:grpSpPr>
        <p:sp>
          <p:nvSpPr>
            <p:cNvPr id="17" name="TextBox 17"/>
            <p:cNvSpPr txBox="1"/>
            <p:nvPr/>
          </p:nvSpPr>
          <p:spPr>
            <a:xfrm>
              <a:off x="704850" y="1704975"/>
              <a:ext cx="3784711" cy="396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0" b="1" dirty="0">
                  <a:solidFill>
                    <a:srgbClr val="00D4FF">
                      <a:alphaMod val="90000"/>
                    </a:srgbClr>
                  </a:solidFill>
                  <a:effectLst>
                    <a:glow rad="57150">
                      <a:srgbClr val="000000">
                        <a:alpha val="3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850" y="1704975"/>
              <a:ext cx="3784711" cy="396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0" b="1" dirty="0">
                  <a:solidFill>
                    <a:srgbClr val="FFFFFF">
                      <a:alphaMod val="5000"/>
                    </a:srgbClr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35730" y="2497455"/>
            <a:ext cx="4040029" cy="2031683"/>
            <a:chOff x="3935730" y="2497455"/>
            <a:chExt cx="4040029" cy="2031683"/>
          </a:xfrm>
        </p:grpSpPr>
        <p:sp>
          <p:nvSpPr>
            <p:cNvPr id="20" name="TextBox 20"/>
            <p:cNvSpPr txBox="1"/>
            <p:nvPr/>
          </p:nvSpPr>
          <p:spPr>
            <a:xfrm>
              <a:off x="3935730" y="2497455"/>
              <a:ext cx="4040029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000500" y="34766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rgbClr val="00D4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68115" y="4010978"/>
              <a:ext cx="19827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1. 关键结论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6229350"/>
            <a:ext cx="10287000" cy="114300"/>
            <a:chOff x="952500" y="6229350"/>
            <a:chExt cx="10287000" cy="114300"/>
          </a:xfrm>
        </p:grpSpPr>
        <p:sp>
          <p:nvSpPr>
            <p:cNvPr id="24" name="Line 24"/>
            <p:cNvSpPr/>
            <p:nvPr/>
          </p:nvSpPr>
          <p:spPr>
            <a:xfrm>
              <a:off x="952500" y="6286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52500" y="6286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952500" y="6229350"/>
              <a:ext cx="142875" cy="114300"/>
            </a:xfrm>
            <a:custGeom>
              <a:avLst/>
              <a:gdLst/>
              <a:ahLst/>
              <a:cxnLst/>
              <a:rect l="l" t="t" r="r" b="b"/>
              <a:pathLst>
                <a:path w="142875" h="114300">
                  <a:moveTo>
                    <a:pt x="0" y="57150"/>
                  </a:moveTo>
                  <a:lnTo>
                    <a:pt x="142875" y="0"/>
                  </a:lnTo>
                  <a:lnTo>
                    <a:pt x="142875" y="114300"/>
                  </a:lnTo>
                  <a:close/>
                </a:path>
              </a:pathLst>
            </a:custGeom>
            <a:solidFill>
              <a:srgbClr val="00D4FF"/>
            </a:solidFill>
            <a:ln>
              <a:noFill/>
            </a:ln>
          </p:spPr>
        </p:sp>
        <p:sp>
          <p:nvSpPr>
            <p:cNvPr id="27" name="Polygon 27"/>
            <p:cNvSpPr/>
            <p:nvPr/>
          </p:nvSpPr>
          <p:spPr>
            <a:xfrm>
              <a:off x="11096625" y="6229350"/>
              <a:ext cx="142875" cy="114300"/>
            </a:xfrm>
            <a:custGeom>
              <a:avLst/>
              <a:gdLst/>
              <a:ahLst/>
              <a:cxnLst/>
              <a:rect l="l" t="t" r="r" b="b"/>
              <a:pathLst>
                <a:path w="142875" h="114300">
                  <a:moveTo>
                    <a:pt x="1428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D4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00750" y="6248400"/>
              <a:ext cx="190500" cy="76200"/>
            </a:xfrm>
            <a:prstGeom prst="rect">
              <a:avLst/>
            </a:prstGeom>
            <a:solidFill>
              <a:srgbClr val="00D4FF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</p:grpSp>
      <p:grpSp>
        <p:nvGrpSpPr>
          <p:cNvPr id="32" name="Group 32"/>
          <p:cNvGrpSpPr/>
          <p:nvPr/>
        </p:nvGrpSpPr>
        <p:grpSpPr>
          <a:xfrm>
            <a:off x="10001250" y="6378892"/>
            <a:ext cx="1445895" cy="274320"/>
            <a:chOff x="10001250" y="6378892"/>
            <a:chExt cx="1445895" cy="274320"/>
          </a:xfrm>
        </p:grpSpPr>
        <p:sp>
          <p:nvSpPr>
            <p:cNvPr id="30" name="TextBox 30"/>
            <p:cNvSpPr txBox="1"/>
            <p:nvPr/>
          </p:nvSpPr>
          <p:spPr>
            <a:xfrm>
              <a:off x="10850928" y="6378892"/>
              <a:ext cx="5962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E9EAB"/>
                  </a:solidFill>
                  <a:latin typeface="Arial"/>
                  <a:ea typeface="Microsoft YaHei"/>
                  <a:cs typeface="Arial"/>
                </a:rPr>
                <a:t>19 / 21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001250" y="6477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8E9EAB">
                  <a:alpha val="3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3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-190500" y="-381000"/>
            <a:ext cx="12954000" cy="7429500"/>
            <a:chOff x="-190500" y="-381000"/>
            <a:chExt cx="12954000" cy="74295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00D4FF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00D4FF">
                  <a:alpha val="4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334500" y="-381000"/>
              <a:ext cx="3429000" cy="3429000"/>
            </a:xfrm>
            <a:prstGeom prst="ellipse">
              <a:avLst/>
            </a:prstGeom>
            <a:solidFill>
              <a:srgbClr val="00D4FF">
                <a:alpha val="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0500" y="4381500"/>
              <a:ext cx="2667000" cy="2667000"/>
            </a:xfrm>
            <a:prstGeom prst="ellipse">
              <a:avLst/>
            </a:prstGeom>
            <a:solidFill>
              <a:srgbClr val="00D4FF">
                <a:alpha val="2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952500" y="952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lnTo>
                    <a:pt x="0" y="0"/>
                  </a:ln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477500" y="5143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lnTo>
                    <a:pt x="762000" y="762000"/>
                  </a:ln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00D4FF">
                  <a:alpha val="15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27710" y="899160"/>
            <a:ext cx="1818846" cy="777240"/>
            <a:chOff x="727710" y="899160"/>
            <a:chExt cx="1818846" cy="777240"/>
          </a:xfrm>
        </p:grpSpPr>
        <p:sp>
          <p:nvSpPr>
            <p:cNvPr id="10" name="TextBox 10"/>
            <p:cNvSpPr txBox="1"/>
            <p:nvPr/>
          </p:nvSpPr>
          <p:spPr>
            <a:xfrm>
              <a:off x="727710" y="899160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关键结论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" y="1363028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KEY CONCLUSIONS | 20/21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166687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00D4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2000" y="1905000"/>
            <a:ext cx="5143500" cy="2095500"/>
            <a:chOff x="762000" y="1905000"/>
            <a:chExt cx="5143500" cy="2095500"/>
          </a:xfrm>
        </p:grpSpPr>
        <p:sp>
          <p:nvSpPr>
            <p:cNvPr id="14" name="Rectangle 14"/>
            <p:cNvSpPr/>
            <p:nvPr/>
          </p:nvSpPr>
          <p:spPr>
            <a:xfrm>
              <a:off x="762000" y="1905000"/>
              <a:ext cx="5143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2030" y="1945005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D4F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8700" y="25527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互补而非替代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2974181"/>
              <a:ext cx="2435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知识图谱 vs RAG 并非替代关系，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3212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而是互补关系。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524250"/>
              <a:ext cx="381000" cy="28575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286500" y="1905000"/>
            <a:ext cx="5143500" cy="2095500"/>
            <a:chOff x="6286500" y="1905000"/>
            <a:chExt cx="51435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905000"/>
              <a:ext cx="5143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26530" y="19450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D4F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3200" y="25527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核心能力对比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7962" y="2974181"/>
              <a:ext cx="25671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知识图谱 = 精准 + 可解释 + 推理；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7962" y="321230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RAG = 灵活 + 实时 + 低门槛。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3524250"/>
              <a:ext cx="381000" cy="28575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62000" y="4381500"/>
            <a:ext cx="5143500" cy="2095500"/>
            <a:chOff x="762000" y="4381500"/>
            <a:chExt cx="5143500" cy="2095500"/>
          </a:xfrm>
        </p:grpSpPr>
        <p:sp>
          <p:nvSpPr>
            <p:cNvPr id="28" name="Rectangle 28"/>
            <p:cNvSpPr/>
            <p:nvPr/>
          </p:nvSpPr>
          <p:spPr>
            <a:xfrm>
              <a:off x="762000" y="4381500"/>
              <a:ext cx="5143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2030" y="44215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D4F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700" y="50292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当前最佳实践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3462" y="5450681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GraphRAG 是当下最佳融合实践。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462" y="56888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通过结构化检索增强生成，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592693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有效降低幻觉并提升准确性。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47750" y="6238875"/>
              <a:ext cx="381000" cy="28575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286500" y="4381500"/>
            <a:ext cx="5143500" cy="2095500"/>
            <a:chOff x="6286500" y="4381500"/>
            <a:chExt cx="5143500" cy="2095500"/>
          </a:xfrm>
        </p:grpSpPr>
        <p:sp>
          <p:nvSpPr>
            <p:cNvPr id="36" name="Rectangle 36"/>
            <p:cNvSpPr/>
            <p:nvPr/>
          </p:nvSpPr>
          <p:spPr>
            <a:xfrm>
              <a:off x="6286500" y="4381500"/>
              <a:ext cx="5143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26530" y="4421505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0D4F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3200" y="50292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未来演进方向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7962" y="5450681"/>
              <a:ext cx="22795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多模态知识图谱 + Agentic RAG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688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是核心演进方向。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57962" y="5926931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实现跨模态理解与自主决策闭环。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72250" y="6238875"/>
              <a:ext cx="381000" cy="28575"/>
            </a:xfrm>
            <a:prstGeom prst="rect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35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923"/>
              </a:gs>
              <a:gs pos="100000">
                <a:srgbClr val="1A233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00D4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809750" y="-857250"/>
            <a:ext cx="8572500" cy="8572500"/>
          </a:xfrm>
          <a:prstGeom prst="ellipse">
            <a:avLst/>
          </a:prstGeom>
          <a:gradFill>
            <a:gsLst>
              <a:gs pos="0">
                <a:srgbClr val="00D4FF">
                  <a:alpha val="12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571500"/>
            <a:ext cx="11049000" cy="5715000"/>
            <a:chOff x="571500" y="571500"/>
            <a:chExt cx="11049000" cy="5715000"/>
          </a:xfrm>
        </p:grpSpPr>
        <p:sp>
          <p:nvSpPr>
            <p:cNvPr id="5" name="Freeform 5"/>
            <p:cNvSpPr/>
            <p:nvPr/>
          </p:nvSpPr>
          <p:spPr>
            <a:xfrm>
              <a:off x="952500" y="1905000"/>
              <a:ext cx="1809750" cy="762000"/>
            </a:xfrm>
            <a:custGeom>
              <a:avLst/>
              <a:gdLst/>
              <a:ahLst/>
              <a:cxnLst/>
              <a:rect l="l" t="t" r="r" b="b"/>
              <a:pathLst>
                <a:path w="1809750" h="762000">
                  <a:moveTo>
                    <a:pt x="0" y="190500"/>
                  </a:moveTo>
                  <a:lnTo>
                    <a:pt x="1333500" y="762000"/>
                  </a:lnTo>
                  <a:lnTo>
                    <a:pt x="1809750" y="0"/>
                  </a:lnTo>
                </a:path>
              </a:pathLst>
            </a:custGeom>
            <a:noFill/>
            <a:ln w="14288">
              <a:solidFill>
                <a:srgbClr val="00D4FF">
                  <a:alpha val="24499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" y="2057400"/>
              <a:ext cx="76200" cy="7620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257425" y="2638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743200" y="1885950"/>
              <a:ext cx="38100" cy="381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429750" y="4191000"/>
              <a:ext cx="1809750" cy="762000"/>
            </a:xfrm>
            <a:custGeom>
              <a:avLst/>
              <a:gdLst/>
              <a:ahLst/>
              <a:cxnLst/>
              <a:rect l="l" t="t" r="r" b="b"/>
              <a:pathLst>
                <a:path w="1809750" h="762000">
                  <a:moveTo>
                    <a:pt x="1809750" y="571500"/>
                  </a:moveTo>
                  <a:lnTo>
                    <a:pt x="476250" y="0"/>
                  </a:ln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00D4FF">
                  <a:alpha val="24499"/>
                </a:srgb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201400" y="4724400"/>
              <a:ext cx="76200" cy="7620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877425" y="4162425"/>
              <a:ext cx="57150" cy="5715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410700" y="4933950"/>
              <a:ext cx="38100" cy="38100"/>
            </a:xfrm>
            <a:prstGeom prst="ellipse">
              <a:avLst/>
            </a:pr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19500" y="857250"/>
              <a:ext cx="4953000" cy="254000"/>
            </a:xfrm>
            <a:custGeom>
              <a:avLst/>
              <a:gdLst/>
              <a:ahLst/>
              <a:cxnLst/>
              <a:rect l="l" t="t" r="r" b="b"/>
              <a:pathLst>
                <a:path w="4953000" h="254000">
                  <a:moveTo>
                    <a:pt x="0" y="0"/>
                  </a:moveTo>
                  <a:cubicBezTo>
                    <a:pt x="1651000" y="254000"/>
                    <a:pt x="3302000" y="254000"/>
                    <a:pt x="4953000" y="0"/>
                  </a:cubicBezTo>
                </a:path>
              </a:pathLst>
            </a:custGeom>
            <a:noFill/>
            <a:ln w="9525">
              <a:solidFill>
                <a:srgbClr val="00D4FF">
                  <a:alpha val="13999"/>
                </a:srgbClr>
              </a:solidFill>
              <a:custDash>
                <a:ds d="600000" sp="60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619500" y="5746750"/>
              <a:ext cx="4953000" cy="254000"/>
            </a:xfrm>
            <a:custGeom>
              <a:avLst/>
              <a:gdLst/>
              <a:ahLst/>
              <a:cxnLst/>
              <a:rect l="l" t="t" r="r" b="b"/>
              <a:pathLst>
                <a:path w="4953000" h="254000">
                  <a:moveTo>
                    <a:pt x="0" y="254000"/>
                  </a:moveTo>
                  <a:cubicBezTo>
                    <a:pt x="1651000" y="0"/>
                    <a:pt x="3302000" y="0"/>
                    <a:pt x="4953000" y="254000"/>
                  </a:cubicBezTo>
                </a:path>
              </a:pathLst>
            </a:custGeom>
            <a:noFill/>
            <a:ln w="9525">
              <a:solidFill>
                <a:srgbClr val="00D4FF">
                  <a:alpha val="13999"/>
                </a:srgbClr>
              </a:solidFill>
              <a:custDash>
                <a:ds d="600000" sp="6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715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0D4FF">
                  <a:alpha val="27999"/>
                </a:srgbClr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12395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381000"/>
                  </a:moveTo>
                  <a:lnTo>
                    <a:pt x="381000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>
                  <a:alpha val="27999"/>
                </a:srgb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5905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0" y="381000"/>
                  </a:ln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rgbClr val="00D4FF">
                  <a:alpha val="27999"/>
                </a:srgb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239500" y="5905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381000" y="381000"/>
                  </a:ln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00D4FF">
                  <a:alpha val="27999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3621691" y="2190750"/>
            <a:ext cx="4948618" cy="2657475"/>
            <a:chOff x="3621691" y="2190750"/>
            <a:chExt cx="4948618" cy="2657475"/>
          </a:xfrm>
        </p:grpSpPr>
        <p:sp>
          <p:nvSpPr>
            <p:cNvPr id="20" name="Line 20"/>
            <p:cNvSpPr/>
            <p:nvPr/>
          </p:nvSpPr>
          <p:spPr>
            <a:xfrm>
              <a:off x="4953000" y="2190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00D4FF">
                  <a:alpha val="8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03895" y="2289810"/>
              <a:ext cx="4384210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rgbClr val="FFFFFF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谢谢！Q&amp;A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238750" y="32861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4288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95862" y="3726180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欢迎交流与探讨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21691" y="4234815"/>
              <a:ext cx="494861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8E9EAB"/>
                  </a:solidFill>
                  <a:latin typeface="Segoe UI"/>
                  <a:ea typeface="Microsoft YaHei"/>
                  <a:cs typeface="Segoe UI"/>
                </a:rPr>
                <a:t>知识图谱 / RAG / GraphRAG 技术选型咨询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29300" y="47815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57900" y="4772025"/>
              <a:ext cx="76200" cy="76200"/>
            </a:xfrm>
            <a:prstGeom prst="ellipse">
              <a:avLst/>
            </a:prstGeom>
            <a:solidFill>
              <a:srgbClr val="00D4FF">
                <a:alpha val="90000"/>
              </a:srgbClr>
            </a:solidFill>
            <a:ln>
              <a:noFill/>
            </a:ln>
            <a:effectLst>
              <a:glow rad="47625">
                <a:srgbClr val="000000">
                  <a:alpha val="30000"/>
                </a:srgbClr>
              </a:glo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305550" y="47815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5864138" y="64112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E9EAB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21 / 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
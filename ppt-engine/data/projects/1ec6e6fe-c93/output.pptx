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B1120"/>
                </a:gs>
                <a:gs pos="100000">
                  <a:srgbClr val="1E293B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333500" y="1047750"/>
              <a:ext cx="9525000" cy="4762500"/>
            </a:xfrm>
            <a:prstGeom prst="ellipse">
              <a:avLst/>
            </a:prstGeom>
            <a:gradFill>
              <a:gsLst>
                <a:gs pos="0">
                  <a:srgbClr val="6366F1">
                    <a:alpha val="15000"/>
                  </a:srgbClr>
                </a:gs>
                <a:gs pos="100000">
                  <a:srgbClr val="6366F1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285875" y="1095375"/>
            <a:ext cx="9715500" cy="4572000"/>
            <a:chOff x="1285875" y="1095375"/>
            <a:chExt cx="9715500" cy="4572000"/>
          </a:xfrm>
        </p:grpSpPr>
        <p:sp>
          <p:nvSpPr>
            <p:cNvPr id="5" name="Ellipse 5"/>
            <p:cNvSpPr/>
            <p:nvPr/>
          </p:nvSpPr>
          <p:spPr>
            <a:xfrm>
              <a:off x="1285875" y="1095375"/>
              <a:ext cx="857250" cy="857250"/>
            </a:xfrm>
            <a:prstGeom prst="ellipse">
              <a:avLst/>
            </a:prstGeom>
            <a:noFill/>
            <a:ln w="19050">
              <a:solidFill>
                <a:srgbClr val="6366F1">
                  <a:alpha val="25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2095500" y="1905000"/>
              <a:ext cx="381000" cy="381000"/>
            </a:xfrm>
            <a:prstGeom prst="ellipse">
              <a:avLst/>
            </a:prstGeom>
            <a:noFill/>
            <a:ln w="19050">
              <a:solidFill>
                <a:srgbClr val="06B6D4">
                  <a:alpha val="2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714500" y="15240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0"/>
                  </a:moveTo>
                  <a:lnTo>
                    <a:pt x="571500" y="571500"/>
                  </a:lnTo>
                </a:path>
              </a:pathLst>
            </a:custGeom>
            <a:noFill/>
            <a:ln w="19050">
              <a:solidFill>
                <a:srgbClr val="6366F1">
                  <a:alpha val="25000"/>
                </a:srgbClr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9953625" y="4619625"/>
              <a:ext cx="1047750" cy="1047750"/>
            </a:xfrm>
            <a:prstGeom prst="ellipse">
              <a:avLst/>
            </a:prstGeom>
            <a:noFill/>
            <a:ln w="19050">
              <a:solidFill>
                <a:srgbClr val="06B6D4">
                  <a:alpha val="25000"/>
                </a:srgbClr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667875" y="4333875"/>
              <a:ext cx="476250" cy="476250"/>
            </a:xfrm>
            <a:prstGeom prst="ellipse">
              <a:avLst/>
            </a:prstGeom>
            <a:noFill/>
            <a:ln w="19050">
              <a:solidFill>
                <a:srgbClr val="6366F1">
                  <a:alpha val="2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906000" y="4572000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571500" y="571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6B6D4">
                  <a:alpha val="25000"/>
                </a:srgbClr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28750" y="3619500"/>
              <a:ext cx="857250" cy="285750"/>
            </a:xfrm>
            <a:custGeom>
              <a:avLst/>
              <a:gdLst/>
              <a:ahLst/>
              <a:cxnLst/>
              <a:rect l="l" t="t" r="r" b="b"/>
              <a:pathLst>
                <a:path w="857250" h="285750">
                  <a:moveTo>
                    <a:pt x="0" y="190500"/>
                  </a:moveTo>
                  <a:lnTo>
                    <a:pt x="285750" y="0"/>
                  </a:lnTo>
                  <a:lnTo>
                    <a:pt x="571500" y="285750"/>
                  </a:lnTo>
                  <a:lnTo>
                    <a:pt x="857250" y="95250"/>
                  </a:lnTo>
                </a:path>
              </a:pathLst>
            </a:custGeom>
            <a:noFill/>
            <a:ln w="14288">
              <a:solidFill>
                <a:srgbClr val="38BDF8">
                  <a:alpha val="20000"/>
                </a:srgbClr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9906000" y="2857500"/>
              <a:ext cx="857250" cy="285750"/>
            </a:xfrm>
            <a:custGeom>
              <a:avLst/>
              <a:gdLst/>
              <a:ahLst/>
              <a:cxnLst/>
              <a:rect l="l" t="t" r="r" b="b"/>
              <a:pathLst>
                <a:path w="857250" h="285750">
                  <a:moveTo>
                    <a:pt x="0" y="190500"/>
                  </a:moveTo>
                  <a:lnTo>
                    <a:pt x="285750" y="0"/>
                  </a:lnTo>
                  <a:lnTo>
                    <a:pt x="571500" y="285750"/>
                  </a:lnTo>
                  <a:lnTo>
                    <a:pt x="857250" y="95250"/>
                  </a:lnTo>
                </a:path>
              </a:pathLst>
            </a:custGeom>
            <a:noFill/>
            <a:ln w="14288">
              <a:solidFill>
                <a:srgbClr val="818CF8">
                  <a:alpha val="20000"/>
                </a:srgbClr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945606" y="2306955"/>
            <a:ext cx="6300788" cy="2388870"/>
            <a:chOff x="2945606" y="2306955"/>
            <a:chExt cx="6300788" cy="2388870"/>
          </a:xfrm>
        </p:grpSpPr>
        <p:sp>
          <p:nvSpPr>
            <p:cNvPr id="14" name="TextBox 14"/>
            <p:cNvSpPr txBox="1"/>
            <p:nvPr/>
          </p:nvSpPr>
          <p:spPr>
            <a:xfrm>
              <a:off x="3157021" y="2306955"/>
              <a:ext cx="5877958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知识图谱 vs RAG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953000" y="33337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38100" cap="rnd">
              <a:gradFill>
                <a:gsLst>
                  <a:gs pos="0">
                    <a:srgbClr val="6366F1"/>
                  </a:gs>
                  <a:gs pos="100000">
                    <a:srgbClr val="06B6D4"/>
                  </a:gs>
                </a:gsLst>
                <a:lin ang="0" scaled="1"/>
              </a:gra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945606" y="3709988"/>
              <a:ext cx="630078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大模型时代下两种知识增强范式的深度对比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84470" y="4330065"/>
              <a:ext cx="16230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38BDF8"/>
                  </a:solidFill>
                  <a:latin typeface="Segoe UI"/>
                  <a:ea typeface="Microsoft YaHei"/>
                  <a:cs typeface="Segoe UI"/>
                </a:rPr>
                <a:t>面向技术团队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825014" y="6124575"/>
            <a:ext cx="5419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8096250" y="0"/>
            <a:ext cx="4286250" cy="6858000"/>
            <a:chOff x="8096250" y="0"/>
            <a:chExt cx="4286250" cy="6858000"/>
          </a:xfrm>
        </p:grpSpPr>
        <p:sp>
          <p:nvSpPr>
            <p:cNvPr id="3" name="Freeform 3"/>
            <p:cNvSpPr/>
            <p:nvPr/>
          </p:nvSpPr>
          <p:spPr>
            <a:xfrm>
              <a:off x="8096250" y="0"/>
              <a:ext cx="4095750" cy="6858000"/>
            </a:xfrm>
            <a:custGeom>
              <a:avLst/>
              <a:gdLst/>
              <a:ahLst/>
              <a:cxnLst/>
              <a:rect l="l" t="t" r="r" b="b"/>
              <a:pathLst>
                <a:path w="4095750" h="6858000">
                  <a:moveTo>
                    <a:pt x="0" y="0"/>
                  </a:moveTo>
                  <a:lnTo>
                    <a:pt x="4095750" y="0"/>
                  </a:lnTo>
                  <a:lnTo>
                    <a:pt x="4095750" y="6858000"/>
                  </a:lnTo>
                  <a:close/>
                </a:path>
              </a:pathLst>
            </a:custGeom>
            <a:solidFill>
              <a:srgbClr val="EEF2FF">
                <a:alpha val="5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191500" y="1333500"/>
              <a:ext cx="4191000" cy="4191000"/>
            </a:xfrm>
            <a:prstGeom prst="ellipse">
              <a:avLst/>
            </a:prstGeom>
            <a:solidFill>
              <a:srgbClr val="DBEAFE">
                <a:alpha val="40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525000" y="1047750"/>
              <a:ext cx="2857500" cy="2857500"/>
            </a:xfrm>
            <a:prstGeom prst="ellipse">
              <a:avLst/>
            </a:prstGeom>
            <a:solidFill>
              <a:srgbClr val="BFDBFE">
                <a:alpha val="30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8382000" y="3619500"/>
              <a:ext cx="1905000" cy="1905000"/>
            </a:xfrm>
            <a:prstGeom prst="ellipse">
              <a:avLst/>
            </a:prstGeom>
            <a:solidFill>
              <a:srgbClr val="93C5FD">
                <a:alpha val="20000"/>
              </a:srgbClr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02970" y="817245"/>
            <a:ext cx="1383030" cy="1168717"/>
            <a:chOff x="902970" y="817245"/>
            <a:chExt cx="1383030" cy="1168717"/>
          </a:xfrm>
        </p:grpSpPr>
        <p:sp>
          <p:nvSpPr>
            <p:cNvPr id="8" name="TextBox 8"/>
            <p:cNvSpPr txBox="1"/>
            <p:nvPr/>
          </p:nvSpPr>
          <p:spPr>
            <a:xfrm>
              <a:off x="902970" y="817245"/>
              <a:ext cx="1295210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目录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52500" y="1476375"/>
              <a:ext cx="1333500" cy="5715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35355" y="1711642"/>
              <a:ext cx="9412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CONTENTS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2500" y="2000250"/>
            <a:ext cx="3831907" cy="4481512"/>
            <a:chOff x="952500" y="2000250"/>
            <a:chExt cx="3831907" cy="4481512"/>
          </a:xfrm>
        </p:grpSpPr>
        <p:sp>
          <p:nvSpPr>
            <p:cNvPr id="12" name="Line 12"/>
            <p:cNvSpPr/>
            <p:nvPr/>
          </p:nvSpPr>
          <p:spPr>
            <a:xfrm>
              <a:off x="1162050" y="22098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19050">
              <a:solidFill>
                <a:srgbClr val="CBD5E1"/>
              </a:solidFill>
              <a:custDash>
                <a:ds d="300000" sp="300000"/>
              </a:custDash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52500" y="2000250"/>
              <a:ext cx="2386012" cy="481012"/>
              <a:chOff x="952500" y="2000250"/>
              <a:chExt cx="2386012" cy="481012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952500" y="2000250"/>
                <a:ext cx="4191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33557" y="2088832"/>
                <a:ext cx="25698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01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638300" y="2024062"/>
                <a:ext cx="170021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背景与问题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952500" y="2667000"/>
              <a:ext cx="3371850" cy="481012"/>
              <a:chOff x="952500" y="2667000"/>
              <a:chExt cx="3371850" cy="481012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952500" y="2667000"/>
                <a:ext cx="4191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01928" y="275558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02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638300" y="2690812"/>
                <a:ext cx="268605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什么是知识图谱？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952500" y="3333750"/>
              <a:ext cx="2698194" cy="481012"/>
              <a:chOff x="952500" y="3333750"/>
              <a:chExt cx="2698194" cy="481012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952500" y="3333750"/>
                <a:ext cx="4191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01928" y="342233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03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638300" y="3357562"/>
                <a:ext cx="2012394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什么是 RAG？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52500" y="4000500"/>
              <a:ext cx="2714625" cy="481012"/>
              <a:chOff x="952500" y="4000500"/>
              <a:chExt cx="2714625" cy="481012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952500" y="4000500"/>
                <a:ext cx="4191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01928" y="408908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638300" y="4024312"/>
                <a:ext cx="202882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核心维度对比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952500" y="4667250"/>
              <a:ext cx="3700462" cy="481012"/>
              <a:chOff x="952500" y="4667250"/>
              <a:chExt cx="3700462" cy="481012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952500" y="4667250"/>
                <a:ext cx="4191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001928" y="475583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05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638300" y="4691062"/>
                <a:ext cx="301466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应用场景与选型指南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52500" y="5334000"/>
              <a:ext cx="3831907" cy="481012"/>
              <a:chOff x="952500" y="5334000"/>
              <a:chExt cx="3831907" cy="481012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952500" y="5334000"/>
                <a:ext cx="4191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001928" y="542258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06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638300" y="5357812"/>
                <a:ext cx="3146107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GraphRAG：融合之道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952500" y="6000750"/>
              <a:ext cx="2386012" cy="481012"/>
              <a:chOff x="952500" y="6000750"/>
              <a:chExt cx="2386012" cy="481012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952500" y="6000750"/>
                <a:ext cx="419100" cy="419100"/>
              </a:xfrm>
              <a:prstGeom prst="roundRect">
                <a:avLst>
                  <a:gd name="adj" fmla="val 27273"/>
                </a:avLst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01928" y="608933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07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638300" y="6024562"/>
                <a:ext cx="170021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250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总结与展望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952500" y="6331268"/>
            <a:ext cx="10304145" cy="274320"/>
            <a:chOff x="952500" y="6331268"/>
            <a:chExt cx="10304145" cy="274320"/>
          </a:xfrm>
        </p:grpSpPr>
        <p:sp>
          <p:nvSpPr>
            <p:cNvPr id="42" name="TextBox 42"/>
            <p:cNvSpPr txBox="1"/>
            <p:nvPr/>
          </p:nvSpPr>
          <p:spPr>
            <a:xfrm>
              <a:off x="10719578" y="6331268"/>
              <a:ext cx="5370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2 / 13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952500" y="6477000"/>
              <a:ext cx="10001250" cy="9525"/>
            </a:xfrm>
            <a:custGeom>
              <a:avLst/>
              <a:gdLst/>
              <a:ahLst/>
              <a:cxnLst/>
              <a:rect l="l" t="t" r="r" b="b"/>
              <a:pathLst>
                <a:path w="10001250" h="9525">
                  <a:moveTo>
                    <a:pt x="0" y="0"/>
                  </a:moveTo>
                  <a:lnTo>
                    <a:pt x="10001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B112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1E293B">
                    <a:alpha val="40000"/>
                  </a:srgbClr>
                </a:gs>
                <a:gs pos="100000">
                  <a:srgbClr val="0B1120">
                    <a:alpha val="4000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935920" y="314325"/>
            <a:ext cx="7322630" cy="1109663"/>
            <a:chOff x="3935920" y="314325"/>
            <a:chExt cx="7322630" cy="1109663"/>
          </a:xfrm>
        </p:grpSpPr>
        <p:sp>
          <p:nvSpPr>
            <p:cNvPr id="5" name="TextBox 5"/>
            <p:cNvSpPr txBox="1"/>
            <p:nvPr/>
          </p:nvSpPr>
          <p:spPr>
            <a:xfrm>
              <a:off x="10661809" y="314325"/>
              <a:ext cx="5967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3 / 13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935920" y="722948"/>
              <a:ext cx="4320159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450" b="1" dirty="0">
                  <a:solidFill>
                    <a:srgbClr val="F1F5F9"/>
                  </a:solidFill>
                  <a:latin typeface="Segoe UI"/>
                  <a:ea typeface="Microsoft YaHei"/>
                  <a:cs typeface="Segoe UI"/>
                </a:rPr>
                <a:t>大模型的知识困境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334000" y="1333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38100" cap="rnd">
              <a:solidFill>
                <a:srgbClr val="3B82F6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952500" y="1666875"/>
            <a:ext cx="10287000" cy="4953000"/>
            <a:chOff x="952500" y="1666875"/>
            <a:chExt cx="10287000" cy="4953000"/>
          </a:xfrm>
        </p:grpSpPr>
        <p:grpSp>
          <p:nvGrpSpPr>
            <p:cNvPr id="15" name="Group 15"/>
            <p:cNvGrpSpPr/>
            <p:nvPr/>
          </p:nvGrpSpPr>
          <p:grpSpPr>
            <a:xfrm>
              <a:off x="952500" y="1666875"/>
              <a:ext cx="4953000" cy="2286000"/>
              <a:chOff x="952500" y="1666875"/>
              <a:chExt cx="4953000" cy="2286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952500" y="1666875"/>
                <a:ext cx="4953000" cy="2286000"/>
              </a:xfrm>
              <a:prstGeom prst="roundRect">
                <a:avLst>
                  <a:gd name="adj" fmla="val 5000"/>
                </a:avLst>
              </a:prstGeom>
              <a:solidFill>
                <a:srgbClr val="1E293B"/>
              </a:solidFill>
              <a:ln w="19050">
                <a:solidFill>
                  <a:srgbClr val="334155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085850" y="1800225"/>
                <a:ext cx="495300" cy="495300"/>
              </a:xfrm>
              <a:prstGeom prst="ellipse">
                <a:avLst/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16688" y="1962150"/>
                <a:ext cx="23362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689735" y="1884998"/>
                <a:ext cx="1245680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F8FAFC"/>
                    </a:solidFill>
                    <a:latin typeface="Segoe UI"/>
                    <a:ea typeface="Microsoft YaHei"/>
                    <a:cs typeface="Segoe UI"/>
                  </a:rPr>
                  <a:t>幻觉问题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99260" y="2394585"/>
                <a:ext cx="38862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模型生成看似合理但事实错误或逻辑矛盾的内容，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699260" y="2632710"/>
                <a:ext cx="37109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缺乏真实世界 grounding，易产生误导性输出。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286500" y="1666875"/>
              <a:ext cx="4953000" cy="2286000"/>
              <a:chOff x="6286500" y="1666875"/>
              <a:chExt cx="4953000" cy="2286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286500" y="1666875"/>
                <a:ext cx="4953000" cy="2286000"/>
              </a:xfrm>
              <a:prstGeom prst="roundRect">
                <a:avLst>
                  <a:gd name="adj" fmla="val 5000"/>
                </a:avLst>
              </a:prstGeom>
              <a:solidFill>
                <a:srgbClr val="1E293B"/>
              </a:solidFill>
              <a:ln w="19050">
                <a:solidFill>
                  <a:srgbClr val="334155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6419850" y="1800225"/>
                <a:ext cx="495300" cy="495300"/>
              </a:xfrm>
              <a:prstGeom prst="ellipse">
                <a:avLst/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521934" y="1962150"/>
                <a:ext cx="29113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02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023735" y="1884998"/>
                <a:ext cx="1544717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F8FAFC"/>
                    </a:solidFill>
                    <a:latin typeface="Segoe UI"/>
                    <a:ea typeface="Microsoft YaHei"/>
                    <a:cs typeface="Segoe UI"/>
                  </a:rPr>
                  <a:t>知识时效性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033260" y="2394585"/>
                <a:ext cx="3535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训练数据截止导致无法掌握最新事件与政策，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033260" y="2632710"/>
                <a:ext cx="3535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信息存在固有滞后，难以应对动态变化场景。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952500" y="4333875"/>
              <a:ext cx="4953000" cy="2286000"/>
              <a:chOff x="952500" y="4333875"/>
              <a:chExt cx="4953000" cy="2286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952500" y="4333875"/>
                <a:ext cx="4953000" cy="2286000"/>
              </a:xfrm>
              <a:prstGeom prst="roundRect">
                <a:avLst>
                  <a:gd name="adj" fmla="val 5000"/>
                </a:avLst>
              </a:prstGeom>
              <a:solidFill>
                <a:srgbClr val="1E293B"/>
              </a:solidFill>
              <a:ln w="19050">
                <a:solidFill>
                  <a:srgbClr val="334155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1085850" y="4514850"/>
                <a:ext cx="495300" cy="4953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187934" y="4676775"/>
                <a:ext cx="29113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689735" y="4599622"/>
                <a:ext cx="1544717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F8FAFC"/>
                    </a:solidFill>
                    <a:latin typeface="Segoe UI"/>
                    <a:ea typeface="Microsoft YaHei"/>
                    <a:cs typeface="Segoe UI"/>
                  </a:rPr>
                  <a:t>领域专业性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699260" y="5109210"/>
                <a:ext cx="3535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通用模型难以替代垂直领域的深度知识体系，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699260" y="5347335"/>
                <a:ext cx="3535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在医疗、法律等高门槛场景易出现专业偏差。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286500" y="4333875"/>
              <a:ext cx="4953000" cy="2286000"/>
              <a:chOff x="6286500" y="4333875"/>
              <a:chExt cx="4953000" cy="2286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286500" y="4333875"/>
                <a:ext cx="4953000" cy="2286000"/>
              </a:xfrm>
              <a:prstGeom prst="roundRect">
                <a:avLst>
                  <a:gd name="adj" fmla="val 5000"/>
                </a:avLst>
              </a:prstGeom>
              <a:solidFill>
                <a:srgbClr val="1E293B"/>
              </a:solidFill>
              <a:ln w="19050">
                <a:solidFill>
                  <a:srgbClr val="334155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6419850" y="4514850"/>
                <a:ext cx="495300" cy="495300"/>
              </a:xfrm>
              <a:prstGeom prst="ellipse">
                <a:avLst/>
              </a:prstGeom>
              <a:solidFill>
                <a:srgbClr val="EF4444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521934" y="4676775"/>
                <a:ext cx="29113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023735" y="4599622"/>
                <a:ext cx="1245680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F8FAFC"/>
                    </a:solidFill>
                    <a:latin typeface="Segoe UI"/>
                    <a:ea typeface="Microsoft YaHei"/>
                    <a:cs typeface="Segoe UI"/>
                  </a:rPr>
                  <a:t>可解释性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033260" y="5109210"/>
                <a:ext cx="3535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黑盒特性导致决策过程不透明，难以追溯推理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033260" y="5347335"/>
                <a:ext cx="37109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94A3B8"/>
                    </a:solidFill>
                    <a:latin typeface="Segoe UI"/>
                    <a:ea typeface="Microsoft YaHei"/>
                    <a:cs typeface="Segoe UI"/>
                  </a:rPr>
                  <a:t>路径，影响高可靠性与合规性场景的实际落地。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0" y="0"/>
            <a:ext cx="12192000" cy="762000"/>
            <a:chOff x="0" y="0"/>
            <a:chExt cx="12192000" cy="762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7620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41020" y="217170"/>
              <a:ext cx="414627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知识图谱（KG）核心原理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42809" y="314325"/>
              <a:ext cx="5967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93C5FD"/>
                  </a:solidFill>
                  <a:latin typeface="Arial"/>
                  <a:ea typeface="Microsoft YaHei"/>
                  <a:cs typeface="Arial"/>
                </a:rPr>
                <a:t>4 / 13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43000" y="1143000"/>
            <a:ext cx="5779770" cy="2286000"/>
            <a:chOff x="1143000" y="1143000"/>
            <a:chExt cx="5779770" cy="2286000"/>
          </a:xfrm>
        </p:grpSpPr>
        <p:sp>
          <p:nvSpPr>
            <p:cNvPr id="7" name="Rectangle 7"/>
            <p:cNvSpPr/>
            <p:nvPr/>
          </p:nvSpPr>
          <p:spPr>
            <a:xfrm>
              <a:off x="1143000" y="1143000"/>
              <a:ext cx="47625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143000" y="1143000"/>
              <a:ext cx="57150" cy="22860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466850" y="1466850"/>
              <a:ext cx="114300" cy="1143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752600" y="1466850"/>
              <a:ext cx="114300" cy="1143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609725" y="1704975"/>
              <a:ext cx="114300" cy="1143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1524000" y="15240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3B82F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524000" y="1524000"/>
              <a:ext cx="142875" cy="238125"/>
            </a:xfrm>
            <a:custGeom>
              <a:avLst/>
              <a:gdLst/>
              <a:ahLst/>
              <a:cxnLst/>
              <a:rect l="l" t="t" r="r" b="b"/>
              <a:pathLst>
                <a:path w="142875" h="238125">
                  <a:moveTo>
                    <a:pt x="0" y="0"/>
                  </a:moveTo>
                  <a:lnTo>
                    <a:pt x="142875" y="238125"/>
                  </a:lnTo>
                </a:path>
              </a:pathLst>
            </a:custGeom>
            <a:noFill/>
            <a:ln w="19050">
              <a:solidFill>
                <a:srgbClr val="3B82F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666875" y="1524000"/>
              <a:ext cx="142875" cy="238125"/>
            </a:xfrm>
            <a:custGeom>
              <a:avLst/>
              <a:gdLst/>
              <a:ahLst/>
              <a:cxnLst/>
              <a:rect l="l" t="t" r="r" b="b"/>
              <a:pathLst>
                <a:path w="142875" h="238125">
                  <a:moveTo>
                    <a:pt x="142875" y="0"/>
                  </a:moveTo>
                  <a:lnTo>
                    <a:pt x="0" y="238125"/>
                  </a:lnTo>
                </a:path>
              </a:pathLst>
            </a:custGeom>
            <a:noFill/>
            <a:ln w="19050">
              <a:solidFill>
                <a:srgbClr val="3B82F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79295" y="1393508"/>
              <a:ext cx="267343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实体-关系-实体 三元组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85010" y="1775460"/>
              <a:ext cx="4937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知识表示的基本单元，通过节点与有向边构建结构化数据网络。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667500" y="1143000"/>
            <a:ext cx="6400800" cy="2286000"/>
            <a:chOff x="6667500" y="1143000"/>
            <a:chExt cx="6400800" cy="2286000"/>
          </a:xfrm>
        </p:grpSpPr>
        <p:sp>
          <p:nvSpPr>
            <p:cNvPr id="18" name="Rectangle 18"/>
            <p:cNvSpPr/>
            <p:nvPr/>
          </p:nvSpPr>
          <p:spPr>
            <a:xfrm>
              <a:off x="6667500" y="1143000"/>
              <a:ext cx="47625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67500" y="1143000"/>
              <a:ext cx="57150" cy="22860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048500" y="1333500"/>
              <a:ext cx="381000" cy="381000"/>
            </a:xfrm>
            <a:prstGeom prst="roundRect">
              <a:avLst>
                <a:gd name="adj" fmla="val 15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143750" y="142875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0"/>
                  </a:lnTo>
                  <a:moveTo>
                    <a:pt x="0" y="95250"/>
                  </a:moveTo>
                  <a:lnTo>
                    <a:pt x="190500" y="95250"/>
                  </a:lnTo>
                  <a:moveTo>
                    <a:pt x="0" y="190500"/>
                  </a:moveTo>
                  <a:lnTo>
                    <a:pt x="190500" y="19050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rgbClr val="D9770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99045" y="1393508"/>
              <a:ext cx="15094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Schema 先行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04760" y="1775460"/>
              <a:ext cx="54635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预先定义本体与约束规则，确保数据一致性、可扩展性与标准化入库。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43000" y="3619500"/>
            <a:ext cx="6305550" cy="2286000"/>
            <a:chOff x="1143000" y="3619500"/>
            <a:chExt cx="6305550" cy="2286000"/>
          </a:xfrm>
        </p:grpSpPr>
        <p:sp>
          <p:nvSpPr>
            <p:cNvPr id="25" name="Rectangle 25"/>
            <p:cNvSpPr/>
            <p:nvPr/>
          </p:nvSpPr>
          <p:spPr>
            <a:xfrm>
              <a:off x="1143000" y="3619500"/>
              <a:ext cx="47625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143000" y="3619500"/>
              <a:ext cx="57150" cy="22860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524000" y="3810000"/>
              <a:ext cx="381000" cy="381000"/>
            </a:xfrm>
            <a:prstGeom prst="roundRect">
              <a:avLst>
                <a:gd name="adj" fmla="val 15000"/>
              </a:avLst>
            </a:prstGeom>
            <a:solidFill>
              <a:srgbClr val="D1FAE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1619250" y="3857625"/>
              <a:ext cx="190500" cy="142875"/>
            </a:xfrm>
            <a:custGeom>
              <a:avLst/>
              <a:gdLst/>
              <a:ahLst/>
              <a:cxnLst/>
              <a:rect l="l" t="t" r="r" b="b"/>
              <a:pathLst>
                <a:path w="190500" h="142875">
                  <a:moveTo>
                    <a:pt x="0" y="95250"/>
                  </a:moveTo>
                  <a:lnTo>
                    <a:pt x="95250" y="0"/>
                  </a:lnTo>
                  <a:lnTo>
                    <a:pt x="190500" y="95250"/>
                  </a:lnTo>
                  <a:moveTo>
                    <a:pt x="95250" y="0"/>
                  </a:moveTo>
                  <a:lnTo>
                    <a:pt x="95250" y="142875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rgbClr val="059669"/>
              </a:solidFill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979295" y="3870008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推理机制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85010" y="4251960"/>
              <a:ext cx="54635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基于逻辑规则或图算法挖掘隐含关系，实现知识发现与智能决策支持。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667500" y="3619500"/>
            <a:ext cx="6576060" cy="2286000"/>
            <a:chOff x="6667500" y="3619500"/>
            <a:chExt cx="6576060" cy="2286000"/>
          </a:xfrm>
        </p:grpSpPr>
        <p:sp>
          <p:nvSpPr>
            <p:cNvPr id="32" name="Rectangle 32"/>
            <p:cNvSpPr/>
            <p:nvPr/>
          </p:nvSpPr>
          <p:spPr>
            <a:xfrm>
              <a:off x="6667500" y="3619500"/>
              <a:ext cx="47625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67500" y="3619500"/>
              <a:ext cx="57150" cy="228600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048500" y="3810000"/>
              <a:ext cx="381000" cy="381000"/>
            </a:xfrm>
            <a:prstGeom prst="roundRect">
              <a:avLst>
                <a:gd name="adj" fmla="val 15000"/>
              </a:avLst>
            </a:prstGeom>
            <a:solidFill>
              <a:srgbClr val="EDE9FE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7191375" y="3952875"/>
              <a:ext cx="142875" cy="95250"/>
            </a:xfrm>
            <a:custGeom>
              <a:avLst/>
              <a:gdLst/>
              <a:ahLst/>
              <a:cxnLst/>
              <a:rect l="l" t="t" r="r" b="b"/>
              <a:pathLst>
                <a:path w="142875" h="95250">
                  <a:moveTo>
                    <a:pt x="0" y="47625"/>
                  </a:moveTo>
                  <a:lnTo>
                    <a:pt x="47625" y="95250"/>
                  </a:lnTo>
                  <a:lnTo>
                    <a:pt x="142875" y="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7C3AED"/>
              </a:solidFill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99045" y="3870008"/>
              <a:ext cx="25722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特点：高精度、可解释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04760" y="4251960"/>
              <a:ext cx="5638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B5563"/>
                  </a:solidFill>
                  <a:latin typeface="Arial"/>
                  <a:ea typeface="Microsoft YaHei"/>
                  <a:cs typeface="Arial"/>
                </a:rPr>
                <a:t>结果透明可追溯，避免黑盒模型缺陷，适用于医疗、金融等强合规场景。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58165" y="6477000"/>
            <a:ext cx="11075670" cy="290512"/>
            <a:chOff x="558165" y="6477000"/>
            <a:chExt cx="11075670" cy="290512"/>
          </a:xfrm>
        </p:grpSpPr>
        <p:sp>
          <p:nvSpPr>
            <p:cNvPr id="39" name="Line 39"/>
            <p:cNvSpPr/>
            <p:nvPr/>
          </p:nvSpPr>
          <p:spPr>
            <a:xfrm>
              <a:off x="1143000" y="6477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8165" y="6554152"/>
              <a:ext cx="22042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AI &amp; Data Architecture Series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06557" y="6554152"/>
              <a:ext cx="22272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© 2024 Presentation Template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4" grpId="0"/>
      <p:bldP spid="31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118038" y="468630"/>
            <a:ext cx="3955923" cy="912495"/>
            <a:chOff x="4118038" y="468630"/>
            <a:chExt cx="3955923" cy="912495"/>
          </a:xfrm>
        </p:grpSpPr>
        <p:sp>
          <p:nvSpPr>
            <p:cNvPr id="3" name="TextBox 3"/>
            <p:cNvSpPr txBox="1"/>
            <p:nvPr/>
          </p:nvSpPr>
          <p:spPr>
            <a:xfrm>
              <a:off x="4118038" y="468630"/>
              <a:ext cx="395592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知识图谱技术栈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512832" y="1076325"/>
              <a:ext cx="1166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第 5 / 13 页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857500" y="1524000"/>
            <a:ext cx="6477000" cy="4381500"/>
            <a:chOff x="2857500" y="1524000"/>
            <a:chExt cx="6477000" cy="4381500"/>
          </a:xfrm>
        </p:grpSpPr>
        <p:sp>
          <p:nvSpPr>
            <p:cNvPr id="6" name="Rectangle 6"/>
            <p:cNvSpPr/>
            <p:nvPr/>
          </p:nvSpPr>
          <p:spPr>
            <a:xfrm>
              <a:off x="2857500" y="1524000"/>
              <a:ext cx="6477000" cy="43815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238500" y="1714500"/>
            <a:ext cx="5715000" cy="809625"/>
            <a:chOff x="3238500" y="1714500"/>
            <a:chExt cx="5715000" cy="809625"/>
          </a:xfrm>
        </p:grpSpPr>
        <p:sp>
          <p:nvSpPr>
            <p:cNvPr id="8" name="Rectangle 8"/>
            <p:cNvSpPr/>
            <p:nvPr/>
          </p:nvSpPr>
          <p:spPr>
            <a:xfrm>
              <a:off x="3238500" y="1714500"/>
              <a:ext cx="5715000" cy="762000"/>
            </a:xfrm>
            <a:prstGeom prst="roundRect">
              <a:avLst>
                <a:gd name="adj" fmla="val 15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22679" y="1837372"/>
              <a:ext cx="94664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存储层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73817" y="2107882"/>
              <a:ext cx="6443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DBEAFE"/>
                  </a:solidFill>
                  <a:latin typeface="Segoe UI"/>
                  <a:ea typeface="Microsoft YaHei"/>
                  <a:cs typeface="Segoe UI"/>
                </a:rPr>
                <a:t>Neo4j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6048375" y="2428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0"/>
                  </a:lnTo>
                  <a:lnTo>
                    <a:pt x="47625" y="9525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3238500" y="2667000"/>
            <a:ext cx="5715000" cy="809625"/>
            <a:chOff x="3238500" y="2667000"/>
            <a:chExt cx="5715000" cy="809625"/>
          </a:xfrm>
        </p:grpSpPr>
        <p:sp>
          <p:nvSpPr>
            <p:cNvPr id="13" name="Rectangle 13"/>
            <p:cNvSpPr/>
            <p:nvPr/>
          </p:nvSpPr>
          <p:spPr>
            <a:xfrm>
              <a:off x="3238500" y="2667000"/>
              <a:ext cx="5715000" cy="762000"/>
            </a:xfrm>
            <a:prstGeom prst="roundRect">
              <a:avLst>
                <a:gd name="adj" fmla="val 15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22679" y="2789872"/>
              <a:ext cx="94664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构建层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99105" y="3060382"/>
              <a:ext cx="9937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DE9FE"/>
                  </a:solidFill>
                  <a:latin typeface="Segoe UI"/>
                  <a:ea typeface="Microsoft YaHei"/>
                  <a:cs typeface="Segoe UI"/>
                </a:rPr>
                <a:t>NLP 抽取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6048375" y="3381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0"/>
                  </a:lnTo>
                  <a:lnTo>
                    <a:pt x="47625" y="9525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3238500" y="3619500"/>
            <a:ext cx="5715000" cy="809625"/>
            <a:chOff x="3238500" y="3619500"/>
            <a:chExt cx="5715000" cy="809625"/>
          </a:xfrm>
        </p:grpSpPr>
        <p:sp>
          <p:nvSpPr>
            <p:cNvPr id="18" name="Rectangle 18"/>
            <p:cNvSpPr/>
            <p:nvPr/>
          </p:nvSpPr>
          <p:spPr>
            <a:xfrm>
              <a:off x="3238500" y="3619500"/>
              <a:ext cx="5715000" cy="762000"/>
            </a:xfrm>
            <a:prstGeom prst="roundRect">
              <a:avLst>
                <a:gd name="adj" fmla="val 15000"/>
              </a:avLst>
            </a:prstGeom>
            <a:solidFill>
              <a:srgbClr val="0891B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22679" y="3742372"/>
              <a:ext cx="94664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查询层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17140" y="4012882"/>
              <a:ext cx="19577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CFFAFE"/>
                  </a:solidFill>
                  <a:latin typeface="Segoe UI"/>
                  <a:ea typeface="Microsoft YaHei"/>
                  <a:cs typeface="Segoe UI"/>
                </a:rPr>
                <a:t>SPARQL / Cypher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6048375" y="43338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0"/>
                  </a:lnTo>
                  <a:lnTo>
                    <a:pt x="47625" y="9525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238500" y="4572000"/>
            <a:ext cx="5715000" cy="762000"/>
            <a:chOff x="3238500" y="4572000"/>
            <a:chExt cx="5715000" cy="762000"/>
          </a:xfrm>
        </p:grpSpPr>
        <p:sp>
          <p:nvSpPr>
            <p:cNvPr id="23" name="Rectangle 23"/>
            <p:cNvSpPr/>
            <p:nvPr/>
          </p:nvSpPr>
          <p:spPr>
            <a:xfrm>
              <a:off x="3238500" y="4572000"/>
              <a:ext cx="5715000" cy="762000"/>
            </a:xfrm>
            <a:prstGeom prst="roundRect">
              <a:avLst>
                <a:gd name="adj" fmla="val 15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22679" y="4694872"/>
              <a:ext cx="94664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推理层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55704" y="4965382"/>
              <a:ext cx="168059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D1FAE5"/>
                  </a:solidFill>
                  <a:latin typeface="Segoe UI"/>
                  <a:ea typeface="Microsoft YaHei"/>
                  <a:cs typeface="Segoe UI"/>
                </a:rPr>
                <a:t>规则引擎 / GNN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7" grpId="0"/>
      <p:bldP spid="22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48552" y="501015"/>
            <a:ext cx="3094896" cy="670560"/>
            <a:chOff x="4548552" y="501015"/>
            <a:chExt cx="3094896" cy="670560"/>
          </a:xfrm>
        </p:grpSpPr>
        <p:sp>
          <p:nvSpPr>
            <p:cNvPr id="3" name="TextBox 3"/>
            <p:cNvSpPr txBox="1"/>
            <p:nvPr/>
          </p:nvSpPr>
          <p:spPr>
            <a:xfrm>
              <a:off x="4548552" y="501015"/>
              <a:ext cx="3094896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RAG 核心原理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143500" y="1095375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38100" cap="rnd">
              <a:solidFill>
                <a:srgbClr val="3B82F6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135761" y="1524000"/>
            <a:ext cx="3062478" cy="3619500"/>
            <a:chOff x="1135761" y="1524000"/>
            <a:chExt cx="3062478" cy="3619500"/>
          </a:xfrm>
        </p:grpSpPr>
        <p:sp>
          <p:nvSpPr>
            <p:cNvPr id="6" name="Rectangle 6"/>
            <p:cNvSpPr/>
            <p:nvPr/>
          </p:nvSpPr>
          <p:spPr>
            <a:xfrm>
              <a:off x="1143000" y="1524000"/>
              <a:ext cx="3048000" cy="36195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2438400" y="1771650"/>
              <a:ext cx="457200" cy="457200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13446" y="1914525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54054" y="2329815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三段式架构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33762" y="2664142"/>
              <a:ext cx="26664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Index - Retrieve - Generate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714500" y="3048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5761" y="3299460"/>
              <a:ext cx="30624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数据分块 → 向量化存储 → 统一索引管理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43781" y="1524000"/>
            <a:ext cx="3504438" cy="3619500"/>
            <a:chOff x="4343781" y="1524000"/>
            <a:chExt cx="3504438" cy="3619500"/>
          </a:xfrm>
        </p:grpSpPr>
        <p:sp>
          <p:nvSpPr>
            <p:cNvPr id="14" name="Rectangle 14"/>
            <p:cNvSpPr/>
            <p:nvPr/>
          </p:nvSpPr>
          <p:spPr>
            <a:xfrm>
              <a:off x="4572000" y="1524000"/>
              <a:ext cx="3048000" cy="36195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5867400" y="1771650"/>
              <a:ext cx="457200" cy="4572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13692" y="19145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69002" y="2329815"/>
              <a:ext cx="2253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向量化与语义检索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43781" y="2664142"/>
              <a:ext cx="35044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Vector Embedding &amp; Semantic Search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143500" y="3048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53166" y="3299460"/>
              <a:ext cx="2685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高维空间匹配 → 精准召回相关片段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896011" y="1524000"/>
            <a:ext cx="3257979" cy="3619500"/>
            <a:chOff x="7896011" y="1524000"/>
            <a:chExt cx="3257979" cy="3619500"/>
          </a:xfrm>
        </p:grpSpPr>
        <p:sp>
          <p:nvSpPr>
            <p:cNvPr id="22" name="Rectangle 22"/>
            <p:cNvSpPr/>
            <p:nvPr/>
          </p:nvSpPr>
          <p:spPr>
            <a:xfrm>
              <a:off x="8001000" y="1524000"/>
              <a:ext cx="3048000" cy="36195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296400" y="1771650"/>
              <a:ext cx="457200" cy="4572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42692" y="1914525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59985" y="2329815"/>
              <a:ext cx="25300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灵活、实时、低成本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96011" y="2664142"/>
              <a:ext cx="32579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Agile, Real-time &amp; Cost-effective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8572500" y="30480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82166" y="3299460"/>
              <a:ext cx="2685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动态注入上下文 → 免训练快速响应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43000" y="6477000"/>
            <a:ext cx="10302240" cy="352425"/>
            <a:chOff x="1143000" y="6477000"/>
            <a:chExt cx="10302240" cy="352425"/>
          </a:xfrm>
        </p:grpSpPr>
        <p:sp>
          <p:nvSpPr>
            <p:cNvPr id="30" name="Line 30"/>
            <p:cNvSpPr/>
            <p:nvPr/>
          </p:nvSpPr>
          <p:spPr>
            <a:xfrm>
              <a:off x="1143000" y="64770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967847" y="6585585"/>
              <a:ext cx="4773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6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1057275"/>
            <a:chOff x="0" y="0"/>
            <a:chExt cx="12192000" cy="1057275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1047750"/>
            </a:xfrm>
            <a:prstGeom prst="rect">
              <a:avLst/>
            </a:prstGeom>
            <a:gradFill>
              <a:gsLst>
                <a:gs pos="0">
                  <a:srgbClr val="0F172A"/>
                </a:gs>
                <a:gs pos="100000">
                  <a:srgbClr val="1E293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10477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38100">
              <a:solidFill>
                <a:srgbClr val="3B82F6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21995" y="326708"/>
              <a:ext cx="2471159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RAG 技术栈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703252" y="424815"/>
              <a:ext cx="7496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7 / 13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762000" y="1524000"/>
            <a:ext cx="10668000" cy="5334000"/>
            <a:chOff x="762000" y="1524000"/>
            <a:chExt cx="10668000" cy="5334000"/>
          </a:xfrm>
        </p:grpSpPr>
        <p:grpSp>
          <p:nvGrpSpPr>
            <p:cNvPr id="22" name="Group 22"/>
            <p:cNvGrpSpPr/>
            <p:nvPr/>
          </p:nvGrpSpPr>
          <p:grpSpPr>
            <a:xfrm>
              <a:off x="762000" y="1524000"/>
              <a:ext cx="5143500" cy="2476500"/>
              <a:chOff x="762000" y="1524000"/>
              <a:chExt cx="5143500" cy="2476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1524000"/>
                <a:ext cx="5143500" cy="2476500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3750"/>
                  </a:srgbClr>
                </a:outerShdw>
              </a:effectLst>
            </p:spPr>
          </p:sp>
          <p:sp>
            <p:nvSpPr>
              <p:cNvPr id="9" name="Ellipse 9"/>
              <p:cNvSpPr/>
              <p:nvPr/>
            </p:nvSpPr>
            <p:spPr>
              <a:xfrm>
                <a:off x="1028700" y="1790700"/>
                <a:ext cx="609600" cy="6096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238250" y="195262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0"/>
                    </a:lnTo>
                    <a:moveTo>
                      <a:pt x="0" y="95250"/>
                    </a:moveTo>
                    <a:lnTo>
                      <a:pt x="190500" y="95250"/>
                    </a:lnTo>
                    <a:moveTo>
                      <a:pt x="0" y="190500"/>
                    </a:moveTo>
                    <a:lnTo>
                      <a:pt x="95250" y="190500"/>
                    </a:lnTo>
                  </a:path>
                </a:pathLst>
              </a:custGeom>
              <a:solidFill>
                <a:srgbClr val="000000"/>
              </a:solidFill>
              <a:ln w="28575" cap="rnd">
                <a:solidFill>
                  <a:srgbClr val="3B82F6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476375" y="2000250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0" y="0"/>
                    </a:moveTo>
                    <a:lnTo>
                      <a:pt x="95250" y="0"/>
                    </a:lnTo>
                    <a:lnTo>
                      <a:pt x="95250" y="190500"/>
                    </a:lnTo>
                    <a:lnTo>
                      <a:pt x="0" y="190500"/>
                    </a:lnTo>
                    <a:close/>
                  </a:path>
                </a:pathLst>
              </a:custGeom>
              <a:noFill/>
              <a:ln w="19050">
                <a:solidFill>
                  <a:srgbClr val="3B82F6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571625" y="20955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rgbClr val="3B82F6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783080" y="1821180"/>
                <a:ext cx="237203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Embedding 模型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792605" y="2235518"/>
                <a:ext cx="279463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将非结构化数据转化为高维向量</a:t>
                </a:r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1771650" y="2585085"/>
                <a:ext cx="3596259" cy="815340"/>
                <a:chOff x="1771650" y="2585085"/>
                <a:chExt cx="3596259" cy="815340"/>
              </a:xfrm>
            </p:grpSpPr>
            <p:sp>
              <p:nvSpPr>
                <p:cNvPr id="15" name="Ellipse 15"/>
                <p:cNvSpPr/>
                <p:nvPr/>
              </p:nvSpPr>
              <p:spPr>
                <a:xfrm>
                  <a:off x="1771650" y="2628900"/>
                  <a:ext cx="76200" cy="76200"/>
                </a:xfrm>
                <a:prstGeom prst="ellipse">
                  <a:avLst/>
                </a:prstGeom>
                <a:solidFill>
                  <a:srgbClr val="3B82F6"/>
                </a:solidFill>
                <a:ln>
                  <a:noFill/>
                </a:ln>
              </p:spPr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937385" y="2585085"/>
                  <a:ext cx="1783080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475569"/>
                      </a:solidFill>
                      <a:latin typeface="Arial"/>
                      <a:ea typeface="Microsoft YaHei"/>
                      <a:cs typeface="Arial"/>
                    </a:rPr>
                    <a:t>语义理解与上下文感知</a:t>
                  </a:r>
                </a:p>
              </p:txBody>
            </p:sp>
            <p:sp>
              <p:nvSpPr>
                <p:cNvPr id="17" name="Ellipse 17"/>
                <p:cNvSpPr/>
                <p:nvPr/>
              </p:nvSpPr>
              <p:spPr>
                <a:xfrm>
                  <a:off x="1771650" y="2914650"/>
                  <a:ext cx="76200" cy="76200"/>
                </a:xfrm>
                <a:prstGeom prst="ellipse">
                  <a:avLst/>
                </a:prstGeom>
                <a:solidFill>
                  <a:srgbClr val="3B82F6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937385" y="2870835"/>
                  <a:ext cx="3430524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475569"/>
                      </a:solidFill>
                      <a:latin typeface="Arial"/>
                      <a:ea typeface="Microsoft YaHei"/>
                      <a:cs typeface="Arial"/>
                    </a:rPr>
                    <a:t>常用模型: BGE, text-embedding-ada-002</a:t>
                  </a:r>
                </a:p>
              </p:txBody>
            </p:sp>
            <p:sp>
              <p:nvSpPr>
                <p:cNvPr id="19" name="Ellipse 19"/>
                <p:cNvSpPr/>
                <p:nvPr/>
              </p:nvSpPr>
              <p:spPr>
                <a:xfrm>
                  <a:off x="1771650" y="3200400"/>
                  <a:ext cx="76200" cy="76200"/>
                </a:xfrm>
                <a:prstGeom prst="ellipse">
                  <a:avLst/>
                </a:prstGeom>
                <a:solidFill>
                  <a:srgbClr val="3B82F6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937385" y="3156585"/>
                  <a:ext cx="1958340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475569"/>
                      </a:solidFill>
                      <a:latin typeface="Arial"/>
                      <a:ea typeface="Microsoft YaHei"/>
                      <a:cs typeface="Arial"/>
                    </a:rPr>
                    <a:t>多语言支持与长文本处理</a:t>
                  </a:r>
                </a:p>
              </p:txBody>
            </p:sp>
          </p:grpSp>
        </p:grpSp>
        <p:grpSp>
          <p:nvGrpSpPr>
            <p:cNvPr id="37" name="Group 37"/>
            <p:cNvGrpSpPr/>
            <p:nvPr/>
          </p:nvGrpSpPr>
          <p:grpSpPr>
            <a:xfrm>
              <a:off x="6286500" y="1524000"/>
              <a:ext cx="5143500" cy="2476500"/>
              <a:chOff x="6286500" y="1524000"/>
              <a:chExt cx="5143500" cy="24765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6286500" y="1524000"/>
                <a:ext cx="5143500" cy="2476500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3750"/>
                  </a:srgbClr>
                </a:outerShdw>
              </a:effectLst>
            </p:spPr>
          </p:sp>
          <p:sp>
            <p:nvSpPr>
              <p:cNvPr id="24" name="Ellipse 24"/>
              <p:cNvSpPr/>
              <p:nvPr/>
            </p:nvSpPr>
            <p:spPr>
              <a:xfrm>
                <a:off x="6553200" y="1790700"/>
                <a:ext cx="609600" cy="609600"/>
              </a:xfrm>
              <a:prstGeom prst="ellipse">
                <a:avLst/>
              </a:prstGeom>
              <a:solidFill>
                <a:srgbClr val="ECFDF5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6715125" y="1952625"/>
                <a:ext cx="285750" cy="95250"/>
              </a:xfrm>
              <a:prstGeom prst="ellipse">
                <a:avLst/>
              </a:pr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15125" y="2000250"/>
                <a:ext cx="285750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38125">
                    <a:moveTo>
                      <a:pt x="0" y="0"/>
                    </a:moveTo>
                    <a:lnTo>
                      <a:pt x="0" y="190500"/>
                    </a:lnTo>
                    <a:cubicBezTo>
                      <a:pt x="0" y="219075"/>
                      <a:pt x="66675" y="238125"/>
                      <a:pt x="142875" y="238125"/>
                    </a:cubicBezTo>
                    <a:cubicBezTo>
                      <a:pt x="219075" y="238125"/>
                      <a:pt x="285750" y="219075"/>
                      <a:pt x="285750" y="190500"/>
                    </a:cubicBez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715125" y="2095500"/>
                <a:ext cx="2857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47625">
                    <a:moveTo>
                      <a:pt x="0" y="0"/>
                    </a:moveTo>
                    <a:cubicBezTo>
                      <a:pt x="0" y="28575"/>
                      <a:pt x="66675" y="47625"/>
                      <a:pt x="142875" y="47625"/>
                    </a:cubicBezTo>
                    <a:cubicBezTo>
                      <a:pt x="219075" y="47625"/>
                      <a:pt x="285750" y="28575"/>
                      <a:pt x="285750" y="0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307580" y="1821180"/>
                <a:ext cx="166354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向量数据库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317105" y="2235518"/>
                <a:ext cx="259746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高效存储与检索海量向量数据</a:t>
                </a:r>
              </a:p>
            </p:txBody>
          </p:sp>
          <p:grpSp>
            <p:nvGrpSpPr>
              <p:cNvPr id="36" name="Group 36"/>
              <p:cNvGrpSpPr/>
              <p:nvPr/>
            </p:nvGrpSpPr>
            <p:grpSpPr>
              <a:xfrm>
                <a:off x="7296150" y="2585085"/>
                <a:ext cx="3210687" cy="815340"/>
                <a:chOff x="7296150" y="2585085"/>
                <a:chExt cx="3210687" cy="815340"/>
              </a:xfrm>
            </p:grpSpPr>
            <p:sp>
              <p:nvSpPr>
                <p:cNvPr id="30" name="Ellipse 30"/>
                <p:cNvSpPr/>
                <p:nvPr/>
              </p:nvSpPr>
              <p:spPr>
                <a:xfrm>
                  <a:off x="7296150" y="2628900"/>
                  <a:ext cx="76200" cy="76200"/>
                </a:xfrm>
                <a:prstGeom prst="ellipse">
                  <a:avLst/>
                </a:prstGeom>
                <a:solidFill>
                  <a:srgbClr val="10B981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7461885" y="2585085"/>
                  <a:ext cx="179184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475569"/>
                      </a:solidFill>
                      <a:latin typeface="Arial"/>
                      <a:ea typeface="Microsoft YaHei"/>
                      <a:cs typeface="Arial"/>
                    </a:rPr>
                    <a:t>近似最近邻搜索 (ANN)</a:t>
                  </a:r>
                </a:p>
              </p:txBody>
            </p:sp>
            <p:sp>
              <p:nvSpPr>
                <p:cNvPr id="32" name="Ellipse 32"/>
                <p:cNvSpPr/>
                <p:nvPr/>
              </p:nvSpPr>
              <p:spPr>
                <a:xfrm>
                  <a:off x="7296150" y="2914650"/>
                  <a:ext cx="76200" cy="76200"/>
                </a:xfrm>
                <a:prstGeom prst="ellipse">
                  <a:avLst/>
                </a:prstGeom>
                <a:solidFill>
                  <a:srgbClr val="10B981"/>
                </a:solidFill>
                <a:ln>
                  <a:noFill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7461885" y="2870835"/>
                  <a:ext cx="3044952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475569"/>
                      </a:solidFill>
                      <a:latin typeface="Arial"/>
                      <a:ea typeface="Microsoft YaHei"/>
                      <a:cs typeface="Arial"/>
                    </a:rPr>
                    <a:t>主流方案: Milvus, Pinecone, Chroma</a:t>
                  </a:r>
                </a:p>
              </p:txBody>
            </p:sp>
            <p:sp>
              <p:nvSpPr>
                <p:cNvPr id="34" name="Ellipse 34"/>
                <p:cNvSpPr/>
                <p:nvPr/>
              </p:nvSpPr>
              <p:spPr>
                <a:xfrm>
                  <a:off x="7296150" y="3200400"/>
                  <a:ext cx="76200" cy="76200"/>
                </a:xfrm>
                <a:prstGeom prst="ellipse">
                  <a:avLst/>
                </a:prstGeom>
                <a:solidFill>
                  <a:srgbClr val="10B981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7461885" y="3156585"/>
                  <a:ext cx="1958340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475569"/>
                      </a:solidFill>
                      <a:latin typeface="Arial"/>
                      <a:ea typeface="Microsoft YaHei"/>
                      <a:cs typeface="Arial"/>
                    </a:rPr>
                    <a:t>支持标量过滤与混合检索</a:t>
                  </a:r>
                </a:p>
              </p:txBody>
            </p:sp>
          </p:grpSp>
        </p:grpSp>
        <p:grpSp>
          <p:nvGrpSpPr>
            <p:cNvPr id="52" name="Group 52"/>
            <p:cNvGrpSpPr/>
            <p:nvPr/>
          </p:nvGrpSpPr>
          <p:grpSpPr>
            <a:xfrm>
              <a:off x="762000" y="4381500"/>
              <a:ext cx="5143500" cy="2476500"/>
              <a:chOff x="762000" y="4381500"/>
              <a:chExt cx="5143500" cy="2476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762000" y="4381500"/>
                <a:ext cx="5143500" cy="2476500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3750"/>
                  </a:srgbClr>
                </a:outerShdw>
              </a:effectLst>
            </p:spPr>
          </p:sp>
          <p:sp>
            <p:nvSpPr>
              <p:cNvPr id="39" name="Ellipse 39"/>
              <p:cNvSpPr/>
              <p:nvPr/>
            </p:nvSpPr>
            <p:spPr>
              <a:xfrm>
                <a:off x="1028700" y="4648200"/>
                <a:ext cx="609600" cy="609600"/>
              </a:xfrm>
              <a:prstGeom prst="ellipse">
                <a:avLst/>
              </a:prstGeom>
              <a:solidFill>
                <a:srgbClr val="FFFBEB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190625" y="481012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142875" y="0"/>
                    </a:moveTo>
                    <a:lnTo>
                      <a:pt x="142875" y="47625"/>
                    </a:lnTo>
                    <a:moveTo>
                      <a:pt x="142875" y="238125"/>
                    </a:moveTo>
                    <a:lnTo>
                      <a:pt x="142875" y="285750"/>
                    </a:lnTo>
                    <a:moveTo>
                      <a:pt x="0" y="142875"/>
                    </a:moveTo>
                    <a:lnTo>
                      <a:pt x="47625" y="142875"/>
                    </a:lnTo>
                    <a:moveTo>
                      <a:pt x="238125" y="142875"/>
                    </a:moveTo>
                    <a:lnTo>
                      <a:pt x="285750" y="142875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rgbClr val="F59E0B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1238250" y="4857750"/>
                <a:ext cx="190500" cy="190500"/>
              </a:xfrm>
              <a:prstGeom prst="ellipse">
                <a:avLst/>
              </a:pr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57300" y="487680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28575" y="28575"/>
                    </a:lnTo>
                    <a:moveTo>
                      <a:pt x="123825" y="123825"/>
                    </a:moveTo>
                    <a:lnTo>
                      <a:pt x="152400" y="152400"/>
                    </a:lnTo>
                    <a:moveTo>
                      <a:pt x="152400" y="0"/>
                    </a:moveTo>
                    <a:lnTo>
                      <a:pt x="123825" y="28575"/>
                    </a:lnTo>
                    <a:moveTo>
                      <a:pt x="28575" y="123825"/>
                    </a:moveTo>
                    <a:lnTo>
                      <a:pt x="0" y="152400"/>
                    </a:lnTo>
                  </a:path>
                </a:pathLst>
              </a:custGeom>
              <a:solidFill>
                <a:srgbClr val="000000"/>
              </a:solidFill>
              <a:ln w="19050" cap="rnd">
                <a:solidFill>
                  <a:srgbClr val="F59E0B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783080" y="4678680"/>
                <a:ext cx="134150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优化技术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792605" y="5093018"/>
                <a:ext cx="22031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提升检索精度与生成质量</a:t>
                </a:r>
              </a:p>
            </p:txBody>
          </p:sp>
          <p:grpSp>
            <p:nvGrpSpPr>
              <p:cNvPr id="51" name="Group 51"/>
              <p:cNvGrpSpPr/>
              <p:nvPr/>
            </p:nvGrpSpPr>
            <p:grpSpPr>
              <a:xfrm>
                <a:off x="1771650" y="5442585"/>
                <a:ext cx="2974086" cy="815340"/>
                <a:chOff x="1771650" y="5442585"/>
                <a:chExt cx="2974086" cy="815340"/>
              </a:xfrm>
            </p:grpSpPr>
            <p:sp>
              <p:nvSpPr>
                <p:cNvPr id="45" name="Ellipse 45"/>
                <p:cNvSpPr/>
                <p:nvPr/>
              </p:nvSpPr>
              <p:spPr>
                <a:xfrm>
                  <a:off x="1771650" y="5486400"/>
                  <a:ext cx="76200" cy="76200"/>
                </a:xfrm>
                <a:prstGeom prst="ellipse">
                  <a:avLst/>
                </a:prstGeom>
                <a:solidFill>
                  <a:srgbClr val="F59E0B"/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1937385" y="5442585"/>
                  <a:ext cx="2808351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475569"/>
                      </a:solidFill>
                      <a:latin typeface="Arial"/>
                      <a:ea typeface="Microsoft YaHei"/>
                      <a:cs typeface="Arial"/>
                    </a:rPr>
                    <a:t>分块策略 (Chunking) 与元数据管理</a:t>
                  </a:r>
                </a:p>
              </p:txBody>
            </p:sp>
            <p:sp>
              <p:nvSpPr>
                <p:cNvPr id="47" name="Ellipse 47"/>
                <p:cNvSpPr/>
                <p:nvPr/>
              </p:nvSpPr>
              <p:spPr>
                <a:xfrm>
                  <a:off x="1771650" y="5772150"/>
                  <a:ext cx="76200" cy="76200"/>
                </a:xfrm>
                <a:prstGeom prst="ellipse">
                  <a:avLst/>
                </a:prstGeom>
                <a:solidFill>
                  <a:srgbClr val="F59E0B"/>
                </a:solidFill>
                <a:ln>
                  <a:noFill/>
                </a:ln>
              </p:spPr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1937385" y="5728335"/>
                  <a:ext cx="2378964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475569"/>
                      </a:solidFill>
                      <a:latin typeface="Arial"/>
                      <a:ea typeface="Microsoft YaHei"/>
                      <a:cs typeface="Arial"/>
                    </a:rPr>
                    <a:t>重排序 (Reranking) 模型应用</a:t>
                  </a:r>
                </a:p>
              </p:txBody>
            </p:sp>
            <p:sp>
              <p:nvSpPr>
                <p:cNvPr id="49" name="Ellipse 49"/>
                <p:cNvSpPr/>
                <p:nvPr/>
              </p:nvSpPr>
              <p:spPr>
                <a:xfrm>
                  <a:off x="1771650" y="6057900"/>
                  <a:ext cx="76200" cy="76200"/>
                </a:xfrm>
                <a:prstGeom prst="ellipse">
                  <a:avLst/>
                </a:prstGeom>
                <a:solidFill>
                  <a:srgbClr val="F59E0B"/>
                </a:solidFill>
                <a:ln>
                  <a:noFill/>
                </a:ln>
              </p:spPr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1937385" y="6014085"/>
                  <a:ext cx="1607820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475569"/>
                      </a:solidFill>
                      <a:latin typeface="Arial"/>
                      <a:ea typeface="Microsoft YaHei"/>
                      <a:cs typeface="Arial"/>
                    </a:rPr>
                    <a:t>查询改写与多路召回</a:t>
                  </a:r>
                </a:p>
              </p:txBody>
            </p:sp>
          </p:grpSp>
        </p:grpSp>
        <p:grpSp>
          <p:nvGrpSpPr>
            <p:cNvPr id="70" name="Group 70"/>
            <p:cNvGrpSpPr/>
            <p:nvPr/>
          </p:nvGrpSpPr>
          <p:grpSpPr>
            <a:xfrm>
              <a:off x="6286500" y="4381500"/>
              <a:ext cx="5143500" cy="2476500"/>
              <a:chOff x="6286500" y="4381500"/>
              <a:chExt cx="5143500" cy="24765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6286500" y="4381500"/>
                <a:ext cx="5143500" cy="2476500"/>
              </a:xfrm>
              <a:prstGeom prst="roundRect">
                <a:avLst>
                  <a:gd name="adj" fmla="val 615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00000">
                    <a:alpha val="3750"/>
                  </a:srgbClr>
                </a:outerShdw>
              </a:effectLst>
            </p:spPr>
          </p:sp>
          <p:sp>
            <p:nvSpPr>
              <p:cNvPr id="54" name="Ellipse 54"/>
              <p:cNvSpPr/>
              <p:nvPr/>
            </p:nvSpPr>
            <p:spPr>
              <a:xfrm>
                <a:off x="6553200" y="4648200"/>
                <a:ext cx="609600" cy="609600"/>
              </a:xfrm>
              <a:prstGeom prst="ellipse">
                <a:avLst/>
              </a:prstGeom>
              <a:solidFill>
                <a:srgbClr val="F5F3FF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762750" y="48577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47625"/>
                    </a:moveTo>
                    <a:cubicBezTo>
                      <a:pt x="0" y="0"/>
                      <a:pt x="47625" y="0"/>
                      <a:pt x="47625" y="47625"/>
                    </a:cubicBezTo>
                    <a:cubicBezTo>
                      <a:pt x="47625" y="95250"/>
                      <a:pt x="0" y="95250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8B5CF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905625" y="48577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47625"/>
                    </a:moveTo>
                    <a:cubicBezTo>
                      <a:pt x="0" y="0"/>
                      <a:pt x="47625" y="0"/>
                      <a:pt x="47625" y="47625"/>
                    </a:cubicBezTo>
                    <a:cubicBezTo>
                      <a:pt x="47625" y="95250"/>
                      <a:pt x="0" y="95250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8B5CF6"/>
                </a:solidFill>
              </a:ln>
            </p:spPr>
          </p:sp>
          <p:sp>
            <p:nvSpPr>
              <p:cNvPr id="57" name="Line 57"/>
              <p:cNvSpPr/>
              <p:nvPr/>
            </p:nvSpPr>
            <p:spPr>
              <a:xfrm>
                <a:off x="6810375" y="490537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8B5CF6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762750" y="495300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47625"/>
                    </a:moveTo>
                    <a:cubicBezTo>
                      <a:pt x="0" y="0"/>
                      <a:pt x="47625" y="0"/>
                      <a:pt x="47625" y="47625"/>
                    </a:cubicBezTo>
                    <a:cubicBezTo>
                      <a:pt x="47625" y="95250"/>
                      <a:pt x="0" y="95250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8B5CF6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905625" y="495300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47625"/>
                    </a:moveTo>
                    <a:cubicBezTo>
                      <a:pt x="0" y="0"/>
                      <a:pt x="47625" y="0"/>
                      <a:pt x="47625" y="47625"/>
                    </a:cubicBezTo>
                    <a:cubicBezTo>
                      <a:pt x="47625" y="95250"/>
                      <a:pt x="0" y="95250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8B5CF6"/>
                </a:solidFill>
              </a:ln>
            </p:spPr>
          </p:sp>
          <p:sp>
            <p:nvSpPr>
              <p:cNvPr id="60" name="Line 60"/>
              <p:cNvSpPr/>
              <p:nvPr/>
            </p:nvSpPr>
            <p:spPr>
              <a:xfrm>
                <a:off x="6810375" y="500062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8B5CF6"/>
                </a:solidFill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7307580" y="4678680"/>
                <a:ext cx="253305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rgbClr val="1E293B"/>
                    </a:solidFill>
                    <a:latin typeface="Arial"/>
                    <a:ea typeface="Microsoft YaHei"/>
                    <a:cs typeface="Arial"/>
                  </a:rPr>
                  <a:t>框架：LangChain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317105" y="5093018"/>
                <a:ext cx="308052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64748B"/>
                    </a:solidFill>
                    <a:latin typeface="Arial"/>
                    <a:ea typeface="Microsoft YaHei"/>
                    <a:cs typeface="Arial"/>
                  </a:rPr>
                  <a:t>构建基于 LLM 的应用程序核心骨架</a:t>
                </a:r>
              </a:p>
            </p:txBody>
          </p:sp>
          <p:grpSp>
            <p:nvGrpSpPr>
              <p:cNvPr id="69" name="Group 69"/>
              <p:cNvGrpSpPr/>
              <p:nvPr/>
            </p:nvGrpSpPr>
            <p:grpSpPr>
              <a:xfrm>
                <a:off x="7296150" y="5442585"/>
                <a:ext cx="2842641" cy="815340"/>
                <a:chOff x="7296150" y="5442585"/>
                <a:chExt cx="2842641" cy="815340"/>
              </a:xfrm>
            </p:grpSpPr>
            <p:sp>
              <p:nvSpPr>
                <p:cNvPr id="63" name="Ellipse 63"/>
                <p:cNvSpPr/>
                <p:nvPr/>
              </p:nvSpPr>
              <p:spPr>
                <a:xfrm>
                  <a:off x="7296150" y="5486400"/>
                  <a:ext cx="76200" cy="76200"/>
                </a:xfrm>
                <a:prstGeom prst="ellipse">
                  <a:avLst/>
                </a:prstGeom>
                <a:solidFill>
                  <a:srgbClr val="8B5CF6"/>
                </a:solidFill>
                <a:ln>
                  <a:noFill/>
                </a:ln>
              </p:spPr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7461885" y="5442585"/>
                  <a:ext cx="2676906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475569"/>
                      </a:solidFill>
                      <a:latin typeface="Arial"/>
                      <a:ea typeface="Microsoft YaHei"/>
                      <a:cs typeface="Arial"/>
                    </a:rPr>
                    <a:t>链式调用 (Chains) 与 Agent 编排</a:t>
                  </a:r>
                </a:p>
              </p:txBody>
            </p:sp>
            <p:sp>
              <p:nvSpPr>
                <p:cNvPr id="65" name="Ellipse 65"/>
                <p:cNvSpPr/>
                <p:nvPr/>
              </p:nvSpPr>
              <p:spPr>
                <a:xfrm>
                  <a:off x="7296150" y="5772150"/>
                  <a:ext cx="76200" cy="76200"/>
                </a:xfrm>
                <a:prstGeom prst="ellipse">
                  <a:avLst/>
                </a:prstGeom>
                <a:solidFill>
                  <a:srgbClr val="8B5CF6"/>
                </a:solidFill>
                <a:ln>
                  <a:noFill/>
                </a:ln>
              </p:spPr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7461885" y="5728335"/>
                  <a:ext cx="2151126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475569"/>
                      </a:solidFill>
                      <a:latin typeface="Arial"/>
                      <a:ea typeface="Microsoft YaHei"/>
                      <a:cs typeface="Arial"/>
                    </a:rPr>
                    <a:t>内置丰富的 Prompt 模板库</a:t>
                  </a:r>
                </a:p>
              </p:txBody>
            </p:sp>
            <p:sp>
              <p:nvSpPr>
                <p:cNvPr id="67" name="Ellipse 67"/>
                <p:cNvSpPr/>
                <p:nvPr/>
              </p:nvSpPr>
              <p:spPr>
                <a:xfrm>
                  <a:off x="7296150" y="6057900"/>
                  <a:ext cx="76200" cy="76200"/>
                </a:xfrm>
                <a:prstGeom prst="ellipse">
                  <a:avLst/>
                </a:prstGeom>
                <a:solidFill>
                  <a:srgbClr val="8B5CF6"/>
                </a:solidFill>
                <a:ln>
                  <a:noFill/>
                </a:ln>
              </p:spPr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7461885" y="6014085"/>
                  <a:ext cx="2484120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475569"/>
                      </a:solidFill>
                      <a:latin typeface="Arial"/>
                      <a:ea typeface="Microsoft YaHei"/>
                      <a:cs typeface="Arial"/>
                    </a:rPr>
                    <a:t>生态集成：工具调用、记忆模块</a:t>
                  </a:r>
                </a:p>
              </p:txBody>
            </p:sp>
          </p:grpSp>
        </p:grp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0" y="0"/>
            <a:ext cx="12192000" cy="962025"/>
            <a:chOff x="0" y="0"/>
            <a:chExt cx="12192000" cy="962025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952500"/>
            </a:xfrm>
            <a:prstGeom prst="rect">
              <a:avLst/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952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38100">
              <a:solidFill>
                <a:srgbClr val="3B82F6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3400" y="295275"/>
              <a:ext cx="375666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知识表示方式对比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27270" y="424815"/>
              <a:ext cx="71608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8 / 13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71500" y="1333500"/>
            <a:ext cx="11049000" cy="4953000"/>
            <a:chOff x="571500" y="1333500"/>
            <a:chExt cx="11049000" cy="4953000"/>
          </a:xfrm>
        </p:grpSpPr>
        <p:grpSp>
          <p:nvGrpSpPr>
            <p:cNvPr id="23" name="Group 23"/>
            <p:cNvGrpSpPr/>
            <p:nvPr/>
          </p:nvGrpSpPr>
          <p:grpSpPr>
            <a:xfrm>
              <a:off x="571500" y="1333500"/>
              <a:ext cx="3429000" cy="4953000"/>
              <a:chOff x="571500" y="1333500"/>
              <a:chExt cx="3429000" cy="4953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333500"/>
                <a:ext cx="3429000" cy="4953000"/>
              </a:xfrm>
              <a:prstGeom prst="roundRect">
                <a:avLst>
                  <a:gd name="adj" fmla="val 444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71500" y="133350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3B82F6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828800" y="1733550"/>
                <a:ext cx="914400" cy="9144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2009775" y="1971675"/>
                <a:ext cx="552450" cy="495300"/>
                <a:chOff x="2009775" y="1971675"/>
                <a:chExt cx="552450" cy="495300"/>
              </a:xfrm>
            </p:grpSpPr>
            <p:sp>
              <p:nvSpPr>
                <p:cNvPr id="11" name="Ellipse 11"/>
                <p:cNvSpPr/>
                <p:nvPr/>
              </p:nvSpPr>
              <p:spPr>
                <a:xfrm>
                  <a:off x="2009775" y="1971675"/>
                  <a:ext cx="133350" cy="133350"/>
                </a:xfrm>
                <a:prstGeom prst="ellipse">
                  <a:avLst/>
                </a:prstGeom>
                <a:solidFill>
                  <a:srgbClr val="3B82F6"/>
                </a:solidFill>
                <a:ln>
                  <a:noFill/>
                </a:ln>
              </p:spPr>
            </p:sp>
            <p:sp>
              <p:nvSpPr>
                <p:cNvPr id="12" name="Ellipse 12"/>
                <p:cNvSpPr/>
                <p:nvPr/>
              </p:nvSpPr>
              <p:spPr>
                <a:xfrm>
                  <a:off x="2428875" y="1971675"/>
                  <a:ext cx="133350" cy="133350"/>
                </a:xfrm>
                <a:prstGeom prst="ellipse">
                  <a:avLst/>
                </a:prstGeom>
                <a:solidFill>
                  <a:srgbClr val="3B82F6"/>
                </a:solidFill>
                <a:ln>
                  <a:noFill/>
                </a:ln>
              </p:spPr>
            </p:sp>
            <p:sp>
              <p:nvSpPr>
                <p:cNvPr id="13" name="Ellipse 13"/>
                <p:cNvSpPr/>
                <p:nvPr/>
              </p:nvSpPr>
              <p:spPr>
                <a:xfrm>
                  <a:off x="2219325" y="2333625"/>
                  <a:ext cx="133350" cy="133350"/>
                </a:xfrm>
                <a:prstGeom prst="ellipse">
                  <a:avLst/>
                </a:prstGeom>
                <a:solidFill>
                  <a:srgbClr val="3B82F6"/>
                </a:solidFill>
                <a:ln>
                  <a:noFill/>
                </a:ln>
              </p:spPr>
            </p:sp>
            <p:sp>
              <p:nvSpPr>
                <p:cNvPr id="14" name="Line 14"/>
                <p:cNvSpPr/>
                <p:nvPr/>
              </p:nvSpPr>
              <p:spPr>
                <a:xfrm>
                  <a:off x="2076450" y="2038350"/>
                  <a:ext cx="4191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00" h="9525">
                      <a:moveTo>
                        <a:pt x="0" y="0"/>
                      </a:moveTo>
                      <a:lnTo>
                        <a:pt x="419100" y="0"/>
                      </a:lnTo>
                    </a:path>
                  </a:pathLst>
                </a:custGeom>
                <a:noFill/>
                <a:ln w="23812">
                  <a:solidFill>
                    <a:srgbClr val="3B82F6"/>
                  </a:solidFill>
                </a:ln>
              </p:spPr>
            </p:sp>
            <p:sp>
              <p:nvSpPr>
                <p:cNvPr id="15" name="Line 15"/>
                <p:cNvSpPr/>
                <p:nvPr/>
              </p:nvSpPr>
              <p:spPr>
                <a:xfrm>
                  <a:off x="2076450" y="2038350"/>
                  <a:ext cx="20955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361950">
                      <a:moveTo>
                        <a:pt x="0" y="0"/>
                      </a:moveTo>
                      <a:lnTo>
                        <a:pt x="209550" y="361950"/>
                      </a:lnTo>
                    </a:path>
                  </a:pathLst>
                </a:custGeom>
                <a:noFill/>
                <a:ln w="23812">
                  <a:solidFill>
                    <a:srgbClr val="3B82F6"/>
                  </a:solidFill>
                </a:ln>
              </p:spPr>
            </p:sp>
            <p:sp>
              <p:nvSpPr>
                <p:cNvPr id="16" name="Line 16"/>
                <p:cNvSpPr/>
                <p:nvPr/>
              </p:nvSpPr>
              <p:spPr>
                <a:xfrm>
                  <a:off x="2286000" y="2038350"/>
                  <a:ext cx="209550" cy="36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361950">
                      <a:moveTo>
                        <a:pt x="209550" y="0"/>
                      </a:moveTo>
                      <a:lnTo>
                        <a:pt x="0" y="361950"/>
                      </a:lnTo>
                    </a:path>
                  </a:pathLst>
                </a:custGeom>
                <a:noFill/>
                <a:ln w="23812">
                  <a:solidFill>
                    <a:srgbClr val="3B82F6"/>
                  </a:solidFill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615249" y="2821305"/>
                <a:ext cx="134150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知识图谱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719262" y="3219450"/>
                <a:ext cx="113347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显式符号化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35355" y="3854768"/>
                <a:ext cx="306081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4155"/>
                    </a:solidFill>
                    <a:latin typeface="Segoe UI"/>
                    <a:ea typeface="Microsoft YaHei"/>
                    <a:cs typeface="Segoe UI"/>
                  </a:rPr>
                  <a:t>• 结构化三元组 (实体-关系-实体)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5355" y="4235768"/>
                <a:ext cx="256789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4155"/>
                    </a:solidFill>
                    <a:latin typeface="Segoe UI"/>
                    <a:ea typeface="Microsoft YaHei"/>
                    <a:cs typeface="Segoe UI"/>
                  </a:rPr>
                  <a:t>• 强逻辑推理与完全可解释性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35355" y="4616768"/>
                <a:ext cx="237072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4155"/>
                    </a:solidFill>
                    <a:latin typeface="Segoe UI"/>
                    <a:ea typeface="Microsoft YaHei"/>
                    <a:cs typeface="Segoe UI"/>
                  </a:rPr>
                  <a:t>• 依赖领域专家构建与维护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4381500" y="1333500"/>
              <a:ext cx="3429000" cy="4953000"/>
              <a:chOff x="4381500" y="1333500"/>
              <a:chExt cx="3429000" cy="4953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381500" y="1333500"/>
                <a:ext cx="3429000" cy="4953000"/>
              </a:xfrm>
              <a:prstGeom prst="roundRect">
                <a:avLst>
                  <a:gd name="adj" fmla="val 444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4381500" y="133350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5638800" y="1733550"/>
                <a:ext cx="914400" cy="914400"/>
              </a:xfrm>
              <a:prstGeom prst="ellipse">
                <a:avLst/>
              </a:prstGeom>
              <a:solidFill>
                <a:srgbClr val="F5F3FF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5905500" y="2000250"/>
                <a:ext cx="381000" cy="409575"/>
                <a:chOff x="5905500" y="2000250"/>
                <a:chExt cx="381000" cy="409575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5905500" y="2000250"/>
                  <a:ext cx="381000" cy="381000"/>
                </a:xfrm>
                <a:prstGeom prst="ellipse">
                  <a:avLst/>
                </a:prstGeom>
                <a:noFill/>
                <a:ln w="19050">
                  <a:solidFill>
                    <a:srgbClr val="8B5CF6"/>
                  </a:solidFill>
                </a:ln>
              </p:spPr>
            </p:sp>
            <p:sp>
              <p:nvSpPr>
                <p:cNvPr id="28" name="Ellipse 28"/>
                <p:cNvSpPr/>
                <p:nvPr/>
              </p:nvSpPr>
              <p:spPr>
                <a:xfrm>
                  <a:off x="5915025" y="2009775"/>
                  <a:ext cx="95250" cy="95250"/>
                </a:xfrm>
                <a:prstGeom prst="ellipse">
                  <a:avLst/>
                </a:prstGeom>
                <a:solidFill>
                  <a:srgbClr val="8B5CF6"/>
                </a:solidFill>
                <a:ln>
                  <a:noFill/>
                </a:ln>
              </p:spPr>
            </p:sp>
            <p:sp>
              <p:nvSpPr>
                <p:cNvPr id="29" name="Ellipse 29"/>
                <p:cNvSpPr/>
                <p:nvPr/>
              </p:nvSpPr>
              <p:spPr>
                <a:xfrm>
                  <a:off x="6181725" y="2009775"/>
                  <a:ext cx="95250" cy="95250"/>
                </a:xfrm>
                <a:prstGeom prst="ellipse">
                  <a:avLst/>
                </a:prstGeom>
                <a:solidFill>
                  <a:srgbClr val="8B5CF6"/>
                </a:solidFill>
                <a:ln>
                  <a:noFill/>
                </a:ln>
              </p:spPr>
            </p:sp>
            <p:sp>
              <p:nvSpPr>
                <p:cNvPr id="30" name="Ellipse 30"/>
                <p:cNvSpPr/>
                <p:nvPr/>
              </p:nvSpPr>
              <p:spPr>
                <a:xfrm>
                  <a:off x="6048375" y="2314575"/>
                  <a:ext cx="95250" cy="95250"/>
                </a:xfrm>
                <a:prstGeom prst="ellipse">
                  <a:avLst/>
                </a:prstGeom>
                <a:solidFill>
                  <a:srgbClr val="8B5CF6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5962650" y="2057400"/>
                  <a:ext cx="26670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700" h="88900">
                      <a:moveTo>
                        <a:pt x="0" y="0"/>
                      </a:moveTo>
                      <a:cubicBezTo>
                        <a:pt x="88900" y="88900"/>
                        <a:pt x="177800" y="88900"/>
                        <a:pt x="266700" y="0"/>
                      </a:cubicBezTo>
                    </a:path>
                  </a:pathLst>
                </a:custGeom>
                <a:noFill/>
                <a:ln w="14288">
                  <a:solidFill>
                    <a:srgbClr val="8B5CF6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5962650" y="2057400"/>
                  <a:ext cx="13335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304800">
                      <a:moveTo>
                        <a:pt x="0" y="0"/>
                      </a:moveTo>
                      <a:cubicBezTo>
                        <a:pt x="44450" y="127000"/>
                        <a:pt x="88900" y="228600"/>
                        <a:pt x="133350" y="304800"/>
                      </a:cubicBezTo>
                    </a:path>
                  </a:pathLst>
                </a:custGeom>
                <a:noFill/>
                <a:ln w="14288">
                  <a:solidFill>
                    <a:srgbClr val="8B5CF6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6096000" y="2057400"/>
                  <a:ext cx="133350" cy="3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304800">
                      <a:moveTo>
                        <a:pt x="133350" y="0"/>
                      </a:moveTo>
                      <a:cubicBezTo>
                        <a:pt x="88900" y="127000"/>
                        <a:pt x="44450" y="228600"/>
                        <a:pt x="0" y="304800"/>
                      </a:cubicBezTo>
                    </a:path>
                  </a:pathLst>
                </a:custGeom>
                <a:noFill/>
                <a:ln w="14288">
                  <a:solidFill>
                    <a:srgbClr val="8B5CF6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5803647" y="2821305"/>
                <a:ext cx="584706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RAG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419725" y="3219450"/>
                <a:ext cx="13525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隐式语义表示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745355" y="3854768"/>
                <a:ext cx="217355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4155"/>
                    </a:solidFill>
                    <a:latin typeface="Segoe UI"/>
                    <a:ea typeface="Microsoft YaHei"/>
                    <a:cs typeface="Segoe UI"/>
                  </a:rPr>
                  <a:t>• 高维向量空间连续嵌入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745355" y="4235768"/>
                <a:ext cx="256789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4155"/>
                    </a:solidFill>
                    <a:latin typeface="Segoe UI"/>
                    <a:ea typeface="Microsoft YaHei"/>
                    <a:cs typeface="Segoe UI"/>
                  </a:rPr>
                  <a:t>• 上下文感知与动态检索增强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745355" y="4616768"/>
                <a:ext cx="237072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4155"/>
                    </a:solidFill>
                    <a:latin typeface="Segoe UI"/>
                    <a:ea typeface="Microsoft YaHei"/>
                    <a:cs typeface="Segoe UI"/>
                  </a:rPr>
                  <a:t>• 数据驱动，具备黑盒特性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8191500" y="1333500"/>
              <a:ext cx="3429000" cy="4953000"/>
              <a:chOff x="8191500" y="1333500"/>
              <a:chExt cx="3429000" cy="49530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191500" y="1333500"/>
                <a:ext cx="3429000" cy="4953000"/>
              </a:xfrm>
              <a:prstGeom prst="roundRect">
                <a:avLst>
                  <a:gd name="adj" fmla="val 4444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8191500" y="133350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10B981"/>
              </a:solidFill>
              <a:ln>
                <a:noFill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9448800" y="1733550"/>
                <a:ext cx="914400" cy="914400"/>
              </a:xfrm>
              <a:prstGeom prst="ellipse">
                <a:avLst/>
              </a:prstGeom>
              <a:solidFill>
                <a:srgbClr val="ECFDF5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9677400" y="2076450"/>
                <a:ext cx="457200" cy="228600"/>
                <a:chOff x="9677400" y="2076450"/>
                <a:chExt cx="457200" cy="228600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9677400" y="20764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0" y="0"/>
                      </a:moveTo>
                      <a:lnTo>
                        <a:pt x="228600" y="114300"/>
                      </a:lnTo>
                      <a:lnTo>
                        <a:pt x="0" y="228600"/>
                      </a:lnTo>
                    </a:path>
                  </a:pathLst>
                </a:custGeom>
                <a:noFill/>
                <a:ln w="28575" cap="rnd">
                  <a:solidFill>
                    <a:srgbClr val="10B981"/>
                  </a:solidFill>
                  <a:round/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9906000" y="20764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228600" y="0"/>
                      </a:moveTo>
                      <a:lnTo>
                        <a:pt x="0" y="114300"/>
                      </a:lnTo>
                      <a:lnTo>
                        <a:pt x="228600" y="228600"/>
                      </a:lnTo>
                    </a:path>
                  </a:pathLst>
                </a:custGeom>
                <a:noFill/>
                <a:ln w="28575" cap="rnd">
                  <a:solidFill>
                    <a:srgbClr val="10B981"/>
                  </a:solidFill>
                  <a:round/>
                </a:ln>
              </p:spPr>
            </p:sp>
            <p:sp>
              <p:nvSpPr>
                <p:cNvPr id="46" name="Ellipse 46"/>
                <p:cNvSpPr/>
                <p:nvPr/>
              </p:nvSpPr>
              <p:spPr>
                <a:xfrm>
                  <a:off x="9858375" y="2143125"/>
                  <a:ext cx="95250" cy="95250"/>
                </a:xfrm>
                <a:prstGeom prst="ellipse">
                  <a:avLst/>
                </a:prstGeom>
                <a:solidFill>
                  <a:srgbClr val="10B981"/>
                </a:solidFill>
                <a:ln>
                  <a:noFill/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9235250" y="2821305"/>
                <a:ext cx="1341501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范式对比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824436" y="3219450"/>
                <a:ext cx="216312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符号主义 vs 连接主义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555355" y="3854768"/>
                <a:ext cx="296222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4155"/>
                    </a:solidFill>
                    <a:latin typeface="Segoe UI"/>
                    <a:ea typeface="Microsoft YaHei"/>
                    <a:cs typeface="Segoe UI"/>
                  </a:rPr>
                  <a:t>• 符号主义：离散逻辑、规则推导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555355" y="4235768"/>
                <a:ext cx="296222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4155"/>
                    </a:solidFill>
                    <a:latin typeface="Segoe UI"/>
                    <a:ea typeface="Microsoft YaHei"/>
                    <a:cs typeface="Segoe UI"/>
                  </a:rPr>
                  <a:t>• 连接主义：连续概率、神经网络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555355" y="4616768"/>
                <a:ext cx="27650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34155"/>
                    </a:solidFill>
                    <a:latin typeface="Segoe UI"/>
                    <a:ea typeface="Microsoft YaHei"/>
                    <a:cs typeface="Segoe UI"/>
                  </a:rPr>
                  <a:t>• 演进趋势：神经符号融合架构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30114" y="454342"/>
            <a:ext cx="3131772" cy="579120"/>
            <a:chOff x="4530114" y="454342"/>
            <a:chExt cx="3131772" cy="579120"/>
          </a:xfrm>
        </p:grpSpPr>
        <p:sp>
          <p:nvSpPr>
            <p:cNvPr id="3" name="TextBox 3"/>
            <p:cNvSpPr txBox="1"/>
            <p:nvPr/>
          </p:nvSpPr>
          <p:spPr>
            <a:xfrm>
              <a:off x="4530114" y="454342"/>
              <a:ext cx="3131772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核心能力对比表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334000" y="100012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38100" cap="rnd">
              <a:solidFill>
                <a:srgbClr val="3B82F6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1714500" y="1428750"/>
            <a:ext cx="8763000" cy="3238500"/>
            <a:chOff x="1714500" y="1428750"/>
            <a:chExt cx="8763000" cy="3238500"/>
          </a:xfrm>
        </p:grpSpPr>
        <p:sp>
          <p:nvSpPr>
            <p:cNvPr id="6" name="Rectangle 6"/>
            <p:cNvSpPr/>
            <p:nvPr/>
          </p:nvSpPr>
          <p:spPr>
            <a:xfrm>
              <a:off x="1714500" y="1428750"/>
              <a:ext cx="8763000" cy="57150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854642" y="16287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评估维度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50434" y="162877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KG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39926" y="1628775"/>
              <a:ext cx="41764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RAG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714500" y="2000250"/>
              <a:ext cx="8763000" cy="66675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020854" y="2254568"/>
              <a:ext cx="625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4155"/>
                  </a:solidFill>
                  <a:latin typeface="Segoe UI"/>
                  <a:ea typeface="Microsoft YaHei"/>
                  <a:cs typeface="Segoe UI"/>
                </a:rPr>
                <a:t>精确性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524500" y="219075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02155" y="2267902"/>
              <a:ext cx="1876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477250" y="219075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54905" y="2267902"/>
              <a:ext cx="1876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中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714500" y="2667000"/>
              <a:ext cx="8763000" cy="6667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22270" y="292131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4155"/>
                  </a:solidFill>
                  <a:latin typeface="Segoe UI"/>
                  <a:ea typeface="Microsoft YaHei"/>
                  <a:cs typeface="Segoe UI"/>
                </a:rPr>
                <a:t>可解释性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524500" y="285750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02155" y="2934652"/>
              <a:ext cx="1876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高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477250" y="285750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94A3B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54905" y="2934652"/>
              <a:ext cx="1876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中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714500" y="3333750"/>
              <a:ext cx="8763000" cy="66675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922270" y="358806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4155"/>
                  </a:solidFill>
                  <a:latin typeface="Segoe UI"/>
                  <a:ea typeface="Microsoft YaHei"/>
                  <a:cs typeface="Segoe UI"/>
                </a:rPr>
                <a:t>构建成本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524500" y="352425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02155" y="3601402"/>
              <a:ext cx="1876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高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477250" y="352425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954905" y="3601402"/>
              <a:ext cx="1876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低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714500" y="4000500"/>
              <a:ext cx="8763000" cy="6667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020854" y="4254818"/>
              <a:ext cx="6257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4155"/>
                  </a:solidFill>
                  <a:latin typeface="Segoe UI"/>
                  <a:ea typeface="Microsoft YaHei"/>
                  <a:cs typeface="Segoe UI"/>
                </a:rPr>
                <a:t>实时性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524500" y="419100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002155" y="4268152"/>
              <a:ext cx="1876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低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477250" y="419100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54905" y="4268152"/>
              <a:ext cx="1876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高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572000" y="142875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7429500" y="142875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11025616" y="6363652"/>
            <a:ext cx="4177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9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2192000" cy="781050"/>
            <a:chOff x="0" y="0"/>
            <a:chExt cx="12192000" cy="78105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23900" y="171450"/>
              <a:ext cx="283654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场景推荐矩阵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rgbClr val="3B82F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786586" y="314325"/>
              <a:ext cx="6624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10 / 13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1333500"/>
            <a:ext cx="3238500" cy="4191000"/>
            <a:chOff x="762000" y="1333500"/>
            <a:chExt cx="3238500" cy="4191000"/>
          </a:xfrm>
        </p:grpSpPr>
        <p:sp>
          <p:nvSpPr>
            <p:cNvPr id="9" name="Rectangle 9"/>
            <p:cNvSpPr/>
            <p:nvPr/>
          </p:nvSpPr>
          <p:spPr>
            <a:xfrm>
              <a:off x="762000" y="1333500"/>
              <a:ext cx="3238500" cy="41910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1333500"/>
              <a:ext cx="3238500" cy="762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1080" y="1678305"/>
              <a:ext cx="105166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KG优先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2510" y="2156460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知识图谱驱动，强依赖结构化关系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990600" y="2752725"/>
              <a:ext cx="114300" cy="114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21105" y="2711768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金融风控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990600" y="3181350"/>
              <a:ext cx="114300" cy="114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21105" y="3140392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医疗健康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47750" y="3667125"/>
              <a:ext cx="2667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4415" y="393477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适用高合规、强逻辑场景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476750" y="1333500"/>
            <a:ext cx="3238500" cy="4191000"/>
            <a:chOff x="4476750" y="1333500"/>
            <a:chExt cx="3238500" cy="4191000"/>
          </a:xfrm>
        </p:grpSpPr>
        <p:sp>
          <p:nvSpPr>
            <p:cNvPr id="20" name="Rectangle 20"/>
            <p:cNvSpPr/>
            <p:nvPr/>
          </p:nvSpPr>
          <p:spPr>
            <a:xfrm>
              <a:off x="4476750" y="1333500"/>
              <a:ext cx="3238500" cy="41910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76750" y="1333500"/>
              <a:ext cx="3238500" cy="762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735830" y="1678305"/>
              <a:ext cx="12287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RAG优先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47260" y="2156460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检索增强生成，擅长非结构化数据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4705350" y="2752725"/>
              <a:ext cx="114300" cy="1143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935855" y="2711768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知识库问答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4705350" y="3181350"/>
              <a:ext cx="114300" cy="1143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35855" y="3140392"/>
              <a:ext cx="8229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智能客服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762500" y="3667125"/>
              <a:ext cx="2667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749165" y="393477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适用动态更新、开放域场景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191500" y="1333500"/>
            <a:ext cx="3238500" cy="4191000"/>
            <a:chOff x="8191500" y="1333500"/>
            <a:chExt cx="3238500" cy="4191000"/>
          </a:xfrm>
        </p:grpSpPr>
        <p:sp>
          <p:nvSpPr>
            <p:cNvPr id="31" name="Rectangle 31"/>
            <p:cNvSpPr/>
            <p:nvPr/>
          </p:nvSpPr>
          <p:spPr>
            <a:xfrm>
              <a:off x="8191500" y="1333500"/>
              <a:ext cx="3238500" cy="41910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191500" y="1333500"/>
              <a:ext cx="3238500" cy="762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50580" y="1678305"/>
              <a:ext cx="69742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E293B"/>
                  </a:solidFill>
                  <a:latin typeface="Arial"/>
                  <a:ea typeface="Microsoft YaHei"/>
                  <a:cs typeface="Arial"/>
                </a:rPr>
                <a:t>结合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62010" y="2156460"/>
              <a:ext cx="2308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融合图谱结构与语义检索优势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8420100" y="2752725"/>
              <a:ext cx="114300" cy="1143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50605" y="2711768"/>
              <a:ext cx="9018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GraphRAG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8420100" y="3181350"/>
              <a:ext cx="114300" cy="1143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50605" y="3140392"/>
              <a:ext cx="12172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复杂推理场景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3667125"/>
              <a:ext cx="2667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63915" y="393477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适用多跳推理、深度分析场景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46760" y="6477000"/>
            <a:ext cx="10683240" cy="352425"/>
            <a:chOff x="746760" y="6477000"/>
            <a:chExt cx="10683240" cy="352425"/>
          </a:xfrm>
        </p:grpSpPr>
        <p:sp>
          <p:nvSpPr>
            <p:cNvPr id="42" name="Line 42"/>
            <p:cNvSpPr/>
            <p:nvPr/>
          </p:nvSpPr>
          <p:spPr>
            <a:xfrm>
              <a:off x="762000" y="647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E2E8F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6760" y="6585585"/>
              <a:ext cx="18181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AI Agent 技术选型指南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0" grpId="0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16280" y="516255"/>
            <a:ext cx="10736580" cy="731520"/>
            <a:chOff x="716280" y="516255"/>
            <a:chExt cx="10736580" cy="731520"/>
          </a:xfrm>
        </p:grpSpPr>
        <p:sp>
          <p:nvSpPr>
            <p:cNvPr id="3" name="TextBox 3"/>
            <p:cNvSpPr txBox="1"/>
            <p:nvPr/>
          </p:nvSpPr>
          <p:spPr>
            <a:xfrm>
              <a:off x="716280" y="516255"/>
              <a:ext cx="489444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GraphRAG 融合之道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762000" y="119062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57150" cap="rnd">
              <a:solidFill>
                <a:srgbClr val="3B82F6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23626" y="710565"/>
              <a:ext cx="7292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11 / 13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1524000"/>
            <a:ext cx="11049000" cy="5105400"/>
            <a:chOff x="571500" y="1524000"/>
            <a:chExt cx="11049000" cy="5105400"/>
          </a:xfrm>
        </p:grpSpPr>
        <p:sp>
          <p:nvSpPr>
            <p:cNvPr id="7" name="Rectangle 7"/>
            <p:cNvSpPr/>
            <p:nvPr/>
          </p:nvSpPr>
          <p:spPr>
            <a:xfrm>
              <a:off x="571500" y="1524000"/>
              <a:ext cx="11049000" cy="4572000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9050">
              <a:solidFill>
                <a:srgbClr val="E2E8F0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52500" y="1905000"/>
              <a:ext cx="3048000" cy="3810000"/>
              <a:chOff x="952500" y="1905000"/>
              <a:chExt cx="3048000" cy="38100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952500" y="1905000"/>
                <a:ext cx="3048000" cy="3810000"/>
              </a:xfrm>
              <a:prstGeom prst="roundRect">
                <a:avLst>
                  <a:gd name="adj" fmla="val 5000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2133600" y="2133600"/>
                <a:ext cx="685800" cy="6858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2329065" y="2364105"/>
                <a:ext cx="29487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M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308735" y="3027998"/>
                <a:ext cx="2053080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微软 GraphRAG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1333500" y="3429000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28575" cap="rnd">
                <a:solidFill>
                  <a:srgbClr val="3B82F6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316355" y="3664268"/>
                <a:ext cx="217355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全局知识图谱索引构建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316355" y="3997642"/>
                <a:ext cx="217355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社区发现与层次化摘要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316355" y="4331018"/>
                <a:ext cx="217355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突破向量检索语义局限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572000" y="1905000"/>
              <a:ext cx="3048000" cy="3810000"/>
              <a:chOff x="4572000" y="1905000"/>
              <a:chExt cx="3048000" cy="38100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572000" y="1905000"/>
                <a:ext cx="3048000" cy="3810000"/>
              </a:xfrm>
              <a:prstGeom prst="roundRect">
                <a:avLst>
                  <a:gd name="adj" fmla="val 5000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5753100" y="2133600"/>
                <a:ext cx="685800" cy="685800"/>
              </a:xfrm>
              <a:prstGeom prst="ellipse">
                <a:avLst/>
              </a:prstGeom>
              <a:solidFill>
                <a:srgbClr val="D1FAE5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980769" y="2364105"/>
                <a:ext cx="230462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059669"/>
                    </a:solidFill>
                    <a:latin typeface="Segoe UI"/>
                    <a:ea typeface="Microsoft YaHei"/>
                    <a:cs typeface="Segoe UI"/>
                  </a:rPr>
                  <a:t>L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928235" y="3027998"/>
                <a:ext cx="1290535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LightRAG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4953000" y="3429000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28575" cap="rnd">
                <a:solidFill>
                  <a:srgbClr val="10B981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935855" y="3664268"/>
                <a:ext cx="217355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极简图结构轻量化设计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935855" y="3997642"/>
                <a:ext cx="228199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实体-关系双路检索机制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935855" y="4331018"/>
                <a:ext cx="197639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低延迟推理与高吞吐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8191500" y="1905000"/>
              <a:ext cx="3231668" cy="3810000"/>
              <a:chOff x="8191500" y="1905000"/>
              <a:chExt cx="3231668" cy="38100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191500" y="1905000"/>
                <a:ext cx="3048000" cy="3810000"/>
              </a:xfrm>
              <a:prstGeom prst="roundRect">
                <a:avLst>
                  <a:gd name="adj" fmla="val 5000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9372600" y="2133600"/>
                <a:ext cx="685800" cy="685800"/>
              </a:xfrm>
              <a:prstGeom prst="ellipse">
                <a:avLst/>
              </a:prstGeom>
              <a:solidFill>
                <a:srgbClr val="EDE9FE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600269" y="2364105"/>
                <a:ext cx="230462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7C3AED"/>
                    </a:solidFill>
                    <a:latin typeface="Segoe UI"/>
                    <a:ea typeface="Microsoft YaHei"/>
                    <a:cs typeface="Segoe UI"/>
                  </a:rPr>
                  <a:t>A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547735" y="3027998"/>
                <a:ext cx="2875433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Agent + Graph + RAG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8572500" y="3429000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28575" cap="rnd">
                <a:solidFill>
                  <a:srgbClr val="8B5CF6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555355" y="3664268"/>
                <a:ext cx="217355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智能体自主图遍历规划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555355" y="3997642"/>
                <a:ext cx="217355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动态图谱实时演化更新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555355" y="4331018"/>
                <a:ext cx="217355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• 复杂任务多步推理协同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4191000" y="6096000"/>
              <a:ext cx="3810000" cy="533400"/>
              <a:chOff x="4191000" y="6096000"/>
              <a:chExt cx="3810000" cy="5334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191000" y="6096000"/>
                <a:ext cx="3810000" cy="533400"/>
              </a:xfrm>
              <a:prstGeom prst="roundRect">
                <a:avLst>
                  <a:gd name="adj" fmla="val 50000"/>
                </a:avLst>
              </a:prstGeom>
              <a:solidFill>
                <a:srgbClr val="0F172A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664394" y="6222682"/>
                <a:ext cx="286321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技术演进 → 深度融合架构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0" y="-1905000"/>
            <a:ext cx="5715000" cy="5715000"/>
          </a:xfrm>
          <a:prstGeom prst="ellipse">
            <a:avLst/>
          </a:prstGeom>
          <a:solidFill>
            <a:srgbClr val="1E293B">
              <a:alpha val="40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476250" y="3333750"/>
            <a:ext cx="4762500" cy="4762500"/>
          </a:xfrm>
          <a:prstGeom prst="ellipse">
            <a:avLst/>
          </a:prstGeom>
          <a:solidFill>
            <a:srgbClr val="1E293B">
              <a:alpha val="30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29590" y="596265"/>
            <a:ext cx="2108073" cy="670560"/>
            <a:chOff x="529590" y="596265"/>
            <a:chExt cx="2108073" cy="670560"/>
          </a:xfrm>
        </p:grpSpPr>
        <p:sp>
          <p:nvSpPr>
            <p:cNvPr id="5" name="TextBox 5"/>
            <p:cNvSpPr txBox="1"/>
            <p:nvPr/>
          </p:nvSpPr>
          <p:spPr>
            <a:xfrm>
              <a:off x="529590" y="596265"/>
              <a:ext cx="2108073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关键结论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095375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A5E9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1809750"/>
            <a:ext cx="5158740" cy="3619500"/>
            <a:chOff x="571500" y="1809750"/>
            <a:chExt cx="5158740" cy="3619500"/>
          </a:xfrm>
          <a:effectLst>
            <a:outerShdw blurRad="228600" dist="7620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8" name="Rectangle 8"/>
            <p:cNvSpPr/>
            <p:nvPr/>
          </p:nvSpPr>
          <p:spPr>
            <a:xfrm>
              <a:off x="571500" y="1809750"/>
              <a:ext cx="3048000" cy="3619500"/>
            </a:xfrm>
            <a:prstGeom prst="roundRect">
              <a:avLst>
                <a:gd name="adj" fmla="val 5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9" name="Rectangle 9"/>
            <p:cNvSpPr/>
            <p:nvPr/>
          </p:nvSpPr>
          <p:spPr>
            <a:xfrm>
              <a:off x="571500" y="1809750"/>
              <a:ext cx="3048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A5E9"/>
                </a:gs>
                <a:gs pos="100000">
                  <a:srgbClr val="38BDF8"/>
                </a:gs>
              </a:gsLst>
              <a:lin ang="0" scaled="1"/>
            </a:gradFill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0" name="Ellipse 10"/>
            <p:cNvSpPr/>
            <p:nvPr/>
          </p:nvSpPr>
          <p:spPr>
            <a:xfrm>
              <a:off x="723900" y="2057400"/>
              <a:ext cx="457200" cy="457200"/>
            </a:xfrm>
            <a:prstGeom prst="ellipse">
              <a:avLst/>
            </a:prstGeom>
            <a:solidFill>
              <a:srgbClr val="0EA5E9">
                <a:alpha val="15000"/>
              </a:srgbClr>
            </a:solidFill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888235" y="2167890"/>
              <a:ext cx="128530" cy="365760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EA5E9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12545" y="2155508"/>
              <a:ext cx="1724570" cy="335280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8FAFC"/>
                  </a:solidFill>
                  <a:latin typeface="Segoe UI"/>
                  <a:ea typeface="Microsoft YaHei"/>
                  <a:cs typeface="Segoe UI"/>
                </a:rPr>
                <a:t>KG 与 RAG 互补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333500" y="2476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18260" y="2727960"/>
              <a:ext cx="4403217" cy="243840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知识图谱提供结构化推理能力，RAG 补充实时事实检索。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18260" y="2966085"/>
              <a:ext cx="4411980" cy="243840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两者结合实现精准与灵活的平衡，显著提升问答可靠性。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18260" y="3299460"/>
              <a:ext cx="3710940" cy="243840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适用于需要强逻辑约束与复杂关系推导的场景。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381500" y="1809750"/>
            <a:ext cx="4632960" cy="3619500"/>
            <a:chOff x="4381500" y="1809750"/>
            <a:chExt cx="4632960" cy="3619500"/>
          </a:xfrm>
          <a:effectLst>
            <a:outerShdw blurRad="228600" dist="7620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18" name="Rectangle 18"/>
            <p:cNvSpPr/>
            <p:nvPr/>
          </p:nvSpPr>
          <p:spPr>
            <a:xfrm>
              <a:off x="4381500" y="1809750"/>
              <a:ext cx="3048000" cy="3619500"/>
            </a:xfrm>
            <a:prstGeom prst="roundRect">
              <a:avLst>
                <a:gd name="adj" fmla="val 5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4381500" y="1809750"/>
              <a:ext cx="3048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8B5CF6"/>
                </a:gs>
                <a:gs pos="100000">
                  <a:srgbClr val="A78BFA"/>
                </a:gs>
              </a:gsLst>
              <a:lin ang="0" scaled="1"/>
            </a:gradFill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20" name="Ellipse 20"/>
            <p:cNvSpPr/>
            <p:nvPr/>
          </p:nvSpPr>
          <p:spPr>
            <a:xfrm>
              <a:off x="4533900" y="2057400"/>
              <a:ext cx="457200" cy="457200"/>
            </a:xfrm>
            <a:prstGeom prst="ellipse">
              <a:avLst/>
            </a:prstGeom>
            <a:solidFill>
              <a:srgbClr val="8B5CF6">
                <a:alpha val="15000"/>
              </a:srgbClr>
            </a:solidFill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21" name="TextBox 21"/>
            <p:cNvSpPr txBox="1"/>
            <p:nvPr/>
          </p:nvSpPr>
          <p:spPr>
            <a:xfrm>
              <a:off x="4663731" y="2167890"/>
              <a:ext cx="197539" cy="365760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8B5CF6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22545" y="2155508"/>
              <a:ext cx="2243285" cy="335280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8FAFC"/>
                  </a:solidFill>
                  <a:latin typeface="Segoe UI"/>
                  <a:ea typeface="Microsoft YaHei"/>
                  <a:cs typeface="Segoe UI"/>
                </a:rPr>
                <a:t>GraphRAG 最佳实践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143500" y="2476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28260" y="2727960"/>
              <a:ext cx="3535680" cy="243840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采用社区检测优化索引构建，降低检索噪声。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28260" y="2966085"/>
              <a:ext cx="3886200" cy="243840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利用图神经网络增强实体语义关联与上下文理解。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28260" y="3299460"/>
              <a:ext cx="3360420" cy="243840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实施动态查询路由，平衡延迟与生成质量。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191500" y="1809750"/>
            <a:ext cx="4632960" cy="3619500"/>
            <a:chOff x="8191500" y="1809750"/>
            <a:chExt cx="4632960" cy="3619500"/>
          </a:xfrm>
          <a:effectLst>
            <a:outerShdw blurRad="228600" dist="7620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28" name="Rectangle 28"/>
            <p:cNvSpPr/>
            <p:nvPr/>
          </p:nvSpPr>
          <p:spPr>
            <a:xfrm>
              <a:off x="8191500" y="1809750"/>
              <a:ext cx="3048000" cy="3619500"/>
            </a:xfrm>
            <a:prstGeom prst="roundRect">
              <a:avLst>
                <a:gd name="adj" fmla="val 5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8191500" y="1809750"/>
              <a:ext cx="3048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0B981"/>
                </a:gs>
                <a:gs pos="100000">
                  <a:srgbClr val="34D399"/>
                </a:gs>
              </a:gsLst>
              <a:lin ang="0" scaled="1"/>
            </a:gradFill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30" name="Ellipse 30"/>
            <p:cNvSpPr/>
            <p:nvPr/>
          </p:nvSpPr>
          <p:spPr>
            <a:xfrm>
              <a:off x="8343900" y="2057400"/>
              <a:ext cx="457200" cy="457200"/>
            </a:xfrm>
            <a:prstGeom prst="ellipse">
              <a:avLst/>
            </a:prstGeom>
            <a:solidFill>
              <a:srgbClr val="10B981">
                <a:alpha val="15000"/>
              </a:srgbClr>
            </a:solidFill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31" name="TextBox 31"/>
            <p:cNvSpPr txBox="1"/>
            <p:nvPr/>
          </p:nvSpPr>
          <p:spPr>
            <a:xfrm>
              <a:off x="8473731" y="2167890"/>
              <a:ext cx="197539" cy="365760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32545" y="2155508"/>
              <a:ext cx="1560100" cy="335280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8FAFC"/>
                  </a:solidFill>
                  <a:latin typeface="Segoe UI"/>
                  <a:ea typeface="Microsoft YaHei"/>
                  <a:cs typeface="Segoe UI"/>
                </a:rPr>
                <a:t>未来演进方向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8953500" y="2476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938260" y="2727960"/>
              <a:ext cx="3886200" cy="243840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向多模态图谱扩展，融合文本、图像与代码结构。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38260" y="2966085"/>
              <a:ext cx="3185160" cy="243840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探索大模型与符号推理的深度融合架构。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38260" y="3299460"/>
              <a:ext cx="3535680" cy="243840"/>
            </a:xfrm>
            <a:prstGeom prst="rect">
              <a:avLst/>
            </a:prstGeom>
            <a:noFill/>
            <a:ln>
              <a:noFill/>
            </a:ln>
            <a:effectLst>
              <a:outerShdw blurRad="228600" dist="762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BD5E1"/>
                  </a:solidFill>
                  <a:latin typeface="Segoe UI"/>
                  <a:ea typeface="Microsoft YaHei"/>
                  <a:cs typeface="Segoe UI"/>
                </a:rPr>
                <a:t>构建自动化知识演化与自监督持续更新机制。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1170110" y="63636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12 / 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  <p:bldP spid="27" grpId="0"/>
      <p:bldP spid="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285750"/>
            <a:ext cx="12382500" cy="6953250"/>
            <a:chOff x="0" y="285750"/>
            <a:chExt cx="12382500" cy="6953250"/>
          </a:xfrm>
        </p:grpSpPr>
        <p:sp>
          <p:nvSpPr>
            <p:cNvPr id="3" name="Ellipse 3"/>
            <p:cNvSpPr/>
            <p:nvPr/>
          </p:nvSpPr>
          <p:spPr>
            <a:xfrm>
              <a:off x="285750" y="285750"/>
              <a:ext cx="2095500" cy="2095500"/>
            </a:xfrm>
            <a:prstGeom prst="ellipse">
              <a:avLst/>
            </a:prstGeom>
            <a:solidFill>
              <a:srgbClr val="1E293B">
                <a:alpha val="50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334500" y="4191000"/>
              <a:ext cx="3048000" cy="3048000"/>
            </a:xfrm>
            <a:prstGeom prst="ellipse">
              <a:avLst/>
            </a:prstGeom>
            <a:solidFill>
              <a:srgbClr val="1E293B">
                <a:alpha val="50000"/>
              </a:srgb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647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38BDF8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619750" y="2571750"/>
              <a:ext cx="952500" cy="381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6096000" y="190500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solidFill>
              <a:srgbClr val="000000">
                <a:alpha val="40000"/>
              </a:srgbClr>
            </a:solidFill>
            <a:ln w="19050">
              <a:solidFill>
                <a:srgbClr val="38BDF8">
                  <a:alpha val="40000"/>
                </a:srgbClr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493990" y="2621280"/>
            <a:ext cx="3204020" cy="1341120"/>
            <a:chOff x="4493990" y="2621280"/>
            <a:chExt cx="3204020" cy="1341120"/>
          </a:xfrm>
        </p:grpSpPr>
        <p:sp>
          <p:nvSpPr>
            <p:cNvPr id="9" name="TextBox 9"/>
            <p:cNvSpPr txBox="1"/>
            <p:nvPr/>
          </p:nvSpPr>
          <p:spPr>
            <a:xfrm>
              <a:off x="4493990" y="2621280"/>
              <a:ext cx="3204020" cy="1341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6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谢谢！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19595" y="3674745"/>
            <a:ext cx="1152811" cy="792480"/>
            <a:chOff x="5519595" y="3674745"/>
            <a:chExt cx="1152811" cy="792480"/>
          </a:xfrm>
        </p:grpSpPr>
        <p:sp>
          <p:nvSpPr>
            <p:cNvPr id="11" name="TextBox 11"/>
            <p:cNvSpPr txBox="1"/>
            <p:nvPr/>
          </p:nvSpPr>
          <p:spPr>
            <a:xfrm>
              <a:off x="5519595" y="3674745"/>
              <a:ext cx="1152811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Q&amp;A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0119" y="4582478"/>
            <a:ext cx="2671762" cy="518160"/>
            <a:chOff x="4760119" y="4582478"/>
            <a:chExt cx="2671762" cy="518160"/>
          </a:xfrm>
        </p:grpSpPr>
        <p:sp>
          <p:nvSpPr>
            <p:cNvPr id="13" name="TextBox 13"/>
            <p:cNvSpPr txBox="1"/>
            <p:nvPr/>
          </p:nvSpPr>
          <p:spPr>
            <a:xfrm>
              <a:off x="4760119" y="4582478"/>
              <a:ext cx="267176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欢迎交流与探讨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53100" y="5372100"/>
            <a:ext cx="685800" cy="114300"/>
            <a:chOff x="5753100" y="5372100"/>
            <a:chExt cx="685800" cy="114300"/>
          </a:xfrm>
        </p:grpSpPr>
        <p:sp>
          <p:nvSpPr>
            <p:cNvPr id="15" name="Ellipse 15"/>
            <p:cNvSpPr/>
            <p:nvPr/>
          </p:nvSpPr>
          <p:spPr>
            <a:xfrm>
              <a:off x="5753100" y="5372100"/>
              <a:ext cx="114300" cy="1143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038850" y="5372100"/>
              <a:ext cx="114300" cy="1143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324600" y="5372100"/>
              <a:ext cx="114300" cy="1143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
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120"/>
              </a:gs>
              <a:gs pos="100000">
                <a:srgbClr val="1A233A"/>
              </a:gs>
            </a:gsLst>
            <a:lin ang="1761465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0" y="1476375"/>
            <a:ext cx="12192000" cy="3914775"/>
            <a:chOff x="0" y="1476375"/>
            <a:chExt cx="12192000" cy="3914775"/>
          </a:xfrm>
        </p:grpSpPr>
        <p:sp>
          <p:nvSpPr>
            <p:cNvPr id="3" name="Ellipse 3"/>
            <p:cNvSpPr/>
            <p:nvPr/>
          </p:nvSpPr>
          <p:spPr>
            <a:xfrm>
              <a:off x="1666875" y="1476375"/>
              <a:ext cx="95250" cy="95250"/>
            </a:xfrm>
            <a:prstGeom prst="ellipse">
              <a:avLst/>
            </a:prstGeom>
            <a:solidFill>
              <a:srgbClr val="38BDF8">
                <a:alpha val="5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220325" y="5076825"/>
              <a:ext cx="133350" cy="133350"/>
            </a:xfrm>
            <a:prstGeom prst="ellipse">
              <a:avLst/>
            </a:prstGeom>
            <a:solidFill>
              <a:srgbClr val="38BDF8">
                <a:alpha val="3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629900" y="1866900"/>
              <a:ext cx="76200" cy="76200"/>
            </a:xfrm>
            <a:prstGeom prst="ellipse">
              <a:avLst/>
            </a:prstGeom>
            <a:solidFill>
              <a:srgbClr val="38BDF8">
                <a:alpha val="4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466850" y="5276850"/>
              <a:ext cx="114300" cy="114300"/>
            </a:xfrm>
            <a:prstGeom prst="ellipse">
              <a:avLst/>
            </a:prstGeom>
            <a:solidFill>
              <a:srgbClr val="38BDF8">
                <a:alpha val="25000"/>
              </a:srgb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1714500" y="1524000"/>
              <a:ext cx="1333500" cy="476250"/>
            </a:xfrm>
            <a:custGeom>
              <a:avLst/>
              <a:gdLst/>
              <a:ahLst/>
              <a:cxnLst/>
              <a:rect l="l" t="t" r="r" b="b"/>
              <a:pathLst>
                <a:path w="1333500" h="476250">
                  <a:moveTo>
                    <a:pt x="0" y="0"/>
                  </a:moveTo>
                  <a:lnTo>
                    <a:pt x="1333500" y="476250"/>
                  </a:lnTo>
                </a:path>
              </a:pathLst>
            </a:custGeom>
            <a:noFill/>
            <a:ln w="14288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763000" y="4667250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1524000" y="476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144000" y="190500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52400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524000" y="4762500"/>
              <a:ext cx="1143000" cy="571500"/>
            </a:xfrm>
            <a:custGeom>
              <a:avLst/>
              <a:gdLst/>
              <a:ahLst/>
              <a:cxnLst/>
              <a:rect l="l" t="t" r="r" b="b"/>
              <a:pathLst>
                <a:path w="1143000" h="571500">
                  <a:moveTo>
                    <a:pt x="0" y="57150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38BDF8">
                  <a:alpha val="15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>
                <a:alpha val="50000"/>
              </a:srgbClr>
            </a:solidFill>
            <a:ln w="9525">
              <a:solidFill>
                <a:srgbClr val="1E293B">
                  <a:alpha val="50000"/>
                </a:srgb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614904" y="2177415"/>
            <a:ext cx="4962192" cy="1970723"/>
            <a:chOff x="3614904" y="2177415"/>
            <a:chExt cx="4962192" cy="1970723"/>
          </a:xfrm>
        </p:grpSpPr>
        <p:sp>
          <p:nvSpPr>
            <p:cNvPr id="13" name="TextBox 13"/>
            <p:cNvSpPr txBox="1"/>
            <p:nvPr/>
          </p:nvSpPr>
          <p:spPr>
            <a:xfrm>
              <a:off x="4083748" y="2177415"/>
              <a:ext cx="4024503" cy="1280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知识图谱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338137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38BDF8">
                      <a:alpha val="0"/>
                    </a:srgbClr>
                  </a:gs>
                  <a:gs pos="50000">
                    <a:srgbClr val="38BDF8"/>
                  </a:gs>
                  <a:gs pos="100000">
                    <a:srgbClr val="38BDF8">
                      <a:alpha val="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14904" y="3629978"/>
              <a:ext cx="496219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核心技术架构 · 应用落地场景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279755" y="4419600"/>
            <a:ext cx="1632490" cy="914400"/>
            <a:chOff x="5279755" y="4419600"/>
            <a:chExt cx="1632490" cy="914400"/>
          </a:xfrm>
        </p:grpSpPr>
        <p:sp>
          <p:nvSpPr>
            <p:cNvPr id="17" name="TextBox 17"/>
            <p:cNvSpPr txBox="1"/>
            <p:nvPr/>
          </p:nvSpPr>
          <p:spPr>
            <a:xfrm>
              <a:off x="5279755" y="4419600"/>
              <a:ext cx="163249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2025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6315075"/>
            <a:ext cx="11087099" cy="304800"/>
            <a:chOff x="552450" y="6315075"/>
            <a:chExt cx="11087099" cy="304800"/>
          </a:xfrm>
        </p:grpSpPr>
        <p:sp>
          <p:nvSpPr>
            <p:cNvPr id="19" name="TextBox 19"/>
            <p:cNvSpPr txBox="1"/>
            <p:nvPr/>
          </p:nvSpPr>
          <p:spPr>
            <a:xfrm>
              <a:off x="552450" y="6315075"/>
              <a:ext cx="7172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01 / 09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65092" y="6315075"/>
              <a:ext cx="137445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INTERNAL USE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906780" y="659130"/>
            <a:ext cx="1195578" cy="731520"/>
            <a:chOff x="906780" y="659130"/>
            <a:chExt cx="1195578" cy="731520"/>
          </a:xfrm>
        </p:grpSpPr>
        <p:sp>
          <p:nvSpPr>
            <p:cNvPr id="4" name="TextBox 4"/>
            <p:cNvSpPr txBox="1"/>
            <p:nvPr/>
          </p:nvSpPr>
          <p:spPr>
            <a:xfrm>
              <a:off x="906780" y="659130"/>
              <a:ext cx="11955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52500" y="1285875"/>
              <a:ext cx="762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047750" y="2000250"/>
            <a:ext cx="10191750" cy="4000500"/>
            <a:chOff x="1047750" y="2000250"/>
            <a:chExt cx="10191750" cy="4000500"/>
          </a:xfrm>
        </p:grpSpPr>
        <p:grpSp>
          <p:nvGrpSpPr>
            <p:cNvPr id="11" name="Group 11"/>
            <p:cNvGrpSpPr/>
            <p:nvPr/>
          </p:nvGrpSpPr>
          <p:grpSpPr>
            <a:xfrm>
              <a:off x="1047750" y="2000250"/>
              <a:ext cx="10191750" cy="676275"/>
              <a:chOff x="1047750" y="2000250"/>
              <a:chExt cx="10191750" cy="67627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047750" y="2000250"/>
                <a:ext cx="571500" cy="5715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16688" y="2200275"/>
                <a:ext cx="23362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563EB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78330" y="2135505"/>
                <a:ext cx="220027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什么是知识图谱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1333500" y="2667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9525">
                <a:solidFill>
                  <a:srgbClr val="F3F4F6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1047750" y="3143250"/>
              <a:ext cx="10191750" cy="676275"/>
              <a:chOff x="1047750" y="3143250"/>
              <a:chExt cx="10191750" cy="676275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047750" y="3143250"/>
                <a:ext cx="571500" cy="5715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187934" y="334327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563EB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78330" y="3278505"/>
                <a:ext cx="189357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核心技术架构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333500" y="3810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9525">
                <a:solidFill>
                  <a:srgbClr val="F3F4F6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1047750" y="4286250"/>
              <a:ext cx="10191750" cy="676275"/>
              <a:chOff x="1047750" y="4286250"/>
              <a:chExt cx="10191750" cy="676275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047750" y="4286250"/>
                <a:ext cx="571500" cy="5715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87934" y="448627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563EB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78330" y="4421505"/>
                <a:ext cx="189357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应用落地场景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1333500" y="4953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9525">
                <a:solidFill>
                  <a:srgbClr val="F3F4F6"/>
                </a:solidFill>
              </a:ln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047750" y="5429250"/>
              <a:ext cx="2417445" cy="571500"/>
              <a:chOff x="1047750" y="5429250"/>
              <a:chExt cx="2417445" cy="57150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1047750" y="5429250"/>
                <a:ext cx="571500" cy="571500"/>
              </a:xfrm>
              <a:prstGeom prst="ellipse">
                <a:avLst/>
              </a:prstGeom>
              <a:solidFill>
                <a:srgbClr val="EFF6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87934" y="562927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563EB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78330" y="5564505"/>
                <a:ext cx="158686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总结与展望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10829925" y="634746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048500" y="381000"/>
            <a:ext cx="6477000" cy="6477000"/>
          </a:xfrm>
          <a:prstGeom prst="ellipse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8286750" y="838200"/>
            <a:ext cx="3600450" cy="4400550"/>
            <a:chOff x="8286750" y="838200"/>
            <a:chExt cx="3600450" cy="4400550"/>
          </a:xfrm>
        </p:grpSpPr>
        <p:sp>
          <p:nvSpPr>
            <p:cNvPr id="4" name="Line 4"/>
            <p:cNvSpPr/>
            <p:nvPr/>
          </p:nvSpPr>
          <p:spPr>
            <a:xfrm>
              <a:off x="8382000" y="95250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0" y="57150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9715500" y="952500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0" y="0"/>
                  </a:moveTo>
                  <a:lnTo>
                    <a:pt x="1524000" y="76200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715500" y="952500"/>
              <a:ext cx="571500" cy="1524000"/>
            </a:xfrm>
            <a:custGeom>
              <a:avLst/>
              <a:gdLst/>
              <a:ahLst/>
              <a:cxnLst/>
              <a:rect l="l" t="t" r="r" b="b"/>
              <a:pathLst>
                <a:path w="571500" h="1524000">
                  <a:moveTo>
                    <a:pt x="0" y="0"/>
                  </a:moveTo>
                  <a:lnTo>
                    <a:pt x="571500" y="152400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287000" y="1714500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0" y="76200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287000" y="2476500"/>
              <a:ext cx="571500" cy="1143000"/>
            </a:xfrm>
            <a:custGeom>
              <a:avLst/>
              <a:gdLst/>
              <a:ahLst/>
              <a:cxnLst/>
              <a:rect l="l" t="t" r="r" b="b"/>
              <a:pathLst>
                <a:path w="571500" h="1143000">
                  <a:moveTo>
                    <a:pt x="0" y="0"/>
                  </a:moveTo>
                  <a:lnTo>
                    <a:pt x="571500" y="114300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858500" y="3048000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0" y="57150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858500" y="3619500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0" y="0"/>
                  </a:moveTo>
                  <a:lnTo>
                    <a:pt x="381000" y="114300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0" y="4381500"/>
              <a:ext cx="1333500" cy="381000"/>
            </a:xfrm>
            <a:custGeom>
              <a:avLst/>
              <a:gdLst/>
              <a:ahLst/>
              <a:cxnLst/>
              <a:rect l="l" t="t" r="r" b="b"/>
              <a:pathLst>
                <a:path w="1333500" h="381000">
                  <a:moveTo>
                    <a:pt x="1333500" y="381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382000" y="4381500"/>
              <a:ext cx="1524000" cy="762000"/>
            </a:xfrm>
            <a:custGeom>
              <a:avLst/>
              <a:gdLst/>
              <a:ahLst/>
              <a:cxnLst/>
              <a:rect l="l" t="t" r="r" b="b"/>
              <a:pathLst>
                <a:path w="1524000" h="762000">
                  <a:moveTo>
                    <a:pt x="152400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0" y="419100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95250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334500" y="4191000"/>
              <a:ext cx="571500" cy="190500"/>
            </a:xfrm>
            <a:custGeom>
              <a:avLst/>
              <a:gdLst/>
              <a:ahLst/>
              <a:cxnLst/>
              <a:rect l="l" t="t" r="r" b="b"/>
              <a:pathLst>
                <a:path w="571500" h="190500">
                  <a:moveTo>
                    <a:pt x="0" y="0"/>
                  </a:moveTo>
                  <a:lnTo>
                    <a:pt x="571500" y="190500"/>
                  </a:lnTo>
                </a:path>
              </a:pathLst>
            </a:custGeom>
            <a:noFill/>
            <a:ln w="19050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305800" y="1447800"/>
              <a:ext cx="152400" cy="152400"/>
            </a:xfrm>
            <a:prstGeom prst="ellipse">
              <a:avLst/>
            </a:prstGeom>
            <a:solidFill>
              <a:srgbClr val="60A5FA">
                <a:alpha val="2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601200" y="838200"/>
              <a:ext cx="228600" cy="2286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163300" y="1638300"/>
              <a:ext cx="152400" cy="152400"/>
            </a:xfrm>
            <a:prstGeom prst="ellipse">
              <a:avLst/>
            </a:prstGeom>
            <a:solidFill>
              <a:srgbClr val="60A5FA">
                <a:alpha val="2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191750" y="2381250"/>
              <a:ext cx="190500" cy="190500"/>
            </a:xfrm>
            <a:prstGeom prst="ellipse">
              <a:avLst/>
            </a:prstGeom>
            <a:solidFill>
              <a:srgbClr val="2563EB">
                <a:alpha val="2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744200" y="3505200"/>
              <a:ext cx="228600" cy="2286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1734800" y="2971800"/>
              <a:ext cx="152400" cy="152400"/>
            </a:xfrm>
            <a:prstGeom prst="ellipse">
              <a:avLst/>
            </a:prstGeom>
            <a:solidFill>
              <a:srgbClr val="60A5FA">
                <a:alpha val="20000"/>
              </a:srgbClr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1144250" y="4667250"/>
              <a:ext cx="190500" cy="190500"/>
            </a:xfrm>
            <a:prstGeom prst="ellipse">
              <a:avLst/>
            </a:prstGeom>
            <a:solidFill>
              <a:srgbClr val="2563EB">
                <a:alpha val="20000"/>
              </a:srgb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829800" y="4305300"/>
              <a:ext cx="152400" cy="152400"/>
            </a:xfrm>
            <a:prstGeom prst="ellipse">
              <a:avLst/>
            </a:prstGeom>
            <a:solidFill>
              <a:srgbClr val="60A5FA">
                <a:alpha val="20000"/>
              </a:srgb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286750" y="5048250"/>
              <a:ext cx="190500" cy="190500"/>
            </a:xfrm>
            <a:prstGeom prst="ellipse">
              <a:avLst/>
            </a:prstGeom>
            <a:solidFill>
              <a:srgbClr val="3B82F6">
                <a:alpha val="20000"/>
              </a:srgbClr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258300" y="4114800"/>
              <a:ext cx="152400" cy="152400"/>
            </a:xfrm>
            <a:prstGeom prst="ellipse">
              <a:avLst/>
            </a:prstGeom>
            <a:solidFill>
              <a:srgbClr val="60A5FA">
                <a:alpha val="200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712470" y="674370"/>
            <a:ext cx="4285583" cy="792480"/>
            <a:chOff x="712470" y="674370"/>
            <a:chExt cx="4285583" cy="792480"/>
          </a:xfrm>
        </p:grpSpPr>
        <p:sp>
          <p:nvSpPr>
            <p:cNvPr id="26" name="TextBox 26"/>
            <p:cNvSpPr txBox="1"/>
            <p:nvPr/>
          </p:nvSpPr>
          <p:spPr>
            <a:xfrm>
              <a:off x="712470" y="674370"/>
              <a:ext cx="428558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什么是知识图谱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62000" y="1333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57150" cap="rnd">
              <a:solidFill>
                <a:srgbClr val="2563EB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90550" y="1924050"/>
            <a:ext cx="5149215" cy="3519488"/>
            <a:chOff x="590550" y="1924050"/>
            <a:chExt cx="5149215" cy="3519488"/>
          </a:xfrm>
        </p:grpSpPr>
        <p:grpSp>
          <p:nvGrpSpPr>
            <p:cNvPr id="33" name="Group 33"/>
            <p:cNvGrpSpPr/>
            <p:nvPr/>
          </p:nvGrpSpPr>
          <p:grpSpPr>
            <a:xfrm>
              <a:off x="590550" y="1924050"/>
              <a:ext cx="5149215" cy="852488"/>
              <a:chOff x="590550" y="1924050"/>
              <a:chExt cx="5149215" cy="852488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590550" y="1924050"/>
                <a:ext cx="533400" cy="533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92985" y="2082165"/>
                <a:ext cx="1285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352550" y="1995488"/>
                <a:ext cx="747236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定义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360170" y="2441258"/>
                <a:ext cx="437959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用图结构描述实体及其语义关系的知识库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90550" y="3257550"/>
              <a:ext cx="3727418" cy="852488"/>
              <a:chOff x="590550" y="3257550"/>
              <a:chExt cx="3727418" cy="852488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590550" y="3257550"/>
                <a:ext cx="533400" cy="5334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58481" y="3415665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52550" y="3328988"/>
                <a:ext cx="143732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基本单元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360170" y="3774758"/>
                <a:ext cx="295779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&lt;实体, 关系, 实体&gt; 三元组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90550" y="4591050"/>
              <a:ext cx="4667250" cy="852488"/>
              <a:chOff x="590550" y="4591050"/>
              <a:chExt cx="4667250" cy="852488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590550" y="4591050"/>
                <a:ext cx="533400" cy="5334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58481" y="4749165"/>
                <a:ext cx="19753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352550" y="4662488"/>
                <a:ext cx="747236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本质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360170" y="5108258"/>
                <a:ext cx="389763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将碎片化信息组织成结构化知识网络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762000" y="6286500"/>
            <a:ext cx="10668000" cy="461962"/>
            <a:chOff x="762000" y="6286500"/>
            <a:chExt cx="10668000" cy="461962"/>
          </a:xfrm>
        </p:grpSpPr>
        <p:sp>
          <p:nvSpPr>
            <p:cNvPr id="45" name="Line 45"/>
            <p:cNvSpPr/>
            <p:nvPr/>
          </p:nvSpPr>
          <p:spPr>
            <a:xfrm>
              <a:off x="762000" y="6286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778728" y="6474142"/>
              <a:ext cx="4779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3 / 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1500" y="454342"/>
            <a:ext cx="11049000" cy="650558"/>
            <a:chOff x="571500" y="454342"/>
            <a:chExt cx="11049000" cy="650558"/>
          </a:xfrm>
        </p:grpSpPr>
        <p:sp>
          <p:nvSpPr>
            <p:cNvPr id="3" name="TextBox 3"/>
            <p:cNvSpPr txBox="1"/>
            <p:nvPr/>
          </p:nvSpPr>
          <p:spPr>
            <a:xfrm>
              <a:off x="4748641" y="454342"/>
              <a:ext cx="269471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核心技术架构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095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71500" y="1905000"/>
            <a:ext cx="11049000" cy="2095500"/>
            <a:chOff x="571500" y="1905000"/>
            <a:chExt cx="11049000" cy="2095500"/>
          </a:xfrm>
        </p:grpSpPr>
        <p:grpSp>
          <p:nvGrpSpPr>
            <p:cNvPr id="13" name="Group 13"/>
            <p:cNvGrpSpPr/>
            <p:nvPr/>
          </p:nvGrpSpPr>
          <p:grpSpPr>
            <a:xfrm>
              <a:off x="571500" y="1905000"/>
              <a:ext cx="1905000" cy="2095500"/>
              <a:chOff x="571500" y="1905000"/>
              <a:chExt cx="1905000" cy="2095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905000"/>
                <a:ext cx="1905000" cy="20955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314450" y="207645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475801" y="2216468"/>
                <a:ext cx="963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64669" y="25931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知识抽取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85374" y="2903220"/>
                <a:ext cx="8772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NER实体识别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93816" y="314134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关系抽取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93816" y="3379470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属性抽取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857500" y="1905000"/>
              <a:ext cx="1905000" cy="2095500"/>
              <a:chOff x="2857500" y="1905000"/>
              <a:chExt cx="1905000" cy="2095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857500" y="1905000"/>
                <a:ext cx="1905000" cy="20955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600450" y="207645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735923" y="22164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450669" y="25931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知识融合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79816" y="2903220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实体对齐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79816" y="314134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共指消解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479816" y="3379470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冲突消解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072444" y="1905000"/>
              <a:ext cx="2047113" cy="2095500"/>
              <a:chOff x="5072444" y="1905000"/>
              <a:chExt cx="2047113" cy="2095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143500" y="1905000"/>
                <a:ext cx="1905000" cy="20955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886450" y="207645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021923" y="22164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736669" y="25931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知识存储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072444" y="2903220"/>
                <a:ext cx="20471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图数据库 (Neo4j / JanusGraph)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765816" y="314134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图谱建模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765816" y="3379470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索引优化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429500" y="1905000"/>
              <a:ext cx="1905000" cy="2095500"/>
              <a:chOff x="7429500" y="1905000"/>
              <a:chExt cx="1905000" cy="2095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429500" y="1905000"/>
                <a:ext cx="1905000" cy="20955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8172450" y="207645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307923" y="22164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022669" y="25931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知识推理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051816" y="2903220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规则推理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986093" y="3141345"/>
                <a:ext cx="7918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图神经网络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051816" y="3379470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链接预测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715500" y="1905000"/>
              <a:ext cx="1905000" cy="2095500"/>
              <a:chOff x="9715500" y="1905000"/>
              <a:chExt cx="1905000" cy="2095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715500" y="1905000"/>
                <a:ext cx="1905000" cy="20955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10458450" y="2076450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0593923" y="2216468"/>
                <a:ext cx="14815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308669" y="2593181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知识更新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337816" y="2903220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增量学习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337816" y="314134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动态维护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337816" y="3379470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版本控制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2476500" y="2914650"/>
              <a:ext cx="7286625" cy="76200"/>
              <a:chOff x="2476500" y="2914650"/>
              <a:chExt cx="7286625" cy="76200"/>
            </a:xfrm>
          </p:grpSpPr>
          <p:sp>
            <p:nvSpPr>
              <p:cNvPr id="46" name="Line 46"/>
              <p:cNvSpPr/>
              <p:nvPr/>
            </p:nvSpPr>
            <p:spPr>
              <a:xfrm>
                <a:off x="2476500" y="29527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47" name="Polygon 47"/>
              <p:cNvSpPr/>
              <p:nvPr/>
            </p:nvSpPr>
            <p:spPr>
              <a:xfrm>
                <a:off x="2809875" y="291465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4762500" y="29527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49" name="Polygon 49"/>
              <p:cNvSpPr/>
              <p:nvPr/>
            </p:nvSpPr>
            <p:spPr>
              <a:xfrm>
                <a:off x="5095875" y="291465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7048500" y="29527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1" name="Polygon 51"/>
              <p:cNvSpPr/>
              <p:nvPr/>
            </p:nvSpPr>
            <p:spPr>
              <a:xfrm>
                <a:off x="7381875" y="291465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9334500" y="29527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53" name="Polygon 53"/>
              <p:cNvSpPr/>
              <p:nvPr/>
            </p:nvSpPr>
            <p:spPr>
              <a:xfrm>
                <a:off x="9667875" y="291465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94A3B8"/>
              </a:solidFill>
              <a:ln>
                <a:noFill/>
              </a:ln>
            </p:spPr>
          </p:sp>
        </p:grpSp>
      </p:grpSp>
      <p:sp>
        <p:nvSpPr>
          <p:cNvPr id="56" name="TextBox 56"/>
          <p:cNvSpPr txBox="1"/>
          <p:nvPr/>
        </p:nvSpPr>
        <p:spPr>
          <a:xfrm>
            <a:off x="11262122" y="6458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4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311586" y="549592"/>
            <a:ext cx="356882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0F172A"/>
                </a:solidFill>
                <a:latin typeface="Segoe UI"/>
                <a:ea typeface="Microsoft YaHei"/>
                <a:cs typeface="Segoe UI"/>
              </a:rPr>
              <a:t>关键技术深度解析</a:t>
            </a:r>
          </a:p>
        </p:txBody>
      </p:sp>
      <p:sp>
        <p:nvSpPr>
          <p:cNvPr id="4" name="Line 4"/>
          <p:cNvSpPr/>
          <p:nvPr/>
        </p:nvSpPr>
        <p:spPr>
          <a:xfrm>
            <a:off x="4572000" y="1095375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38100" cap="rnd">
            <a:solidFill>
              <a:srgbClr val="3B82F6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666750" y="1428750"/>
            <a:ext cx="6017656" cy="2476500"/>
            <a:chOff x="666750" y="1428750"/>
            <a:chExt cx="6017656" cy="2476500"/>
          </a:xfrm>
        </p:grpSpPr>
        <p:sp>
          <p:nvSpPr>
            <p:cNvPr id="5" name="Rectangle 5"/>
            <p:cNvSpPr/>
            <p:nvPr/>
          </p:nvSpPr>
          <p:spPr>
            <a:xfrm>
              <a:off x="666750" y="142875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38200" y="1600200"/>
              <a:ext cx="419100" cy="4191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99551" y="172116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07795" y="167925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知识表示学习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4462" y="2116931"/>
              <a:ext cx="5269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TransE / RotatE / 图嵌入算法，实现高维语义到低维向量的精准映射。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3657600" y="1466850"/>
              <a:ext cx="876300" cy="590550"/>
              <a:chOff x="3657600" y="1466850"/>
              <a:chExt cx="876300" cy="59055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924300" y="1638300"/>
                <a:ext cx="152400" cy="1524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4324350" y="1466850"/>
                <a:ext cx="114300" cy="1143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419600" y="1943100"/>
                <a:ext cx="114300" cy="1143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3657600" y="1847850"/>
                <a:ext cx="114300" cy="114300"/>
              </a:xfrm>
              <a:prstGeom prst="ellipse">
                <a:avLst/>
              </a:prstGeom>
              <a:solidFill>
                <a:srgbClr val="60A5FA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4000500" y="152400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0" y="19050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93C5FD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4000500" y="1714500"/>
                <a:ext cx="476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85750">
                    <a:moveTo>
                      <a:pt x="0" y="0"/>
                    </a:moveTo>
                    <a:lnTo>
                      <a:pt x="476250" y="285750"/>
                    </a:lnTo>
                  </a:path>
                </a:pathLst>
              </a:custGeom>
              <a:noFill/>
              <a:ln w="19050">
                <a:solidFill>
                  <a:srgbClr val="93C5FD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714750" y="171450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28575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93C5FD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4381500" y="1524000"/>
                <a:ext cx="95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0">
                    <a:moveTo>
                      <a:pt x="0" y="0"/>
                    </a:moveTo>
                    <a:lnTo>
                      <a:pt x="95250" y="476250"/>
                    </a:lnTo>
                  </a:path>
                </a:pathLst>
              </a:custGeom>
              <a:noFill/>
              <a:ln w="14288">
                <a:solidFill>
                  <a:srgbClr val="93C5FD"/>
                </a:solidFill>
                <a:custDash>
                  <a:ds d="266666" sp="133333"/>
                </a:custDash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3714750" y="1905000"/>
                <a:ext cx="762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0">
                    <a:moveTo>
                      <a:pt x="0" y="0"/>
                    </a:moveTo>
                    <a:lnTo>
                      <a:pt x="762000" y="95250"/>
                    </a:lnTo>
                  </a:path>
                </a:pathLst>
              </a:custGeom>
              <a:noFill/>
              <a:ln w="14288">
                <a:solidFill>
                  <a:srgbClr val="93C5FD"/>
                </a:solidFill>
                <a:custDash>
                  <a:ds d="266666" sp="133333"/>
                </a:custDash>
              </a:ln>
            </p:spPr>
          </p:sp>
        </p:grpSp>
      </p:grpSp>
      <p:grpSp>
        <p:nvGrpSpPr>
          <p:cNvPr id="39" name="Group 39"/>
          <p:cNvGrpSpPr/>
          <p:nvPr/>
        </p:nvGrpSpPr>
        <p:grpSpPr>
          <a:xfrm>
            <a:off x="6191250" y="1428750"/>
            <a:ext cx="5334000" cy="2476500"/>
            <a:chOff x="6191250" y="1428750"/>
            <a:chExt cx="5334000" cy="2476500"/>
          </a:xfrm>
        </p:grpSpPr>
        <p:sp>
          <p:nvSpPr>
            <p:cNvPr id="21" name="Rectangle 21"/>
            <p:cNvSpPr/>
            <p:nvPr/>
          </p:nvSpPr>
          <p:spPr>
            <a:xfrm>
              <a:off x="6191250" y="142875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362700" y="1600200"/>
              <a:ext cx="419100" cy="4191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98173" y="17211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32295" y="167925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图神经网络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38962" y="2116931"/>
              <a:ext cx="4399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GCN、GAT 在图结构上的应用，通过消息传递捕获拓扑特征。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9477375" y="1666875"/>
              <a:ext cx="476250" cy="695325"/>
              <a:chOff x="9477375" y="1666875"/>
              <a:chExt cx="476250" cy="695325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9477375" y="1666875"/>
                <a:ext cx="95250" cy="95250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9667875" y="1666875"/>
                <a:ext cx="95250" cy="95250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9858375" y="1666875"/>
                <a:ext cx="95250" cy="95250"/>
              </a:xfrm>
              <a:prstGeom prst="ellipse">
                <a:avLst/>
              </a:pr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9563100" y="1943100"/>
                <a:ext cx="114300" cy="114300"/>
              </a:xfrm>
              <a:prstGeom prst="ellipse">
                <a:avLst/>
              </a:prstGeom>
              <a:solidFill>
                <a:srgbClr val="A78BFA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9753600" y="1943100"/>
                <a:ext cx="114300" cy="114300"/>
              </a:xfrm>
              <a:prstGeom prst="ellipse">
                <a:avLst/>
              </a:prstGeom>
              <a:solidFill>
                <a:srgbClr val="A78BF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9639300" y="2209800"/>
                <a:ext cx="152400" cy="152400"/>
              </a:xfrm>
              <a:prstGeom prst="ellipse">
                <a:avLst/>
              </a:prstGeom>
              <a:solidFill>
                <a:srgbClr val="C4B5FD"/>
              </a:solidFill>
              <a:ln>
                <a:noFill/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9525000" y="1714500"/>
                <a:ext cx="95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0">
                    <a:moveTo>
                      <a:pt x="0" y="0"/>
                    </a:moveTo>
                    <a:lnTo>
                      <a:pt x="95250" y="285750"/>
                    </a:lnTo>
                  </a:path>
                </a:pathLst>
              </a:custGeom>
              <a:noFill/>
              <a:ln w="14288">
                <a:solidFill>
                  <a:srgbClr val="DDD6FE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9620250" y="1714500"/>
                <a:ext cx="95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0">
                    <a:moveTo>
                      <a:pt x="952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4288">
                <a:solidFill>
                  <a:srgbClr val="DDD6FE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9715500" y="1714500"/>
                <a:ext cx="95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0">
                    <a:moveTo>
                      <a:pt x="0" y="0"/>
                    </a:moveTo>
                    <a:lnTo>
                      <a:pt x="95250" y="285750"/>
                    </a:lnTo>
                  </a:path>
                </a:pathLst>
              </a:custGeom>
              <a:noFill/>
              <a:ln w="14288">
                <a:solidFill>
                  <a:srgbClr val="DDD6FE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9810750" y="1714500"/>
                <a:ext cx="95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0">
                    <a:moveTo>
                      <a:pt x="952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4288">
                <a:solidFill>
                  <a:srgbClr val="DDD6FE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9620250" y="2000250"/>
                <a:ext cx="95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0">
                    <a:moveTo>
                      <a:pt x="0" y="0"/>
                    </a:moveTo>
                    <a:lnTo>
                      <a:pt x="95250" y="285750"/>
                    </a:lnTo>
                  </a:path>
                </a:pathLst>
              </a:custGeom>
              <a:noFill/>
              <a:ln w="14288">
                <a:solidFill>
                  <a:srgbClr val="DDD6FE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9715500" y="2000250"/>
                <a:ext cx="95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85750">
                    <a:moveTo>
                      <a:pt x="95250" y="0"/>
                    </a:moveTo>
                    <a:lnTo>
                      <a:pt x="0" y="285750"/>
                    </a:lnTo>
                  </a:path>
                </a:pathLst>
              </a:custGeom>
              <a:noFill/>
              <a:ln w="14288">
                <a:solidFill>
                  <a:srgbClr val="DDD6FE"/>
                </a:solidFill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666750" y="4095750"/>
            <a:ext cx="5334000" cy="2476500"/>
            <a:chOff x="666750" y="4095750"/>
            <a:chExt cx="5334000" cy="2476500"/>
          </a:xfrm>
        </p:grpSpPr>
        <p:sp>
          <p:nvSpPr>
            <p:cNvPr id="40" name="Rectangle 40"/>
            <p:cNvSpPr/>
            <p:nvPr/>
          </p:nvSpPr>
          <p:spPr>
            <a:xfrm>
              <a:off x="666750" y="409575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38200" y="4267200"/>
              <a:ext cx="419100" cy="4191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3673" y="43881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07795" y="434625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知识图谱补全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14462" y="4783931"/>
              <a:ext cx="4136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链接预测与缺失关系补全，基于评分函数推理潜在关联。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3743325" y="4124325"/>
              <a:ext cx="895350" cy="704850"/>
              <a:chOff x="3743325" y="4124325"/>
              <a:chExt cx="895350" cy="704850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3933825" y="4314825"/>
                <a:ext cx="133350" cy="13335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4410075" y="4124325"/>
                <a:ext cx="133350" cy="13335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4505325" y="4600575"/>
                <a:ext cx="133350" cy="13335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3743325" y="4695825"/>
                <a:ext cx="133350" cy="13335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4000500" y="4191000"/>
                <a:ext cx="476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190500">
                    <a:moveTo>
                      <a:pt x="0" y="19050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solidFill>
                  <a:srgbClr val="6EE7B7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3810000" y="4381500"/>
                <a:ext cx="190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381000">
                    <a:moveTo>
                      <a:pt x="19050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6EE7B7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4476750" y="4191000"/>
                <a:ext cx="952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0">
                    <a:moveTo>
                      <a:pt x="0" y="0"/>
                    </a:moveTo>
                    <a:lnTo>
                      <a:pt x="95250" y="476250"/>
                    </a:lnTo>
                  </a:path>
                </a:pathLst>
              </a:custGeom>
              <a:noFill/>
              <a:ln w="19050">
                <a:solidFill>
                  <a:srgbClr val="6EE7B7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3810000" y="4667250"/>
                <a:ext cx="762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0">
                    <a:moveTo>
                      <a:pt x="0" y="95250"/>
                    </a:moveTo>
                    <a:lnTo>
                      <a:pt x="762000" y="0"/>
                    </a:lnTo>
                  </a:path>
                </a:pathLst>
              </a:custGeom>
              <a:noFill/>
              <a:ln w="23812">
                <a:solidFill>
                  <a:srgbClr val="10B981"/>
                </a:solidFill>
                <a:custDash>
                  <a:ds d="240000" sp="160000"/>
                </a:custDash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4162425" y="4686300"/>
                <a:ext cx="57150" cy="5715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</p:grpSp>
      </p:grpSp>
      <p:grpSp>
        <p:nvGrpSpPr>
          <p:cNvPr id="71" name="Group 71"/>
          <p:cNvGrpSpPr/>
          <p:nvPr/>
        </p:nvGrpSpPr>
        <p:grpSpPr>
          <a:xfrm>
            <a:off x="6191250" y="4095750"/>
            <a:ext cx="5334000" cy="2476500"/>
            <a:chOff x="6191250" y="4095750"/>
            <a:chExt cx="5334000" cy="2476500"/>
          </a:xfrm>
        </p:grpSpPr>
        <p:sp>
          <p:nvSpPr>
            <p:cNvPr id="56" name="Rectangle 56"/>
            <p:cNvSpPr/>
            <p:nvPr/>
          </p:nvSpPr>
          <p:spPr>
            <a:xfrm>
              <a:off x="6191250" y="409575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6362700" y="4267200"/>
              <a:ext cx="419100" cy="4191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98173" y="438816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32295" y="434625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大模型融合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38962" y="4783931"/>
              <a:ext cx="3980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RAG + KG 增强生成式AI的准确性，引入外部事实约束。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9525000" y="4381500"/>
              <a:ext cx="1123950" cy="381000"/>
              <a:chOff x="9525000" y="4381500"/>
              <a:chExt cx="1123950" cy="38100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525000" y="4381500"/>
                <a:ext cx="285750" cy="381000"/>
              </a:xfrm>
              <a:prstGeom prst="roundRect">
                <a:avLst>
                  <a:gd name="adj" fmla="val 13333"/>
                </a:avLst>
              </a:prstGeom>
              <a:solidFill>
                <a:srgbClr val="FDE68A"/>
              </a:solidFill>
              <a:ln w="19050">
                <a:solidFill>
                  <a:srgbClr val="F59E0B"/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9572625" y="44767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9572625" y="45720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9572625" y="46672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858375" y="4572000"/>
                <a:ext cx="428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9525">
                    <a:moveTo>
                      <a:pt x="0" y="0"/>
                    </a:moveTo>
                    <a:cubicBezTo>
                      <a:pt x="158750" y="0"/>
                      <a:pt x="301625" y="0"/>
                      <a:pt x="428625" y="0"/>
                    </a:cubicBezTo>
                  </a:path>
                </a:pathLst>
              </a:custGeom>
              <a:noFill/>
              <a:ln w="23812">
                <a:solidFill>
                  <a:srgbClr val="FBBF24"/>
                </a:solidFill>
              </a:ln>
            </p:spPr>
          </p:sp>
          <p:sp>
            <p:nvSpPr>
              <p:cNvPr id="66" name="Polygon 66"/>
              <p:cNvSpPr/>
              <p:nvPr/>
            </p:nvSpPr>
            <p:spPr>
              <a:xfrm>
                <a:off x="10239375" y="453390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BBF24"/>
              </a:solidFill>
              <a:ln>
                <a:noFill/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10306050" y="4400550"/>
                <a:ext cx="342900" cy="342900"/>
              </a:xfrm>
              <a:prstGeom prst="ellipse">
                <a:avLst/>
              </a:prstGeom>
              <a:solidFill>
                <a:srgbClr val="FEF3C7"/>
              </a:solidFill>
              <a:ln w="19050">
                <a:solidFill>
                  <a:srgbClr val="F59E0B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0401300" y="4524375"/>
                <a:ext cx="152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0">
                    <a:moveTo>
                      <a:pt x="0" y="0"/>
                    </a:moveTo>
                    <a:lnTo>
                      <a:pt x="152400" y="0"/>
                    </a:lnTo>
                    <a:moveTo>
                      <a:pt x="0" y="47625"/>
                    </a:moveTo>
                    <a:lnTo>
                      <a:pt x="152400" y="47625"/>
                    </a:lnTo>
                    <a:moveTo>
                      <a:pt x="0" y="95250"/>
                    </a:moveTo>
                    <a:lnTo>
                      <a:pt x="152400" y="9525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F59E0B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10439400" y="4533900"/>
                <a:ext cx="76200" cy="762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</p:grpSp>
      </p:grpSp>
      <p:sp>
        <p:nvSpPr>
          <p:cNvPr id="72" name="TextBox 72"/>
          <p:cNvSpPr txBox="1"/>
          <p:nvPr/>
        </p:nvSpPr>
        <p:spPr>
          <a:xfrm>
            <a:off x="5710785" y="6554152"/>
            <a:ext cx="7704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第 5 / 9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9" grpId="0"/>
      <p:bldP spid="55" grpId="0"/>
      <p:bldP spid="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275582" y="406718"/>
            <a:ext cx="3640836" cy="945832"/>
            <a:chOff x="4275582" y="406718"/>
            <a:chExt cx="3640836" cy="945832"/>
          </a:xfrm>
        </p:grpSpPr>
        <p:sp>
          <p:nvSpPr>
            <p:cNvPr id="4" name="TextBox 4"/>
            <p:cNvSpPr txBox="1"/>
            <p:nvPr/>
          </p:nvSpPr>
          <p:spPr>
            <a:xfrm>
              <a:off x="4311586" y="406718"/>
              <a:ext cx="3568827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应用落地场景总览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953000" y="952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28575" cap="rnd">
              <a:solidFill>
                <a:srgbClr val="2563EB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275582" y="1108710"/>
              <a:ext cx="36408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Knowledge Graph Implementation Scenarios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2476500" y="1524000"/>
            <a:ext cx="7620000" cy="5143500"/>
            <a:chOff x="2476500" y="1524000"/>
            <a:chExt cx="7620000" cy="5143500"/>
          </a:xfrm>
        </p:grpSpPr>
        <p:grpSp>
          <p:nvGrpSpPr>
            <p:cNvPr id="15" name="Group 15"/>
            <p:cNvGrpSpPr/>
            <p:nvPr/>
          </p:nvGrpSpPr>
          <p:grpSpPr>
            <a:xfrm>
              <a:off x="2476500" y="1524000"/>
              <a:ext cx="3619500" cy="1524000"/>
              <a:chOff x="2476500" y="1524000"/>
              <a:chExt cx="3619500" cy="1524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2476500" y="1524000"/>
                <a:ext cx="36195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2609850" y="1657350"/>
                <a:ext cx="495300" cy="4953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754416" y="177069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🔍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267075" y="169545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智能搜索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3286125" y="1952625"/>
                <a:ext cx="714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9525">
                    <a:moveTo>
                      <a:pt x="0" y="0"/>
                    </a:moveTo>
                    <a:lnTo>
                      <a:pt x="714375" y="0"/>
                    </a:lnTo>
                  </a:path>
                </a:pathLst>
              </a:custGeom>
              <a:noFill/>
              <a:ln w="19050" cap="rnd">
                <a:solidFill>
                  <a:srgbClr val="3B82F6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271838" y="2116931"/>
                <a:ext cx="27807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语义理解与实体卡片（如 Google KG）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2476500" y="2952750"/>
                <a:ext cx="3619500" cy="1905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6477000" y="1524000"/>
              <a:ext cx="3619500" cy="1524000"/>
              <a:chOff x="6477000" y="1524000"/>
              <a:chExt cx="3619500" cy="1524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477000" y="1524000"/>
                <a:ext cx="36195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6610350" y="1657350"/>
                <a:ext cx="495300" cy="4953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754916" y="177069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💬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267575" y="169545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智能问答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7286625" y="1952625"/>
                <a:ext cx="714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9525">
                    <a:moveTo>
                      <a:pt x="0" y="0"/>
                    </a:moveTo>
                    <a:lnTo>
                      <a:pt x="714375" y="0"/>
                    </a:lnTo>
                  </a:path>
                </a:pathLst>
              </a:custGeom>
              <a:noFill/>
              <a:ln w="19050" cap="rnd">
                <a:solidFill>
                  <a:srgbClr val="3B82F6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272338" y="2116931"/>
                <a:ext cx="129373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KBQA 与对话系统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6477000" y="2952750"/>
                <a:ext cx="3619500" cy="1905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2476500" y="3333750"/>
              <a:ext cx="3619500" cy="1524000"/>
              <a:chOff x="2476500" y="3333750"/>
              <a:chExt cx="3619500" cy="1524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476500" y="3333750"/>
                <a:ext cx="36195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2609850" y="3467100"/>
                <a:ext cx="495300" cy="4953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754416" y="358044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267075" y="350520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推荐系统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3286125" y="3762375"/>
                <a:ext cx="714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9525">
                    <a:moveTo>
                      <a:pt x="0" y="0"/>
                    </a:moveTo>
                    <a:lnTo>
                      <a:pt x="714375" y="0"/>
                    </a:lnTo>
                  </a:path>
                </a:pathLst>
              </a:custGeom>
              <a:noFill/>
              <a:ln w="19050" cap="rnd">
                <a:solidFill>
                  <a:srgbClr val="3B82F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271838" y="3926681"/>
                <a:ext cx="21645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增强推荐的可解释性与精准度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2476500" y="4762500"/>
                <a:ext cx="3619500" cy="1905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6477000" y="3333750"/>
              <a:ext cx="3619500" cy="1524000"/>
              <a:chOff x="6477000" y="3333750"/>
              <a:chExt cx="3619500" cy="1524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477000" y="3333750"/>
                <a:ext cx="36195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6610350" y="3467100"/>
                <a:ext cx="495300" cy="4953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754916" y="358044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🛡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267575" y="350520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风险控制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7286625" y="3762375"/>
                <a:ext cx="714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9525">
                    <a:moveTo>
                      <a:pt x="0" y="0"/>
                    </a:moveTo>
                    <a:lnTo>
                      <a:pt x="714375" y="0"/>
                    </a:lnTo>
                  </a:path>
                </a:pathLst>
              </a:custGeom>
              <a:noFill/>
              <a:ln w="19050" cap="rnd">
                <a:solidFill>
                  <a:srgbClr val="3B82F6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272338" y="3926681"/>
                <a:ext cx="16716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关联挖掘与反欺诈检测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477000" y="4762500"/>
                <a:ext cx="3619500" cy="1905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4286250" y="5143500"/>
              <a:ext cx="3619500" cy="1524000"/>
              <a:chOff x="4286250" y="5143500"/>
              <a:chExt cx="3619500" cy="1524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4286250" y="5143500"/>
                <a:ext cx="3619500" cy="1524000"/>
              </a:xfrm>
              <a:prstGeom prst="roundRect">
                <a:avLst>
                  <a:gd name="adj" fmla="val 7500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419600" y="5276850"/>
                <a:ext cx="495300" cy="4953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564166" y="5390198"/>
                <a:ext cx="2061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>
                    <a:solidFill>
                      <a:srgbClr val="000000"/>
                    </a:solidFill>
                    <a:latin typeface="Segoe UI"/>
                    <a:ea typeface="Microsoft YaHei"/>
                    <a:cs typeface="Segoe UI"/>
                  </a:rPr>
                  <a:t>🏥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76825" y="5314950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行业应用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5095875" y="5572125"/>
                <a:ext cx="714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75" h="9525">
                    <a:moveTo>
                      <a:pt x="0" y="0"/>
                    </a:moveTo>
                    <a:lnTo>
                      <a:pt x="714375" y="0"/>
                    </a:lnTo>
                  </a:path>
                </a:pathLst>
              </a:custGeom>
              <a:noFill/>
              <a:ln w="19050" cap="rnd">
                <a:solidFill>
                  <a:srgbClr val="3B82F6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081588" y="5736431"/>
                <a:ext cx="18523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医疗/金融/法律知识图谱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4286250" y="6477000"/>
                <a:ext cx="3619500" cy="1905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</p:sp>
        </p:grpSp>
      </p:grpSp>
      <p:grpSp>
        <p:nvGrpSpPr>
          <p:cNvPr id="51" name="Group 51"/>
          <p:cNvGrpSpPr/>
          <p:nvPr/>
        </p:nvGrpSpPr>
        <p:grpSpPr>
          <a:xfrm>
            <a:off x="952500" y="6458902"/>
            <a:ext cx="10871835" cy="213360"/>
            <a:chOff x="952500" y="6458902"/>
            <a:chExt cx="10871835" cy="213360"/>
          </a:xfrm>
        </p:grpSpPr>
        <p:sp>
          <p:nvSpPr>
            <p:cNvPr id="49" name="TextBox 49"/>
            <p:cNvSpPr txBox="1"/>
            <p:nvPr/>
          </p:nvSpPr>
          <p:spPr>
            <a:xfrm>
              <a:off x="11452622" y="6458902"/>
              <a:ext cx="3717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6 / 9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52500" y="65722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3900" y="485775"/>
            <a:ext cx="3756660" cy="609600"/>
            <a:chOff x="723900" y="485775"/>
            <a:chExt cx="3756660" cy="609600"/>
          </a:xfrm>
        </p:grpSpPr>
        <p:sp>
          <p:nvSpPr>
            <p:cNvPr id="3" name="TextBox 3"/>
            <p:cNvSpPr txBox="1"/>
            <p:nvPr/>
          </p:nvSpPr>
          <p:spPr>
            <a:xfrm>
              <a:off x="723900" y="485775"/>
              <a:ext cx="375666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典型应用案例解析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28700"/>
              <a:ext cx="6096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333500"/>
            <a:ext cx="5307330" cy="2095500"/>
            <a:chOff x="762000" y="1333500"/>
            <a:chExt cx="5307330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33350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EFF6FF"/>
            </a:solidFill>
            <a:ln w="9525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33450" y="2076450"/>
              <a:ext cx="609600" cy="6096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04900" y="2247900"/>
              <a:ext cx="190500" cy="1905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276350" y="24193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9525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41170" y="2155508"/>
              <a:ext cx="13956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Google 搜索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46885" y="2489835"/>
              <a:ext cx="2527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Knowledge Graph 赋能语义搜索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48790" y="2791778"/>
              <a:ext cx="4320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通过实体链接与关系抽取，实现从关键词匹配到意图理解的跃迁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77000" y="1333500"/>
            <a:ext cx="4953000" cy="2095500"/>
            <a:chOff x="6477000" y="1333500"/>
            <a:chExt cx="4953000" cy="2095500"/>
          </a:xfrm>
        </p:grpSpPr>
        <p:sp>
          <p:nvSpPr>
            <p:cNvPr id="14" name="Rectangle 14"/>
            <p:cNvSpPr/>
            <p:nvPr/>
          </p:nvSpPr>
          <p:spPr>
            <a:xfrm>
              <a:off x="6477000" y="133350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648450" y="2076450"/>
              <a:ext cx="609600" cy="6096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6858000" y="22860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95250"/>
                  </a:lnTo>
                  <a:moveTo>
                    <a:pt x="95250" y="0"/>
                  </a:moveTo>
                  <a:lnTo>
                    <a:pt x="95250" y="19050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FFFFF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56170" y="21555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医疗辅助诊断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61885" y="2489835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症状-疾病-药物知识推理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63790" y="2791778"/>
              <a:ext cx="3553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构建临床指南图谱，支持多跳推理与个性化用药推荐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3905250"/>
            <a:ext cx="4953000" cy="2095500"/>
            <a:chOff x="762000" y="3905250"/>
            <a:chExt cx="49530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762000" y="390525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FFFBEB"/>
            </a:solidFill>
            <a:ln w="9525">
              <a:solidFill>
                <a:srgbClr val="FDE68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933450" y="4648200"/>
              <a:ext cx="609600" cy="6096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162050" y="4800600"/>
              <a:ext cx="152400" cy="266700"/>
            </a:xfrm>
            <a:custGeom>
              <a:avLst/>
              <a:gdLst/>
              <a:ahLst/>
              <a:cxnLst/>
              <a:rect l="l" t="t" r="r" b="b"/>
              <a:pathLst>
                <a:path w="152400" h="266700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152400" y="171450"/>
                  </a:lnTo>
                  <a:cubicBezTo>
                    <a:pt x="152400" y="228600"/>
                    <a:pt x="76200" y="266700"/>
                    <a:pt x="76200" y="266700"/>
                  </a:cubicBezTo>
                  <a:cubicBezTo>
                    <a:pt x="76200" y="266700"/>
                    <a:pt x="0" y="228600"/>
                    <a:pt x="0" y="171450"/>
                  </a:cubicBezTo>
                  <a:close/>
                </a:path>
              </a:pathLst>
            </a:custGeom>
            <a:noFill/>
            <a:ln w="23812">
              <a:solidFill>
                <a:srgbClr val="FFFFFF"/>
              </a:solidFill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41170" y="47272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金融风控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46885" y="5061585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企业关联关系挖掘与反团伙欺诈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48790" y="5363528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基于图神经网络识别隐性担保圈与资金流向异常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77000" y="3905250"/>
            <a:ext cx="5000625" cy="2095500"/>
            <a:chOff x="6477000" y="3905250"/>
            <a:chExt cx="5000625" cy="2095500"/>
          </a:xfrm>
        </p:grpSpPr>
        <p:sp>
          <p:nvSpPr>
            <p:cNvPr id="28" name="Rectangle 28"/>
            <p:cNvSpPr/>
            <p:nvPr/>
          </p:nvSpPr>
          <p:spPr>
            <a:xfrm>
              <a:off x="6477000" y="3905250"/>
              <a:ext cx="4953000" cy="2095500"/>
            </a:xfrm>
            <a:prstGeom prst="roundRect">
              <a:avLst>
                <a:gd name="adj" fmla="val 5455"/>
              </a:avLst>
            </a:prstGeom>
            <a:solidFill>
              <a:srgbClr val="F5F3FF"/>
            </a:solidFill>
            <a:ln w="9525">
              <a:solidFill>
                <a:srgbClr val="DDD6FE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648450" y="4648200"/>
              <a:ext cx="609600" cy="6096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838950" y="47910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38100" y="114300"/>
                  </a:moveTo>
                  <a:cubicBezTo>
                    <a:pt x="0" y="38100"/>
                    <a:pt x="76200" y="0"/>
                    <a:pt x="114300" y="57150"/>
                  </a:cubicBezTo>
                  <a:cubicBezTo>
                    <a:pt x="152400" y="0"/>
                    <a:pt x="228600" y="38100"/>
                    <a:pt x="190500" y="114300"/>
                  </a:cubicBezTo>
                  <a:cubicBezTo>
                    <a:pt x="228600" y="190500"/>
                    <a:pt x="152400" y="228600"/>
                    <a:pt x="114300" y="171450"/>
                  </a:cubicBezTo>
                  <a:cubicBezTo>
                    <a:pt x="76200" y="228600"/>
                    <a:pt x="0" y="190500"/>
                    <a:pt x="38100" y="114300"/>
                  </a:cubicBezTo>
                  <a:close/>
                </a:path>
              </a:pathLst>
            </a:custGeom>
            <a:noFill/>
            <a:ln w="23812">
              <a:solidFill>
                <a:srgbClr val="FFFFFF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56170" y="4727258"/>
              <a:ext cx="15094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大模型 + RAG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61885" y="5061585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利用知识图谱减少 LLM 幻觉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63790" y="5363528"/>
              <a:ext cx="4013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结构化事实注入提示词，提升生成内容的准确性与可追溯性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071622" y="6458902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7 / 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7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524000" y="-1905000"/>
            <a:ext cx="15525750" cy="10477500"/>
            <a:chOff x="-1524000" y="-1905000"/>
            <a:chExt cx="15525750" cy="10477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120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905750" y="-1905000"/>
              <a:ext cx="6096000" cy="6096000"/>
            </a:xfrm>
            <a:prstGeom prst="ellipse">
              <a:avLst/>
            </a:prstGeom>
            <a:solidFill>
              <a:srgbClr val="1E293B">
                <a:alpha val="2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524000" y="3238500"/>
              <a:ext cx="5334000" cy="5334000"/>
            </a:xfrm>
            <a:prstGeom prst="ellipse">
              <a:avLst/>
            </a:prstGeom>
            <a:solidFill>
              <a:srgbClr val="1E293B">
                <a:alpha val="20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491871" y="658178"/>
            <a:ext cx="3208258" cy="827722"/>
            <a:chOff x="4491871" y="658178"/>
            <a:chExt cx="3208258" cy="827722"/>
          </a:xfrm>
        </p:grpSpPr>
        <p:sp>
          <p:nvSpPr>
            <p:cNvPr id="7" name="TextBox 7"/>
            <p:cNvSpPr txBox="1"/>
            <p:nvPr/>
          </p:nvSpPr>
          <p:spPr>
            <a:xfrm>
              <a:off x="4491871" y="658178"/>
              <a:ext cx="320825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总结与展望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238750" y="147637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2286000" y="2381250"/>
            <a:ext cx="7620000" cy="3086100"/>
            <a:chOff x="2286000" y="2381250"/>
            <a:chExt cx="7620000" cy="3086100"/>
          </a:xfrm>
        </p:grpSpPr>
        <p:grpSp>
          <p:nvGrpSpPr>
            <p:cNvPr id="13" name="Group 13"/>
            <p:cNvGrpSpPr/>
            <p:nvPr/>
          </p:nvGrpSpPr>
          <p:grpSpPr>
            <a:xfrm>
              <a:off x="2286000" y="2381250"/>
              <a:ext cx="7620000" cy="800100"/>
              <a:chOff x="2286000" y="2381250"/>
              <a:chExt cx="7620000" cy="8001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2286000" y="2381250"/>
                <a:ext cx="7620000" cy="800100"/>
              </a:xfrm>
              <a:prstGeom prst="roundRect">
                <a:avLst>
                  <a:gd name="adj" fmla="val 16667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2286000" y="2381250"/>
                <a:ext cx="57150" cy="800100"/>
              </a:xfrm>
              <a:prstGeom prst="roundRect">
                <a:avLst>
                  <a:gd name="adj" fmla="val 50000"/>
                </a:avLst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689860" y="2646998"/>
                <a:ext cx="4891088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知识图谱是连接数据与智能的关键桥梁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286000" y="3524250"/>
              <a:ext cx="7620000" cy="800100"/>
              <a:chOff x="2286000" y="3524250"/>
              <a:chExt cx="7620000" cy="8001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286000" y="3524250"/>
                <a:ext cx="7620000" cy="800100"/>
              </a:xfrm>
              <a:prstGeom prst="roundRect">
                <a:avLst>
                  <a:gd name="adj" fmla="val 16667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2286000" y="3524250"/>
                <a:ext cx="57150" cy="80010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689860" y="3789998"/>
                <a:ext cx="4364212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核心技术日趋成熟 → 产业落地加速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286000" y="4667250"/>
              <a:ext cx="7620000" cy="800100"/>
              <a:chOff x="2286000" y="4667250"/>
              <a:chExt cx="7620000" cy="8001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286000" y="4667250"/>
                <a:ext cx="7620000" cy="800100"/>
              </a:xfrm>
              <a:prstGeom prst="roundRect">
                <a:avLst>
                  <a:gd name="adj" fmla="val 16667"/>
                </a:avLst>
              </a:prstGeom>
              <a:solidFill>
                <a:srgbClr val="1E293B"/>
              </a:solidFill>
              <a:ln w="9525">
                <a:solidFill>
                  <a:srgbClr val="334155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286000" y="4667250"/>
                <a:ext cx="57150" cy="800100"/>
              </a:xfrm>
              <a:prstGeom prst="roundRect">
                <a:avLst>
                  <a:gd name="adj" fmla="val 50000"/>
                </a:avLst>
              </a:pr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689860" y="4932998"/>
                <a:ext cx="5047726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>
                    <a:solidFill>
                      <a:srgbClr val="E2E8F0"/>
                    </a:solidFill>
                    <a:latin typeface="Arial"/>
                    <a:ea typeface="Microsoft YaHei"/>
                    <a:cs typeface="Arial"/>
                  </a:rPr>
                  <a:t>未来：LLM + KG 深度融合，迈向可信 AI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5334000" y="6191250"/>
            <a:ext cx="1524000" cy="461962"/>
            <a:chOff x="5334000" y="6191250"/>
            <a:chExt cx="1524000" cy="461962"/>
          </a:xfrm>
        </p:grpSpPr>
        <p:sp>
          <p:nvSpPr>
            <p:cNvPr id="23" name="Line 23"/>
            <p:cNvSpPr/>
            <p:nvPr/>
          </p:nvSpPr>
          <p:spPr>
            <a:xfrm>
              <a:off x="5334000" y="6191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 cap="rnd">
              <a:solidFill>
                <a:srgbClr val="33415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95795" y="6378892"/>
              <a:ext cx="10004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THANK YOU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1143000" y="-1428750"/>
            <a:ext cx="14001750" cy="10191750"/>
            <a:chOff x="-1143000" y="-1428750"/>
            <a:chExt cx="14001750" cy="10191750"/>
          </a:xfrm>
        </p:grpSpPr>
        <p:sp>
          <p:nvSpPr>
            <p:cNvPr id="3" name="Ellipse 3"/>
            <p:cNvSpPr/>
            <p:nvPr/>
          </p:nvSpPr>
          <p:spPr>
            <a:xfrm>
              <a:off x="8096250" y="-1428750"/>
              <a:ext cx="4762500" cy="4762500"/>
            </a:xfrm>
            <a:prstGeom prst="ellipse">
              <a:avLst/>
            </a:prstGeom>
            <a:solidFill>
              <a:srgbClr val="38BDF8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143000" y="3048000"/>
              <a:ext cx="5715000" cy="5715000"/>
            </a:xfrm>
            <a:prstGeom prst="ellipse">
              <a:avLst/>
            </a:prstGeom>
            <a:solidFill>
              <a:srgbClr val="818CF8">
                <a:alpha val="5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5715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34155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0287000" y="1143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3415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275534" y="1857375"/>
            <a:ext cx="3640931" cy="2971800"/>
            <a:chOff x="4275534" y="1857375"/>
            <a:chExt cx="3640931" cy="2971800"/>
          </a:xfrm>
        </p:grpSpPr>
        <p:sp>
          <p:nvSpPr>
            <p:cNvPr id="8" name="TextBox 8"/>
            <p:cNvSpPr txBox="1"/>
            <p:nvPr/>
          </p:nvSpPr>
          <p:spPr>
            <a:xfrm>
              <a:off x="4275534" y="1857375"/>
              <a:ext cx="3640931" cy="152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谢谢！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0" y="3333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38BDF8"/>
                  </a:gs>
                  <a:gs pos="100000">
                    <a:srgbClr val="818CF8"/>
                  </a:gs>
                </a:gsLst>
                <a:lin ang="0" scaled="1"/>
              </a:gra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313828" y="3484245"/>
              <a:ext cx="156434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Q &amp; 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78705" y="4280535"/>
              <a:ext cx="24345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欢迎交流讨论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430917" y="6173152"/>
            <a:ext cx="13301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PRESENTATION END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
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Ellipse 3"/>
            <p:cNvSpPr/>
            <p:nvPr/>
          </p:nvSpPr>
          <p:spPr>
            <a:xfrm>
              <a:off x="2762250" y="95250"/>
              <a:ext cx="6667500" cy="6667500"/>
            </a:xfrm>
            <a:prstGeom prst="ellipse">
              <a:avLst/>
            </a:prstGeom>
            <a:gradFill>
              <a:gsLst>
                <a:gs pos="0">
                  <a:srgbClr val="3B82F6">
                    <a:alpha val="15000"/>
                  </a:srgbClr>
                </a:gs>
                <a:gs pos="100000">
                  <a:srgbClr val="3B82F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714500"/>
              <a:ext cx="12192000" cy="3429000"/>
            </a:xfrm>
            <a:custGeom>
              <a:avLst/>
              <a:gdLst/>
              <a:ahLst/>
              <a:cxnLst/>
              <a:rect l="l" t="t" r="r" b="b"/>
              <a:pathLst>
                <a:path w="12192000" h="3429000">
                  <a:moveTo>
                    <a:pt x="0" y="0"/>
                  </a:moveTo>
                  <a:lnTo>
                    <a:pt x="12192000" y="0"/>
                  </a:lnTo>
                  <a:moveTo>
                    <a:pt x="0" y="3429000"/>
                  </a:moveTo>
                  <a:lnTo>
                    <a:pt x="12192000" y="3429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905000" y="0"/>
              <a:ext cx="8382000" cy="6858000"/>
            </a:xfrm>
            <a:custGeom>
              <a:avLst/>
              <a:gdLst/>
              <a:ahLst/>
              <a:cxnLst/>
              <a:rect l="l" t="t" r="r" b="b"/>
              <a:pathLst>
                <a:path w="8382000" h="6858000">
                  <a:moveTo>
                    <a:pt x="0" y="0"/>
                  </a:moveTo>
                  <a:lnTo>
                    <a:pt x="0" y="6858000"/>
                  </a:lnTo>
                  <a:moveTo>
                    <a:pt x="8382000" y="0"/>
                  </a:moveTo>
                  <a:lnTo>
                    <a:pt x="838200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400175" y="1114425"/>
              <a:ext cx="57150" cy="5715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734675" y="5686425"/>
              <a:ext cx="57150" cy="57150"/>
            </a:xfrm>
            <a:prstGeom prst="ellipse">
              <a:avLst/>
            </a:prstGeom>
            <a:solidFill>
              <a:srgbClr val="3B82F6">
                <a:alpha val="4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82200" y="1409700"/>
              <a:ext cx="38100" cy="38100"/>
            </a:xfrm>
            <a:prstGeom prst="ellipse">
              <a:avLst/>
            </a:prstGeom>
            <a:solidFill>
              <a:srgbClr val="00D4FF">
                <a:alpha val="3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171700" y="5505450"/>
              <a:ext cx="38100" cy="38100"/>
            </a:xfrm>
            <a:prstGeom prst="ellipse">
              <a:avLst/>
            </a:prstGeom>
            <a:solidFill>
              <a:srgbClr val="3B82F6">
                <a:alpha val="30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428750" y="1143000"/>
              <a:ext cx="9334500" cy="4572000"/>
            </a:xfrm>
            <a:custGeom>
              <a:avLst/>
              <a:gdLst/>
              <a:ahLst/>
              <a:cxnLst/>
              <a:rect l="l" t="t" r="r" b="b"/>
              <a:pathLst>
                <a:path w="9334500" h="4572000">
                  <a:moveTo>
                    <a:pt x="0" y="0"/>
                  </a:moveTo>
                  <a:lnTo>
                    <a:pt x="762000" y="4381500"/>
                  </a:lnTo>
                  <a:moveTo>
                    <a:pt x="9334500" y="4572000"/>
                  </a:moveTo>
                  <a:lnTo>
                    <a:pt x="8572500" y="2857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FFFFF">
                  <a:alpha val="5000"/>
                </a:srgbClr>
              </a:solidFill>
              <a:prstDash val="dash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041741" y="2434590"/>
            <a:ext cx="8108518" cy="1699260"/>
            <a:chOff x="2041741" y="2434590"/>
            <a:chExt cx="8108518" cy="1699260"/>
          </a:xfrm>
        </p:grpSpPr>
        <p:sp>
          <p:nvSpPr>
            <p:cNvPr id="12" name="TextBox 12"/>
            <p:cNvSpPr txBox="1"/>
            <p:nvPr/>
          </p:nvSpPr>
          <p:spPr>
            <a:xfrm>
              <a:off x="2041741" y="2434590"/>
              <a:ext cx="810851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AI驱动的企业数字化转型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762500" y="3381375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47625" cap="rnd">
              <a:gradFill>
                <a:gsLst>
                  <a:gs pos="0">
                    <a:srgbClr val="00D4FF"/>
                  </a:gs>
                  <a:gs pos="100000">
                    <a:srgbClr val="3B82F6"/>
                  </a:gs>
                </a:gsLst>
                <a:lin ang="0" scaled="1"/>
              </a:gra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03648" y="3646170"/>
              <a:ext cx="258470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2024年战略报告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E27"/>
              </a:gs>
              <a:gs pos="100000">
                <a:srgbClr val="0F1638"/>
              </a:gs>
            </a:gsLst>
            <a:lin ang="2700000" scaled="1"/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028825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576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8124825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1536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8" name="Ellipse 18"/>
          <p:cNvSpPr/>
          <p:nvPr/>
        </p:nvSpPr>
        <p:spPr>
          <a:xfrm>
            <a:off x="9334500" y="-381000"/>
            <a:ext cx="2286000" cy="2286000"/>
          </a:xfrm>
          <a:prstGeom prst="ellipse">
            <a:avLst/>
          </a:prstGeom>
          <a:solidFill>
            <a:srgbClr val="3B82F6">
              <a:alpha val="4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762000" y="5238750"/>
            <a:ext cx="1905000" cy="1905000"/>
          </a:xfrm>
          <a:prstGeom prst="ellipse">
            <a:avLst/>
          </a:prstGeom>
          <a:solidFill>
            <a:srgbClr val="8B5CF6">
              <a:alpha val="4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solidFill>
            <a:srgbClr val="06B6D4">
              <a:alpha val="2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B82F6">
                  <a:alpha val="80000"/>
                </a:srgbClr>
              </a:gs>
              <a:gs pos="100000">
                <a:srgbClr val="8B5CF6">
                  <a:alpha val="8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1478220" y="180499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A5580"/>
                </a:solidFill>
                <a:latin typeface="Arial"/>
                <a:ea typeface="Microsoft YaHei"/>
                <a:cs typeface="Arial"/>
              </a:rPr>
              <a:t>2 / 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509016" y="394335"/>
            <a:ext cx="3173968" cy="767715"/>
            <a:chOff x="4509016" y="394335"/>
            <a:chExt cx="3173968" cy="767715"/>
          </a:xfrm>
        </p:grpSpPr>
        <p:sp>
          <p:nvSpPr>
            <p:cNvPr id="23" name="TextBox 23"/>
            <p:cNvSpPr txBox="1"/>
            <p:nvPr/>
          </p:nvSpPr>
          <p:spPr>
            <a:xfrm>
              <a:off x="4509016" y="394335"/>
              <a:ext cx="31739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 心 技 术 架 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27461" y="831056"/>
              <a:ext cx="2337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DB3"/>
                  </a:solidFill>
                  <a:latin typeface="Arial"/>
                  <a:ea typeface="Microsoft YaHei"/>
                  <a:cs typeface="Arial"/>
                </a:rPr>
                <a:t>CORE TECHNICAL ARCHITECTURE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143500" y="1123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3B82F6">
                  <a:alpha val="60000"/>
                </a:srgbClr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048375" y="10858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0"/>
                  </a:lnTo>
                  <a:lnTo>
                    <a:pt x="47625" y="76200"/>
                  </a:lnTo>
                  <a:close/>
                </a:path>
              </a:pathLst>
            </a:custGeom>
            <a:solidFill>
              <a:srgbClr val="3B82F6">
                <a:alpha val="800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600700" y="2743200"/>
            <a:ext cx="990600" cy="1254919"/>
            <a:chOff x="5600700" y="2743200"/>
            <a:chExt cx="990600" cy="1254919"/>
          </a:xfrm>
          <a:effectLst>
            <a:outerShdw blurRad="152400" dist="38100" dir="5400000" algn="ctr" rotWithShape="0">
              <a:srgbClr val="000000">
                <a:alpha val="30000"/>
              </a:srgbClr>
            </a:outerShdw>
          </a:effectLst>
        </p:grpSpPr>
        <p:sp>
          <p:nvSpPr>
            <p:cNvPr id="28" name="Ellipse 28"/>
            <p:cNvSpPr/>
            <p:nvPr/>
          </p:nvSpPr>
          <p:spPr>
            <a:xfrm>
              <a:off x="5600700" y="2743200"/>
              <a:ext cx="990600" cy="990600"/>
            </a:xfrm>
            <a:prstGeom prst="ellipse">
              <a:avLst/>
            </a:prstGeom>
            <a:solidFill>
              <a:srgbClr val="141B3D">
                <a:alpha val="90000"/>
              </a:srgbClr>
            </a:solidFill>
            <a:ln w="19050">
              <a:solidFill>
                <a:srgbClr val="3B82F6">
                  <a:alpha val="90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29" name="Ellipse 29"/>
            <p:cNvSpPr/>
            <p:nvPr/>
          </p:nvSpPr>
          <p:spPr>
            <a:xfrm>
              <a:off x="5676900" y="2819400"/>
              <a:ext cx="838200" cy="838200"/>
            </a:xfrm>
            <a:prstGeom prst="ellipse">
              <a:avLst/>
            </a:prstGeom>
            <a:noFill/>
            <a:ln w="9525">
              <a:solidFill>
                <a:srgbClr val="3B82F6">
                  <a:alpha val="30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8" name="Group 38"/>
            <p:cNvGrpSpPr/>
            <p:nvPr/>
          </p:nvGrpSpPr>
          <p:grpSpPr>
            <a:xfrm>
              <a:off x="5943600" y="3067050"/>
              <a:ext cx="304800" cy="298450"/>
              <a:chOff x="5943600" y="3067050"/>
              <a:chExt cx="304800" cy="298450"/>
            </a:xfrm>
            <a:effectLst>
              <a:glow rad="28575">
                <a:srgbClr val="000000">
                  <a:alpha val="30000"/>
                </a:srgbClr>
              </a:glow>
            </a:effectLst>
          </p:grpSpPr>
          <p:sp>
            <p:nvSpPr>
              <p:cNvPr id="30" name="Ellipse 30"/>
              <p:cNvSpPr/>
              <p:nvPr/>
            </p:nvSpPr>
            <p:spPr>
              <a:xfrm>
                <a:off x="6000750" y="3067050"/>
                <a:ext cx="190500" cy="190500"/>
              </a:xfrm>
              <a:prstGeom prst="ellipse">
                <a:avLst/>
              </a:prstGeom>
              <a:noFill/>
              <a:ln w="14288">
                <a:solidFill>
                  <a:srgbClr val="3B82F6"/>
                </a:solidFill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956300" y="3219450"/>
                <a:ext cx="27940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46050">
                    <a:moveTo>
                      <a:pt x="25400" y="0"/>
                    </a:moveTo>
                    <a:cubicBezTo>
                      <a:pt x="0" y="38100"/>
                      <a:pt x="6350" y="76200"/>
                      <a:pt x="44450" y="114300"/>
                    </a:cubicBezTo>
                    <a:cubicBezTo>
                      <a:pt x="69850" y="139700"/>
                      <a:pt x="101600" y="146050"/>
                      <a:pt x="139700" y="133350"/>
                    </a:cubicBezTo>
                    <a:cubicBezTo>
                      <a:pt x="177800" y="146050"/>
                      <a:pt x="209550" y="139700"/>
                      <a:pt x="234950" y="114300"/>
                    </a:cubicBezTo>
                    <a:cubicBezTo>
                      <a:pt x="273050" y="76200"/>
                      <a:pt x="279400" y="38100"/>
                      <a:pt x="254000" y="0"/>
                    </a:cubicBezTo>
                  </a:path>
                </a:pathLst>
              </a:custGeom>
              <a:noFill/>
              <a:ln w="14288">
                <a:solidFill>
                  <a:srgbClr val="3B82F6"/>
                </a:solidFill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32" name="Line 32"/>
              <p:cNvSpPr/>
              <p:nvPr/>
            </p:nvSpPr>
            <p:spPr>
              <a:xfrm>
                <a:off x="6096000" y="30670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4288">
                <a:solidFill>
                  <a:srgbClr val="3B82F6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5962650" y="31813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14288">
                <a:solidFill>
                  <a:srgbClr val="3B82F6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6191250" y="31813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4288">
                <a:solidFill>
                  <a:srgbClr val="3B82F6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5943600" y="3295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0"/>
                    </a:moveTo>
                    <a:lnTo>
                      <a:pt x="57150" y="38100"/>
                    </a:lnTo>
                  </a:path>
                </a:pathLst>
              </a:custGeom>
              <a:noFill/>
              <a:ln w="14288">
                <a:solidFill>
                  <a:srgbClr val="3B82F6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191250" y="3295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5715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4288">
                <a:solidFill>
                  <a:srgbClr val="3B82F6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067425" y="3209925"/>
                <a:ext cx="57150" cy="5715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698607" y="3799999"/>
              <a:ext cx="794786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DB3"/>
                  </a:solidFill>
                  <a:latin typeface="Arial"/>
                  <a:ea typeface="Microsoft YaHei"/>
                  <a:cs typeface="Arial"/>
                </a:rPr>
                <a:t>AI 中枢引擎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0" y="3190875"/>
            <a:ext cx="4667250" cy="1285875"/>
            <a:chOff x="3810000" y="3190875"/>
            <a:chExt cx="4667250" cy="1285875"/>
          </a:xfrm>
        </p:grpSpPr>
        <p:sp>
          <p:nvSpPr>
            <p:cNvPr id="41" name="Freeform 41"/>
            <p:cNvSpPr/>
            <p:nvPr/>
          </p:nvSpPr>
          <p:spPr>
            <a:xfrm>
              <a:off x="3810000" y="3238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1790700" y="0"/>
                  </a:moveTo>
                  <a:cubicBezTo>
                    <a:pt x="1104900" y="0"/>
                    <a:pt x="508000" y="0"/>
                    <a:pt x="0" y="0"/>
                  </a:cubicBezTo>
                </a:path>
              </a:pathLst>
            </a:custGeom>
            <a:noFill/>
            <a:ln w="19050">
              <a:gradFill>
                <a:gsLst>
                  <a:gs pos="0">
                    <a:srgbClr val="3B82F6">
                      <a:alpha val="55999"/>
                    </a:srgbClr>
                  </a:gs>
                  <a:gs pos="100000">
                    <a:srgbClr val="8B5CF6">
                      <a:alpha val="55999"/>
                    </a:srgbClr>
                  </a:gs>
                </a:gsLst>
                <a:lin ang="0" scaled="1"/>
              </a:gradFill>
              <a:custDash>
                <a:ds d="300000" sp="200000"/>
              </a:custDash>
            </a:ln>
          </p:spPr>
        </p:sp>
        <p:sp>
          <p:nvSpPr>
            <p:cNvPr id="42" name="Polygon 42"/>
            <p:cNvSpPr/>
            <p:nvPr/>
          </p:nvSpPr>
          <p:spPr>
            <a:xfrm>
              <a:off x="3810000" y="3190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3B82F6">
                <a:alpha val="80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591300" y="3238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cubicBezTo>
                    <a:pt x="685800" y="0"/>
                    <a:pt x="1282700" y="0"/>
                    <a:pt x="1790700" y="0"/>
                  </a:cubicBezTo>
                </a:path>
              </a:pathLst>
            </a:custGeom>
            <a:noFill/>
            <a:ln w="19050">
              <a:gradFill>
                <a:gsLst>
                  <a:gs pos="0">
                    <a:srgbClr val="8B5CF6">
                      <a:alpha val="55999"/>
                    </a:srgbClr>
                  </a:gs>
                  <a:gs pos="100000">
                    <a:srgbClr val="06B6D4">
                      <a:alpha val="55999"/>
                    </a:srgbClr>
                  </a:gs>
                </a:gsLst>
                <a:lin ang="0" scaled="1"/>
              </a:gradFill>
              <a:custDash>
                <a:ds d="300000" sp="200000"/>
              </a:custDash>
            </a:ln>
          </p:spPr>
        </p:sp>
        <p:sp>
          <p:nvSpPr>
            <p:cNvPr id="44" name="Polygon 44"/>
            <p:cNvSpPr/>
            <p:nvPr/>
          </p:nvSpPr>
          <p:spPr>
            <a:xfrm>
              <a:off x="8382000" y="3190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6B6D4">
                <a:alpha val="80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096000" y="37338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9050">
              <a:solidFill>
                <a:srgbClr val="8B5CF6">
                  <a:alpha val="7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46" name="Polygon 46"/>
            <p:cNvSpPr/>
            <p:nvPr/>
          </p:nvSpPr>
          <p:spPr>
            <a:xfrm>
              <a:off x="6048375" y="4381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8B5CF6">
                <a:alpha val="80000"/>
              </a:srgbClr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143000" y="1905000"/>
            <a:ext cx="3048000" cy="2667000"/>
            <a:chOff x="1143000" y="1905000"/>
            <a:chExt cx="3048000" cy="2667000"/>
          </a:xfrm>
          <a:effectLst>
            <a:outerShdw blurRad="152400" dist="38100" dir="5400000" algn="ctr" rotWithShape="0">
              <a:srgbClr val="000000">
                <a:alpha val="30000"/>
              </a:srgbClr>
            </a:outerShdw>
          </a:effectLst>
        </p:grpSpPr>
        <p:sp>
          <p:nvSpPr>
            <p:cNvPr id="48" name="Rectangle 48"/>
            <p:cNvSpPr/>
            <p:nvPr/>
          </p:nvSpPr>
          <p:spPr>
            <a:xfrm>
              <a:off x="1143000" y="1905000"/>
              <a:ext cx="3048000" cy="2667000"/>
            </a:xfrm>
            <a:prstGeom prst="roundRect">
              <a:avLst>
                <a:gd name="adj" fmla="val 5714"/>
              </a:avLst>
            </a:prstGeom>
            <a:gradFill>
              <a:gsLst>
                <a:gs pos="0">
                  <a:srgbClr val="1A2550">
                    <a:alpha val="95000"/>
                  </a:srgbClr>
                </a:gs>
                <a:gs pos="100000">
                  <a:srgbClr val="111836">
                    <a:alpha val="95000"/>
                  </a:srgbClr>
                </a:gs>
              </a:gsLst>
              <a:lin ang="5400000" scaled="1"/>
            </a:gradFill>
            <a:ln w="14288">
              <a:solidFill>
                <a:srgbClr val="3B82F6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1143000" y="1905000"/>
              <a:ext cx="3048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63" name="Group 63"/>
            <p:cNvGrpSpPr/>
            <p:nvPr/>
          </p:nvGrpSpPr>
          <p:grpSpPr>
            <a:xfrm>
              <a:off x="2324100" y="2133600"/>
              <a:ext cx="685800" cy="685800"/>
              <a:chOff x="2324100" y="2133600"/>
              <a:chExt cx="685800" cy="6858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2324100" y="2133600"/>
                <a:ext cx="685800" cy="685800"/>
              </a:xfrm>
              <a:prstGeom prst="ellipse">
                <a:avLst/>
              </a:prstGeom>
              <a:solidFill>
                <a:srgbClr val="0D1530"/>
              </a:solidFill>
              <a:ln w="14288">
                <a:solidFill>
                  <a:srgbClr val="3B82F6"/>
                </a:solidFill>
              </a:ln>
              <a:effectLst>
                <a:outerShdw blurRad="152400" dist="38100" dir="5400000" algn="ctr" rotWithShape="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2514600" y="2324100"/>
                <a:ext cx="304800" cy="304800"/>
                <a:chOff x="2514600" y="2324100"/>
                <a:chExt cx="304800" cy="304800"/>
              </a:xfrm>
              <a:effectLst>
                <a:glow rad="28575">
                  <a:srgbClr val="000000">
                    <a:alpha val="30000"/>
                  </a:srgbClr>
                </a:glow>
              </a:effectLst>
            </p:grpSpPr>
            <p:sp>
              <p:nvSpPr>
                <p:cNvPr id="51" name="Ellipse 51"/>
                <p:cNvSpPr/>
                <p:nvPr/>
              </p:nvSpPr>
              <p:spPr>
                <a:xfrm>
                  <a:off x="2514600" y="2324100"/>
                  <a:ext cx="76200" cy="7620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52" name="Ellipse 52"/>
                <p:cNvSpPr/>
                <p:nvPr/>
              </p:nvSpPr>
              <p:spPr>
                <a:xfrm>
                  <a:off x="2743200" y="2324100"/>
                  <a:ext cx="76200" cy="7620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53" name="Ellipse 53"/>
                <p:cNvSpPr/>
                <p:nvPr/>
              </p:nvSpPr>
              <p:spPr>
                <a:xfrm>
                  <a:off x="2619375" y="2428875"/>
                  <a:ext cx="95250" cy="9525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54" name="Ellipse 54"/>
                <p:cNvSpPr/>
                <p:nvPr/>
              </p:nvSpPr>
              <p:spPr>
                <a:xfrm>
                  <a:off x="2514600" y="2552700"/>
                  <a:ext cx="76200" cy="7620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55" name="Ellipse 55"/>
                <p:cNvSpPr/>
                <p:nvPr/>
              </p:nvSpPr>
              <p:spPr>
                <a:xfrm>
                  <a:off x="2743200" y="2552700"/>
                  <a:ext cx="76200" cy="7620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56" name="Line 56"/>
                <p:cNvSpPr/>
                <p:nvPr/>
              </p:nvSpPr>
              <p:spPr>
                <a:xfrm>
                  <a:off x="2552700" y="23622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9525">
                  <a:solidFill>
                    <a:srgbClr val="3B82F6">
                      <a:alpha val="60000"/>
                    </a:srgbClr>
                  </a:solidFill>
                </a:ln>
              </p:spPr>
            </p:sp>
            <p:sp>
              <p:nvSpPr>
                <p:cNvPr id="57" name="Line 57"/>
                <p:cNvSpPr/>
                <p:nvPr/>
              </p:nvSpPr>
              <p:spPr>
                <a:xfrm>
                  <a:off x="2667000" y="23622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9525">
                  <a:solidFill>
                    <a:srgbClr val="3B82F6">
                      <a:alpha val="60000"/>
                    </a:srgbClr>
                  </a:solidFill>
                </a:ln>
              </p:spPr>
            </p:sp>
            <p:sp>
              <p:nvSpPr>
                <p:cNvPr id="58" name="Line 58"/>
                <p:cNvSpPr/>
                <p:nvPr/>
              </p:nvSpPr>
              <p:spPr>
                <a:xfrm>
                  <a:off x="2552700" y="24765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11430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9525">
                  <a:solidFill>
                    <a:srgbClr val="3B82F6">
                      <a:alpha val="60000"/>
                    </a:srgbClr>
                  </a:solidFill>
                </a:ln>
              </p:spPr>
            </p:sp>
            <p:sp>
              <p:nvSpPr>
                <p:cNvPr id="59" name="Line 59"/>
                <p:cNvSpPr/>
                <p:nvPr/>
              </p:nvSpPr>
              <p:spPr>
                <a:xfrm>
                  <a:off x="2667000" y="24765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1143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3B82F6">
                      <a:alpha val="60000"/>
                    </a:srgbClr>
                  </a:solidFill>
                </a:ln>
              </p:spPr>
            </p:sp>
            <p:sp>
              <p:nvSpPr>
                <p:cNvPr id="60" name="Line 60"/>
                <p:cNvSpPr/>
                <p:nvPr/>
              </p:nvSpPr>
              <p:spPr>
                <a:xfrm>
                  <a:off x="2552700" y="236220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7620">
                  <a:solidFill>
                    <a:srgbClr val="3B82F6">
                      <a:alpha val="40000"/>
                    </a:srgbClr>
                  </a:solidFill>
                </a:ln>
              </p:spPr>
            </p:sp>
            <p:sp>
              <p:nvSpPr>
                <p:cNvPr id="61" name="Line 61"/>
                <p:cNvSpPr/>
                <p:nvPr/>
              </p:nvSpPr>
              <p:spPr>
                <a:xfrm>
                  <a:off x="2552700" y="259080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7620">
                  <a:solidFill>
                    <a:srgbClr val="3B82F6">
                      <a:alpha val="40000"/>
                    </a:srgbClr>
                  </a:solidFill>
                </a:ln>
              </p:spPr>
            </p:sp>
          </p:grpSp>
        </p:grpSp>
        <p:sp>
          <p:nvSpPr>
            <p:cNvPr id="64" name="TextBox 64"/>
            <p:cNvSpPr txBox="1"/>
            <p:nvPr/>
          </p:nvSpPr>
          <p:spPr>
            <a:xfrm>
              <a:off x="2072878" y="2981325"/>
              <a:ext cx="1188244" cy="3048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大语言模型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533983" y="3236595"/>
              <a:ext cx="266033" cy="1828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6FA5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11618" y="3561874"/>
              <a:ext cx="2545223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基于 Transformer 架构的预训练模型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11618" y="3780949"/>
              <a:ext cx="1712190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支持自然语言理解与生成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511618" y="4000024"/>
              <a:ext cx="2139386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具备上下文推理与知识迁移能力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524000" y="4333875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3B82F6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0" name="TextBox 70"/>
            <p:cNvSpPr txBox="1"/>
            <p:nvPr/>
          </p:nvSpPr>
          <p:spPr>
            <a:xfrm>
              <a:off x="1767007" y="4395788"/>
              <a:ext cx="199787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A3F7"/>
                  </a:solidFill>
                  <a:latin typeface="Arial"/>
                  <a:ea typeface="Microsoft YaHei"/>
                  <a:cs typeface="Arial"/>
                </a:rPr>
                <a:t>NLP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286000" y="4333875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3B82F6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2" name="TextBox 72"/>
            <p:cNvSpPr txBox="1"/>
            <p:nvPr/>
          </p:nvSpPr>
          <p:spPr>
            <a:xfrm>
              <a:off x="2509838" y="4395788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A3F7"/>
                  </a:solidFill>
                  <a:latin typeface="Arial"/>
                  <a:ea typeface="Microsoft YaHei"/>
                  <a:cs typeface="Arial"/>
                </a:rPr>
                <a:t>推理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048000" y="4333875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3B82F6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4" name="TextBox 74"/>
            <p:cNvSpPr txBox="1"/>
            <p:nvPr/>
          </p:nvSpPr>
          <p:spPr>
            <a:xfrm>
              <a:off x="3271838" y="4395788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A3F7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001000" y="1905000"/>
            <a:ext cx="3048000" cy="2667000"/>
            <a:chOff x="8001000" y="1905000"/>
            <a:chExt cx="3048000" cy="2667000"/>
          </a:xfrm>
          <a:effectLst>
            <a:outerShdw blurRad="152400" dist="38100" dir="5400000" algn="ctr" rotWithShape="0">
              <a:srgbClr val="000000">
                <a:alpha val="30000"/>
              </a:srgbClr>
            </a:outerShdw>
          </a:effectLst>
        </p:grpSpPr>
        <p:sp>
          <p:nvSpPr>
            <p:cNvPr id="76" name="Rectangle 76"/>
            <p:cNvSpPr/>
            <p:nvPr/>
          </p:nvSpPr>
          <p:spPr>
            <a:xfrm>
              <a:off x="8001000" y="1905000"/>
              <a:ext cx="3048000" cy="2667000"/>
            </a:xfrm>
            <a:prstGeom prst="roundRect">
              <a:avLst>
                <a:gd name="adj" fmla="val 5714"/>
              </a:avLst>
            </a:prstGeom>
            <a:gradFill>
              <a:gsLst>
                <a:gs pos="0">
                  <a:srgbClr val="1E1545">
                    <a:alpha val="95000"/>
                  </a:srgbClr>
                </a:gs>
                <a:gs pos="100000">
                  <a:srgbClr val="141030">
                    <a:alpha val="95000"/>
                  </a:srgbClr>
                </a:gs>
              </a:gsLst>
              <a:lin ang="5400000" scaled="1"/>
            </a:gradFill>
            <a:ln w="14288">
              <a:solidFill>
                <a:srgbClr val="8B5CF6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7" name="Rectangle 77"/>
            <p:cNvSpPr/>
            <p:nvPr/>
          </p:nvSpPr>
          <p:spPr>
            <a:xfrm>
              <a:off x="8001000" y="1905000"/>
              <a:ext cx="3048000" cy="381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91" name="Group 91"/>
            <p:cNvGrpSpPr/>
            <p:nvPr/>
          </p:nvGrpSpPr>
          <p:grpSpPr>
            <a:xfrm>
              <a:off x="9182100" y="2133600"/>
              <a:ext cx="685800" cy="685800"/>
              <a:chOff x="9182100" y="2133600"/>
              <a:chExt cx="685800" cy="685800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9182100" y="2133600"/>
                <a:ext cx="685800" cy="685800"/>
              </a:xfrm>
              <a:prstGeom prst="ellipse">
                <a:avLst/>
              </a:prstGeom>
              <a:solidFill>
                <a:srgbClr val="120D28"/>
              </a:solidFill>
              <a:ln w="14288">
                <a:solidFill>
                  <a:srgbClr val="8B5CF6"/>
                </a:solidFill>
              </a:ln>
              <a:effectLst>
                <a:outerShdw blurRad="152400" dist="38100" dir="5400000" algn="ctr" rotWithShape="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9334500" y="2333625"/>
                <a:ext cx="381000" cy="295275"/>
                <a:chOff x="9334500" y="2333625"/>
                <a:chExt cx="381000" cy="295275"/>
              </a:xfrm>
              <a:effectLst>
                <a:glow rad="28575">
                  <a:srgbClr val="000000">
                    <a:alpha val="30000"/>
                  </a:srgbClr>
                </a:glow>
              </a:effectLst>
            </p:grpSpPr>
            <p:sp>
              <p:nvSpPr>
                <p:cNvPr id="79" name="Ellipse 79"/>
                <p:cNvSpPr/>
                <p:nvPr/>
              </p:nvSpPr>
              <p:spPr>
                <a:xfrm>
                  <a:off x="9334500" y="2333625"/>
                  <a:ext cx="95250" cy="9525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80" name="Ellipse 80"/>
                <p:cNvSpPr/>
                <p:nvPr/>
              </p:nvSpPr>
              <p:spPr>
                <a:xfrm>
                  <a:off x="9620250" y="2333625"/>
                  <a:ext cx="95250" cy="9525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81" name="Ellipse 81"/>
                <p:cNvSpPr/>
                <p:nvPr/>
              </p:nvSpPr>
              <p:spPr>
                <a:xfrm>
                  <a:off x="9467850" y="2514600"/>
                  <a:ext cx="114300" cy="11430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82" name="Ellipse 82"/>
                <p:cNvSpPr/>
                <p:nvPr/>
              </p:nvSpPr>
              <p:spPr>
                <a:xfrm>
                  <a:off x="9344025" y="2533650"/>
                  <a:ext cx="76200" cy="7620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83" name="Ellipse 83"/>
                <p:cNvSpPr/>
                <p:nvPr/>
              </p:nvSpPr>
              <p:spPr>
                <a:xfrm>
                  <a:off x="9629775" y="2533650"/>
                  <a:ext cx="76200" cy="7620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84" name="Line 84"/>
                <p:cNvSpPr/>
                <p:nvPr/>
              </p:nvSpPr>
              <p:spPr>
                <a:xfrm>
                  <a:off x="9382125" y="2381250"/>
                  <a:ext cx="14287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90500">
                      <a:moveTo>
                        <a:pt x="0" y="0"/>
                      </a:moveTo>
                      <a:lnTo>
                        <a:pt x="142875" y="190500"/>
                      </a:lnTo>
                    </a:path>
                  </a:pathLst>
                </a:custGeom>
                <a:noFill/>
                <a:ln w="11430">
                  <a:solidFill>
                    <a:srgbClr val="8B5CF6">
                      <a:alpha val="60000"/>
                    </a:srgbClr>
                  </a:solidFill>
                </a:ln>
              </p:spPr>
            </p:sp>
            <p:sp>
              <p:nvSpPr>
                <p:cNvPr id="85" name="Line 85"/>
                <p:cNvSpPr/>
                <p:nvPr/>
              </p:nvSpPr>
              <p:spPr>
                <a:xfrm>
                  <a:off x="9525000" y="2381250"/>
                  <a:ext cx="14287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90500">
                      <a:moveTo>
                        <a:pt x="142875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1430">
                  <a:solidFill>
                    <a:srgbClr val="8B5CF6">
                      <a:alpha val="60000"/>
                    </a:srgbClr>
                  </a:solidFill>
                </a:ln>
              </p:spPr>
            </p:sp>
            <p:sp>
              <p:nvSpPr>
                <p:cNvPr id="86" name="Line 86"/>
                <p:cNvSpPr/>
                <p:nvPr/>
              </p:nvSpPr>
              <p:spPr>
                <a:xfrm>
                  <a:off x="9382125" y="2381250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9525">
                  <a:solidFill>
                    <a:srgbClr val="8B5CF6">
                      <a:alpha val="40000"/>
                    </a:srgbClr>
                  </a:solidFill>
                </a:ln>
              </p:spPr>
            </p:sp>
            <p:sp>
              <p:nvSpPr>
                <p:cNvPr id="87" name="Line 87"/>
                <p:cNvSpPr/>
                <p:nvPr/>
              </p:nvSpPr>
              <p:spPr>
                <a:xfrm>
                  <a:off x="9382125" y="2571750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9525">
                  <a:solidFill>
                    <a:srgbClr val="8B5CF6">
                      <a:alpha val="40000"/>
                    </a:srgbClr>
                  </a:solidFill>
                </a:ln>
              </p:spPr>
            </p:sp>
            <p:sp>
              <p:nvSpPr>
                <p:cNvPr id="88" name="Line 88"/>
                <p:cNvSpPr/>
                <p:nvPr/>
              </p:nvSpPr>
              <p:spPr>
                <a:xfrm>
                  <a:off x="9382125" y="238125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7620">
                  <a:solidFill>
                    <a:srgbClr val="8B5CF6">
                      <a:alpha val="30000"/>
                    </a:srgbClr>
                  </a:solidFill>
                </a:ln>
              </p:spPr>
            </p:sp>
            <p:sp>
              <p:nvSpPr>
                <p:cNvPr id="89" name="Line 89"/>
                <p:cNvSpPr/>
                <p:nvPr/>
              </p:nvSpPr>
              <p:spPr>
                <a:xfrm>
                  <a:off x="9667875" y="238125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7620">
                  <a:solidFill>
                    <a:srgbClr val="8B5CF6">
                      <a:alpha val="30000"/>
                    </a:srgbClr>
                  </a:solidFill>
                </a:ln>
              </p:spPr>
            </p:sp>
          </p:grpSp>
        </p:grpSp>
        <p:sp>
          <p:nvSpPr>
            <p:cNvPr id="92" name="TextBox 92"/>
            <p:cNvSpPr txBox="1"/>
            <p:nvPr/>
          </p:nvSpPr>
          <p:spPr>
            <a:xfrm>
              <a:off x="9045892" y="2981325"/>
              <a:ext cx="958215" cy="3048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961501" y="3236595"/>
              <a:ext cx="1126998" cy="1828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B7FD4"/>
                  </a:solidFill>
                  <a:latin typeface="Arial"/>
                  <a:ea typeface="Microsoft YaHei"/>
                  <a:cs typeface="Arial"/>
                </a:rPr>
                <a:t>KNOWLEDGE GRAPH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179118" y="3561874"/>
              <a:ext cx="1854589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结构化领域知识表示与存储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179118" y="3780949"/>
              <a:ext cx="1712190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实体关系抽取与语义推理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179118" y="4000024"/>
              <a:ext cx="1712190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支持动态更新与知识融合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191500" y="4333875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8B5CF6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98" name="TextBox 98"/>
            <p:cNvSpPr txBox="1"/>
            <p:nvPr/>
          </p:nvSpPr>
          <p:spPr>
            <a:xfrm>
              <a:off x="8415338" y="4395788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B08FF0"/>
                  </a:solidFill>
                  <a:latin typeface="Arial"/>
                  <a:ea typeface="Microsoft YaHei"/>
                  <a:cs typeface="Arial"/>
                </a:rPr>
                <a:t>本体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953500" y="4333875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8B5CF6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00" name="TextBox 100"/>
            <p:cNvSpPr txBox="1"/>
            <p:nvPr/>
          </p:nvSpPr>
          <p:spPr>
            <a:xfrm>
              <a:off x="9177338" y="4395788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B08FF0"/>
                  </a:solidFill>
                  <a:latin typeface="Arial"/>
                  <a:ea typeface="Microsoft YaHei"/>
                  <a:cs typeface="Arial"/>
                </a:rPr>
                <a:t>推理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715500" y="4333875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8B5CF6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02" name="TextBox 102"/>
            <p:cNvSpPr txBox="1"/>
            <p:nvPr/>
          </p:nvSpPr>
          <p:spPr>
            <a:xfrm>
              <a:off x="9939338" y="4395788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B08FF0"/>
                  </a:solidFill>
                  <a:latin typeface="Arial"/>
                  <a:ea typeface="Microsoft YaHei"/>
                  <a:cs typeface="Arial"/>
                </a:rPr>
                <a:t>融合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191000" y="4667250"/>
            <a:ext cx="3810000" cy="2024062"/>
            <a:chOff x="4191000" y="4667250"/>
            <a:chExt cx="3810000" cy="2024062"/>
          </a:xfrm>
          <a:effectLst>
            <a:outerShdw blurRad="152400" dist="38100" dir="5400000" algn="ctr" rotWithShape="0">
              <a:srgbClr val="000000">
                <a:alpha val="30000"/>
              </a:srgbClr>
            </a:outerShdw>
          </a:effectLst>
        </p:grpSpPr>
        <p:sp>
          <p:nvSpPr>
            <p:cNvPr id="104" name="Rectangle 104"/>
            <p:cNvSpPr/>
            <p:nvPr/>
          </p:nvSpPr>
          <p:spPr>
            <a:xfrm>
              <a:off x="4191000" y="4667250"/>
              <a:ext cx="3810000" cy="1809750"/>
            </a:xfrm>
            <a:prstGeom prst="roundRect">
              <a:avLst>
                <a:gd name="adj" fmla="val 8421"/>
              </a:avLst>
            </a:prstGeom>
            <a:gradFill>
              <a:gsLst>
                <a:gs pos="0">
                  <a:srgbClr val="0F2535">
                    <a:alpha val="95000"/>
                  </a:srgbClr>
                </a:gs>
                <a:gs pos="100000">
                  <a:srgbClr val="0C1A28">
                    <a:alpha val="95000"/>
                  </a:srgbClr>
                </a:gs>
              </a:gsLst>
              <a:lin ang="5400000" scaled="1"/>
            </a:gradFill>
            <a:ln w="14288">
              <a:solidFill>
                <a:srgbClr val="06B6D4">
                  <a:alpha val="95000"/>
                </a:srgbClr>
              </a:solidFill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05" name="Rectangle 105"/>
            <p:cNvSpPr/>
            <p:nvPr/>
          </p:nvSpPr>
          <p:spPr>
            <a:xfrm>
              <a:off x="4191000" y="4667250"/>
              <a:ext cx="3810000" cy="381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117" name="Group 117"/>
            <p:cNvGrpSpPr/>
            <p:nvPr/>
          </p:nvGrpSpPr>
          <p:grpSpPr>
            <a:xfrm>
              <a:off x="5753100" y="4800600"/>
              <a:ext cx="685800" cy="685800"/>
              <a:chOff x="5753100" y="4800600"/>
              <a:chExt cx="685800" cy="685800"/>
            </a:xfrm>
          </p:grpSpPr>
          <p:sp>
            <p:nvSpPr>
              <p:cNvPr id="106" name="Ellipse 106"/>
              <p:cNvSpPr/>
              <p:nvPr/>
            </p:nvSpPr>
            <p:spPr>
              <a:xfrm>
                <a:off x="5753100" y="4800600"/>
                <a:ext cx="685800" cy="685800"/>
              </a:xfrm>
              <a:prstGeom prst="ellipse">
                <a:avLst/>
              </a:prstGeom>
              <a:solidFill>
                <a:srgbClr val="0A1520"/>
              </a:solidFill>
              <a:ln w="14288">
                <a:solidFill>
                  <a:srgbClr val="06B6D4"/>
                </a:solidFill>
              </a:ln>
              <a:effectLst>
                <a:outerShdw blurRad="152400" dist="38100" dir="5400000" algn="ctr" rotWithShape="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id="116" name="Group 116"/>
              <p:cNvGrpSpPr/>
              <p:nvPr/>
            </p:nvGrpSpPr>
            <p:grpSpPr>
              <a:xfrm>
                <a:off x="5822950" y="4953000"/>
                <a:ext cx="546100" cy="381000"/>
                <a:chOff x="5822950" y="4953000"/>
                <a:chExt cx="546100" cy="381000"/>
              </a:xfrm>
              <a:effectLst>
                <a:glow rad="28575">
                  <a:srgbClr val="000000">
                    <a:alpha val="30000"/>
                  </a:srgbClr>
                </a:glow>
              </a:effectLst>
            </p:grpSpPr>
            <p:sp>
              <p:nvSpPr>
                <p:cNvPr id="107" name="Ellipse 107"/>
                <p:cNvSpPr/>
                <p:nvPr/>
              </p:nvSpPr>
              <p:spPr>
                <a:xfrm>
                  <a:off x="5905500" y="5029200"/>
                  <a:ext cx="381000" cy="228600"/>
                </a:xfrm>
                <a:prstGeom prst="ellipse">
                  <a:avLst/>
                </a:prstGeom>
                <a:noFill/>
                <a:ln w="14288">
                  <a:solidFill>
                    <a:srgbClr val="06B6D4"/>
                  </a:solidFill>
                </a:ln>
              </p:spPr>
            </p:sp>
            <p:sp>
              <p:nvSpPr>
                <p:cNvPr id="108" name="Ellipse 108"/>
                <p:cNvSpPr/>
                <p:nvPr/>
              </p:nvSpPr>
              <p:spPr>
                <a:xfrm>
                  <a:off x="6038850" y="5086350"/>
                  <a:ext cx="114300" cy="114300"/>
                </a:xfrm>
                <a:prstGeom prst="ellipse">
                  <a:avLst/>
                </a:prstGeom>
                <a:solidFill>
                  <a:srgbClr val="06B6D4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109" name="Ellipse 109"/>
                <p:cNvSpPr/>
                <p:nvPr/>
              </p:nvSpPr>
              <p:spPr>
                <a:xfrm>
                  <a:off x="6072188" y="5119688"/>
                  <a:ext cx="47625" cy="47625"/>
                </a:xfrm>
                <a:prstGeom prst="ellipse">
                  <a:avLst/>
                </a:prstGeom>
                <a:solidFill>
                  <a:srgbClr val="0A1520"/>
                </a:solidFill>
                <a:ln>
                  <a:noFill/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110" name="Freeform 110"/>
                <p:cNvSpPr/>
                <p:nvPr/>
              </p:nvSpPr>
              <p:spPr>
                <a:xfrm>
                  <a:off x="5854700" y="4953000"/>
                  <a:ext cx="508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190500">
                      <a:moveTo>
                        <a:pt x="50800" y="190500"/>
                      </a:moveTo>
                      <a:cubicBezTo>
                        <a:pt x="0" y="95250"/>
                        <a:pt x="0" y="31750"/>
                        <a:pt x="50800" y="0"/>
                      </a:cubicBezTo>
                    </a:path>
                  </a:pathLst>
                </a:custGeom>
                <a:noFill/>
                <a:ln w="9525">
                  <a:solidFill>
                    <a:srgbClr val="06B6D4">
                      <a:alpha val="50000"/>
                    </a:srgbClr>
                  </a:solidFill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111" name="Freeform 111"/>
                <p:cNvSpPr/>
                <p:nvPr/>
              </p:nvSpPr>
              <p:spPr>
                <a:xfrm>
                  <a:off x="6286500" y="4953000"/>
                  <a:ext cx="508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190500">
                      <a:moveTo>
                        <a:pt x="0" y="190500"/>
                      </a:moveTo>
                      <a:cubicBezTo>
                        <a:pt x="50800" y="95250"/>
                        <a:pt x="50800" y="31750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06B6D4">
                      <a:alpha val="50000"/>
                    </a:srgbClr>
                  </a:solidFill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5854700" y="5143500"/>
                  <a:ext cx="508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190500">
                      <a:moveTo>
                        <a:pt x="50800" y="0"/>
                      </a:moveTo>
                      <a:cubicBezTo>
                        <a:pt x="0" y="95250"/>
                        <a:pt x="0" y="158750"/>
                        <a:pt x="50800" y="190500"/>
                      </a:cubicBezTo>
                    </a:path>
                  </a:pathLst>
                </a:custGeom>
                <a:noFill/>
                <a:ln w="9525">
                  <a:solidFill>
                    <a:srgbClr val="06B6D4">
                      <a:alpha val="50000"/>
                    </a:srgbClr>
                  </a:solidFill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6286500" y="5143500"/>
                  <a:ext cx="508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190500">
                      <a:moveTo>
                        <a:pt x="0" y="0"/>
                      </a:moveTo>
                      <a:cubicBezTo>
                        <a:pt x="50800" y="95250"/>
                        <a:pt x="50800" y="158750"/>
                        <a:pt x="0" y="190500"/>
                      </a:cubicBezTo>
                    </a:path>
                  </a:pathLst>
                </a:custGeom>
                <a:noFill/>
                <a:ln w="9525">
                  <a:solidFill>
                    <a:srgbClr val="06B6D4">
                      <a:alpha val="50000"/>
                    </a:srgbClr>
                  </a:solidFill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114" name="Freeform 114"/>
                <p:cNvSpPr/>
                <p:nvPr/>
              </p:nvSpPr>
              <p:spPr>
                <a:xfrm>
                  <a:off x="5822950" y="4991100"/>
                  <a:ext cx="25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76200">
                      <a:moveTo>
                        <a:pt x="25400" y="76200"/>
                      </a:moveTo>
                      <a:cubicBezTo>
                        <a:pt x="0" y="50800"/>
                        <a:pt x="0" y="25400"/>
                        <a:pt x="25400" y="0"/>
                      </a:cubicBezTo>
                    </a:path>
                  </a:pathLst>
                </a:custGeom>
                <a:noFill/>
                <a:ln w="7620">
                  <a:solidFill>
                    <a:srgbClr val="06B6D4">
                      <a:alpha val="30000"/>
                    </a:srgbClr>
                  </a:solidFill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6343650" y="4991100"/>
                  <a:ext cx="25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76200">
                      <a:moveTo>
                        <a:pt x="0" y="76200"/>
                      </a:moveTo>
                      <a:cubicBezTo>
                        <a:pt x="25400" y="50800"/>
                        <a:pt x="25400" y="25400"/>
                        <a:pt x="0" y="0"/>
                      </a:cubicBezTo>
                    </a:path>
                  </a:pathLst>
                </a:custGeom>
                <a:noFill/>
                <a:ln w="7620">
                  <a:solidFill>
                    <a:srgbClr val="06B6D4">
                      <a:alpha val="30000"/>
                    </a:srgbClr>
                  </a:solidFill>
                </a:ln>
                <a:effectLst>
                  <a:glow rad="28575">
                    <a:srgbClr val="000000">
                      <a:alpha val="30000"/>
                    </a:srgbClr>
                  </a:glow>
                </a:effectLst>
              </p:spPr>
            </p:sp>
          </p:grpSp>
        </p:grpSp>
        <p:sp>
          <p:nvSpPr>
            <p:cNvPr id="118" name="TextBox 118"/>
            <p:cNvSpPr txBox="1"/>
            <p:nvPr/>
          </p:nvSpPr>
          <p:spPr>
            <a:xfrm>
              <a:off x="5501878" y="5553075"/>
              <a:ext cx="1188244" cy="3048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多模态感知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5322189" y="5789295"/>
              <a:ext cx="1547622" cy="1828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A8C4"/>
                  </a:solidFill>
                  <a:latin typeface="Arial"/>
                  <a:ea typeface="Microsoft YaHei"/>
                  <a:cs typeface="Arial"/>
                </a:rPr>
                <a:t>MULTIMODAL PERCEPTION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4464368" y="6038374"/>
              <a:ext cx="2139386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视觉、语音、文本多源信息融合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4464368" y="6228874"/>
              <a:ext cx="1854589" cy="1981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• 跨模态对齐与联合表征学习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4476750" y="6477000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06B6D4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3" name="TextBox 123"/>
            <p:cNvSpPr txBox="1"/>
            <p:nvPr/>
          </p:nvSpPr>
          <p:spPr>
            <a:xfrm>
              <a:off x="4700588" y="6538912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FC3E8"/>
                  </a:solidFill>
                  <a:latin typeface="Arial"/>
                  <a:ea typeface="Microsoft YaHei"/>
                  <a:cs typeface="Arial"/>
                </a:rPr>
                <a:t>视觉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238750" y="6477000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06B6D4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5" name="TextBox 125"/>
            <p:cNvSpPr txBox="1"/>
            <p:nvPr/>
          </p:nvSpPr>
          <p:spPr>
            <a:xfrm>
              <a:off x="5462588" y="6538912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FC3E8"/>
                  </a:solidFill>
                  <a:latin typeface="Arial"/>
                  <a:ea typeface="Microsoft YaHei"/>
                  <a:cs typeface="Arial"/>
                </a:rPr>
                <a:t>语音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6000750" y="6477000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06B6D4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7" name="TextBox 127"/>
            <p:cNvSpPr txBox="1"/>
            <p:nvPr/>
          </p:nvSpPr>
          <p:spPr>
            <a:xfrm>
              <a:off x="6224588" y="6538912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FC3E8"/>
                  </a:solidFill>
                  <a:latin typeface="Arial"/>
                  <a:ea typeface="Microsoft YaHei"/>
                  <a:cs typeface="Arial"/>
                </a:rPr>
                <a:t>文本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762750" y="6477000"/>
              <a:ext cx="685800" cy="209550"/>
            </a:xfrm>
            <a:prstGeom prst="roundRect">
              <a:avLst>
                <a:gd name="adj" fmla="val 50000"/>
              </a:avLst>
            </a:prstGeom>
            <a:solidFill>
              <a:srgbClr val="06B6D4">
                <a:alpha val="15000"/>
              </a:srgbClr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9" name="TextBox 129"/>
            <p:cNvSpPr txBox="1"/>
            <p:nvPr/>
          </p:nvSpPr>
          <p:spPr>
            <a:xfrm>
              <a:off x="6986588" y="6538912"/>
              <a:ext cx="238125" cy="1524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FC3E8"/>
                  </a:solidFill>
                  <a:latin typeface="Arial"/>
                  <a:ea typeface="Microsoft YaHei"/>
                  <a:cs typeface="Arial"/>
                </a:rPr>
                <a:t>融合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4638675" y="3209925"/>
            <a:ext cx="2914650" cy="866775"/>
            <a:chOff x="4638675" y="3209925"/>
            <a:chExt cx="2914650" cy="866775"/>
          </a:xfrm>
        </p:grpSpPr>
        <p:sp>
          <p:nvSpPr>
            <p:cNvPr id="131" name="Ellipse 131"/>
            <p:cNvSpPr/>
            <p:nvPr/>
          </p:nvSpPr>
          <p:spPr>
            <a:xfrm>
              <a:off x="4638675" y="3209925"/>
              <a:ext cx="57150" cy="57150"/>
            </a:xfrm>
            <a:prstGeom prst="ellipse">
              <a:avLst/>
            </a:prstGeom>
            <a:solidFill>
              <a:srgbClr val="3B82F6">
                <a:alpha val="60000"/>
              </a:srgbClr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7496175" y="3209925"/>
              <a:ext cx="57150" cy="57150"/>
            </a:xfrm>
            <a:prstGeom prst="ellipse">
              <a:avLst/>
            </a:prstGeom>
            <a:solidFill>
              <a:srgbClr val="06B6D4">
                <a:alpha val="60000"/>
              </a:srgbClr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6067425" y="4019550"/>
              <a:ext cx="57150" cy="57150"/>
            </a:xfrm>
            <a:prstGeom prst="ellipse">
              <a:avLst/>
            </a:prstGeom>
            <a:solidFill>
              <a:srgbClr val="8B5CF6">
                <a:alpha val="60000"/>
              </a:srgbClr>
            </a:solidFill>
            <a:ln>
              <a:noFill/>
            </a:ln>
          </p:spPr>
        </p:sp>
      </p:grpSp>
      <p:sp>
        <p:nvSpPr>
          <p:cNvPr id="135" name="Rectangle 13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8B5CF6">
                  <a:alpha val="40000"/>
                </a:srgbClr>
              </a:gs>
              <a:gs pos="100000">
                <a:srgbClr val="06B6D4">
                  <a:alpha val="40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40" name="Group 140"/>
          <p:cNvGrpSpPr/>
          <p:nvPr/>
        </p:nvGrpSpPr>
        <p:grpSpPr>
          <a:xfrm>
            <a:off x="285750" y="285750"/>
            <a:ext cx="11620500" cy="6286500"/>
            <a:chOff x="285750" y="285750"/>
            <a:chExt cx="11620500" cy="6286500"/>
          </a:xfrm>
        </p:grpSpPr>
        <p:sp>
          <p:nvSpPr>
            <p:cNvPr id="136" name="Polyline 136"/>
            <p:cNvSpPr/>
            <p:nvPr/>
          </p:nvSpPr>
          <p:spPr>
            <a:xfrm>
              <a:off x="285750" y="285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</a:path>
              </a:pathLst>
            </a:custGeom>
            <a:noFill/>
            <a:ln w="14288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137" name="Polyline 137"/>
            <p:cNvSpPr/>
            <p:nvPr/>
          </p:nvSpPr>
          <p:spPr>
            <a:xfrm>
              <a:off x="11715750" y="285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0" y="0"/>
                  </a:ln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8B5CF6">
                  <a:alpha val="30000"/>
                </a:srgbClr>
              </a:solidFill>
            </a:ln>
          </p:spPr>
        </p:sp>
        <p:sp>
          <p:nvSpPr>
            <p:cNvPr id="138" name="Polyline 138"/>
            <p:cNvSpPr/>
            <p:nvPr/>
          </p:nvSpPr>
          <p:spPr>
            <a:xfrm>
              <a:off x="285750" y="6381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139" name="Polyline 139"/>
            <p:cNvSpPr/>
            <p:nvPr/>
          </p:nvSpPr>
          <p:spPr>
            <a:xfrm>
              <a:off x="11715750" y="6381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190500"/>
                  </a:moveTo>
                  <a:lnTo>
                    <a:pt x="0" y="19050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B82F6">
                  <a:alpha val="3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40" grpId="0"/>
      <p:bldP spid="47" grpId="0"/>
      <p:bldP spid="75" grpId="0"/>
      <p:bldP spid="103" grpId="0"/>
      <p:bldP spid="130" grpId="0"/>
      <p:bldP spid="1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1714500" y="228600"/>
                </a:lnTo>
                <a:lnTo>
                  <a:pt x="228600" y="228600"/>
                </a:lnTo>
                <a:lnTo>
                  <a:pt x="228600" y="1714500"/>
                </a:lnTo>
                <a:lnTo>
                  <a:pt x="0" y="1714500"/>
                </a:lnTo>
                <a:close/>
              </a:path>
            </a:pathLst>
          </a:cu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5905500"/>
            <a:ext cx="1714500" cy="952500"/>
          </a:xfrm>
          <a:custGeom>
            <a:avLst/>
            <a:gdLst/>
            <a:ahLst/>
            <a:cxnLst/>
            <a:rect l="l" t="t" r="r" b="b"/>
            <a:pathLst>
              <a:path w="1714500" h="952500">
                <a:moveTo>
                  <a:pt x="1714500" y="952500"/>
                </a:moveTo>
                <a:lnTo>
                  <a:pt x="0" y="952500"/>
                </a:lnTo>
                <a:lnTo>
                  <a:pt x="0" y="723900"/>
                </a:lnTo>
                <a:lnTo>
                  <a:pt x="723900" y="723900"/>
                </a:lnTo>
                <a:lnTo>
                  <a:pt x="723900" y="0"/>
                </a:lnTo>
                <a:lnTo>
                  <a:pt x="1714500" y="0"/>
                </a:lnTo>
                <a:close/>
              </a:path>
            </a:pathLst>
          </a:custGeom>
          <a:solidFill>
            <a:srgbClr val="38BDF8">
              <a:alpha val="15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4726067" y="2062162"/>
            <a:ext cx="2739866" cy="3157538"/>
            <a:chOff x="4726067" y="2062162"/>
            <a:chExt cx="2739866" cy="3157538"/>
          </a:xfrm>
        </p:grpSpPr>
        <p:sp>
          <p:nvSpPr>
            <p:cNvPr id="6" name="TextBox 6"/>
            <p:cNvSpPr txBox="1"/>
            <p:nvPr/>
          </p:nvSpPr>
          <p:spPr>
            <a:xfrm>
              <a:off x="4726067" y="2062162"/>
              <a:ext cx="2739866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143500" y="35718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38100" cap="rnd">
              <a:solidFill>
                <a:srgbClr val="38BD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019800" y="3495675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105400" y="3533775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010400" y="3533775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62491" y="3911918"/>
              <a:ext cx="1667018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45546" y="4853940"/>
              <a:ext cx="2700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Questions &amp; Answers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6286500"/>
            <a:ext cx="9906000" cy="461962"/>
            <a:chOff x="1143000" y="6286500"/>
            <a:chExt cx="9906000" cy="461962"/>
          </a:xfrm>
        </p:grpSpPr>
        <p:sp>
          <p:nvSpPr>
            <p:cNvPr id="14" name="Line 14"/>
            <p:cNvSpPr/>
            <p:nvPr/>
          </p:nvSpPr>
          <p:spPr>
            <a:xfrm>
              <a:off x="1143000" y="6286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83895" y="6474142"/>
              <a:ext cx="28242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Thank you for your attention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
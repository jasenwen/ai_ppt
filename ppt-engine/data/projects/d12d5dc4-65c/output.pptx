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857250"/>
            <a:ext cx="12192000" cy="8572500"/>
            <a:chOff x="0" y="-857250"/>
            <a:chExt cx="12192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1120"/>
                </a:gs>
                <a:gs pos="100000">
                  <a:srgbClr val="1A233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809750" y="-857250"/>
              <a:ext cx="8572500" cy="8572500"/>
            </a:xfrm>
            <a:prstGeom prst="ellipse">
              <a:avLst/>
            </a:prstGeom>
            <a:gradFill>
              <a:gsLst>
                <a:gs pos="0">
                  <a:srgbClr val="38BDF8">
                    <a:alpha val="12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266825" y="962025"/>
            <a:ext cx="9677400" cy="4819650"/>
            <a:chOff x="1266825" y="962025"/>
            <a:chExt cx="9677400" cy="4819650"/>
          </a:xfrm>
        </p:grpSpPr>
        <p:sp>
          <p:nvSpPr>
            <p:cNvPr id="5" name="Freeform 5"/>
            <p:cNvSpPr/>
            <p:nvPr/>
          </p:nvSpPr>
          <p:spPr>
            <a:xfrm>
              <a:off x="1333500" y="1047750"/>
              <a:ext cx="1905000" cy="1809750"/>
            </a:xfrm>
            <a:custGeom>
              <a:avLst/>
              <a:gdLst/>
              <a:ahLst/>
              <a:cxnLst/>
              <a:rect l="l" t="t" r="r" b="b"/>
              <a:pathLst>
                <a:path w="1905000" h="1809750">
                  <a:moveTo>
                    <a:pt x="0" y="476250"/>
                  </a:moveTo>
                  <a:lnTo>
                    <a:pt x="1333500" y="0"/>
                  </a:lnTo>
                  <a:lnTo>
                    <a:pt x="1905000" y="1047750"/>
                  </a:lnTo>
                  <a:lnTo>
                    <a:pt x="571500" y="1809750"/>
                  </a:lnTo>
                  <a:close/>
                </a:path>
              </a:pathLst>
            </a:custGeom>
            <a:noFill/>
            <a:ln w="19050">
              <a:solidFill>
                <a:srgbClr val="38BDF8">
                  <a:alpha val="3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66825" y="1457325"/>
              <a:ext cx="133350" cy="133350"/>
            </a:xfrm>
            <a:prstGeom prst="ellipse">
              <a:avLst/>
            </a:prstGeom>
            <a:solidFill>
              <a:srgbClr val="38BDF8">
                <a:alpha val="3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581275" y="962025"/>
              <a:ext cx="171450" cy="171450"/>
            </a:xfrm>
            <a:prstGeom prst="ellipse">
              <a:avLst/>
            </a:prstGeom>
            <a:solidFill>
              <a:srgbClr val="818CF8">
                <a:alpha val="3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181350" y="2038350"/>
              <a:ext cx="114300" cy="114300"/>
            </a:xfrm>
            <a:prstGeom prst="ellipse">
              <a:avLst/>
            </a:prstGeom>
            <a:solidFill>
              <a:srgbClr val="38BDF8">
                <a:alpha val="35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828800" y="2781300"/>
              <a:ext cx="152400" cy="152400"/>
            </a:xfrm>
            <a:prstGeom prst="ellipse">
              <a:avLst/>
            </a:prstGeom>
            <a:solidFill>
              <a:srgbClr val="F472B6">
                <a:alpha val="35000"/>
              </a:srgb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333500" y="1047750"/>
              <a:ext cx="1333500" cy="476250"/>
            </a:xfrm>
            <a:custGeom>
              <a:avLst/>
              <a:gdLst/>
              <a:ahLst/>
              <a:cxnLst/>
              <a:rect l="l" t="t" r="r" b="b"/>
              <a:pathLst>
                <a:path w="1333500" h="476250">
                  <a:moveTo>
                    <a:pt x="0" y="47625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38BDF8">
                  <a:alpha val="3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667000" y="1047750"/>
              <a:ext cx="571500" cy="1047750"/>
            </a:xfrm>
            <a:custGeom>
              <a:avLst/>
              <a:gdLst/>
              <a:ahLst/>
              <a:cxnLst/>
              <a:rect l="l" t="t" r="r" b="b"/>
              <a:pathLst>
                <a:path w="571500" h="1047750">
                  <a:moveTo>
                    <a:pt x="0" y="0"/>
                  </a:moveTo>
                  <a:lnTo>
                    <a:pt x="571500" y="1047750"/>
                  </a:lnTo>
                </a:path>
              </a:pathLst>
            </a:custGeom>
            <a:noFill/>
            <a:ln w="19050">
              <a:solidFill>
                <a:srgbClr val="818CF8">
                  <a:alpha val="3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905000" y="20955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133350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rgbClr val="38BDF8">
                  <a:alpha val="3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1524000"/>
              <a:ext cx="571500" cy="1333500"/>
            </a:xfrm>
            <a:custGeom>
              <a:avLst/>
              <a:gdLst/>
              <a:ahLst/>
              <a:cxnLst/>
              <a:rect l="l" t="t" r="r" b="b"/>
              <a:pathLst>
                <a:path w="571500" h="1333500">
                  <a:moveTo>
                    <a:pt x="571500" y="1333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472B6">
                  <a:alpha val="35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953500" y="4191000"/>
              <a:ext cx="1905000" cy="1524000"/>
            </a:xfrm>
            <a:custGeom>
              <a:avLst/>
              <a:gdLst/>
              <a:ahLst/>
              <a:cxnLst/>
              <a:rect l="l" t="t" r="r" b="b"/>
              <a:pathLst>
                <a:path w="1905000" h="1524000">
                  <a:moveTo>
                    <a:pt x="0" y="762000"/>
                  </a:moveTo>
                  <a:lnTo>
                    <a:pt x="762000" y="0"/>
                  </a:lnTo>
                  <a:lnTo>
                    <a:pt x="1905000" y="476250"/>
                  </a:lnTo>
                  <a:lnTo>
                    <a:pt x="1333500" y="1524000"/>
                  </a:lnTo>
                  <a:close/>
                </a:path>
              </a:pathLst>
            </a:custGeom>
            <a:noFill/>
            <a:ln w="19050">
              <a:solidFill>
                <a:srgbClr val="818CF8">
                  <a:alpha val="35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877300" y="4876800"/>
              <a:ext cx="152400" cy="152400"/>
            </a:xfrm>
            <a:prstGeom prst="ellipse">
              <a:avLst/>
            </a:prstGeom>
            <a:solidFill>
              <a:srgbClr val="818CF8">
                <a:alpha val="3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658350" y="4133850"/>
              <a:ext cx="114300" cy="114300"/>
            </a:xfrm>
            <a:prstGeom prst="ellipse">
              <a:avLst/>
            </a:prstGeom>
            <a:solidFill>
              <a:srgbClr val="38BDF8">
                <a:alpha val="3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772775" y="4581525"/>
              <a:ext cx="171450" cy="171450"/>
            </a:xfrm>
            <a:prstGeom prst="ellipse">
              <a:avLst/>
            </a:prstGeom>
            <a:solidFill>
              <a:srgbClr val="F472B6">
                <a:alpha val="3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220325" y="5648325"/>
              <a:ext cx="133350" cy="133350"/>
            </a:xfrm>
            <a:prstGeom prst="ellipse">
              <a:avLst/>
            </a:prstGeom>
            <a:solidFill>
              <a:srgbClr val="818CF8">
                <a:alpha val="35000"/>
              </a:srgbClr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8953500" y="4191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18CF8">
                  <a:alpha val="3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715500" y="4191000"/>
              <a:ext cx="1143000" cy="476250"/>
            </a:xfrm>
            <a:custGeom>
              <a:avLst/>
              <a:gdLst/>
              <a:ahLst/>
              <a:cxnLst/>
              <a:rect l="l" t="t" r="r" b="b"/>
              <a:pathLst>
                <a:path w="1143000" h="476250">
                  <a:moveTo>
                    <a:pt x="0" y="0"/>
                  </a:moveTo>
                  <a:lnTo>
                    <a:pt x="1143000" y="476250"/>
                  </a:lnTo>
                </a:path>
              </a:pathLst>
            </a:custGeom>
            <a:noFill/>
            <a:ln w="19050">
              <a:solidFill>
                <a:srgbClr val="38BDF8">
                  <a:alpha val="3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287000" y="4667250"/>
              <a:ext cx="571500" cy="1047750"/>
            </a:xfrm>
            <a:custGeom>
              <a:avLst/>
              <a:gdLst/>
              <a:ahLst/>
              <a:cxnLst/>
              <a:rect l="l" t="t" r="r" b="b"/>
              <a:pathLst>
                <a:path w="571500" h="1047750">
                  <a:moveTo>
                    <a:pt x="571500" y="0"/>
                  </a:moveTo>
                  <a:lnTo>
                    <a:pt x="0" y="1047750"/>
                  </a:lnTo>
                </a:path>
              </a:pathLst>
            </a:custGeom>
            <a:noFill/>
            <a:ln w="19050">
              <a:solidFill>
                <a:srgbClr val="F472B6">
                  <a:alpha val="3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953500" y="49530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1333500" y="762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818CF8">
                  <a:alpha val="35000"/>
                </a:srgb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97888" y="2354580"/>
            <a:ext cx="11196223" cy="1731645"/>
            <a:chOff x="497888" y="2354580"/>
            <a:chExt cx="11196223" cy="1731645"/>
          </a:xfrm>
        </p:grpSpPr>
        <p:sp>
          <p:nvSpPr>
            <p:cNvPr id="24" name="TextBox 24"/>
            <p:cNvSpPr txBox="1"/>
            <p:nvPr/>
          </p:nvSpPr>
          <p:spPr>
            <a:xfrm>
              <a:off x="497888" y="2354580"/>
              <a:ext cx="11196223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 — 构建机器认知的基石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00500" y="3286125"/>
              <a:ext cx="4191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87140" y="3598545"/>
              <a:ext cx="46177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从数据到知识，从知识到智能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53000" y="5762625"/>
            <a:ext cx="2286000" cy="423863"/>
            <a:chOff x="4953000" y="5762625"/>
            <a:chExt cx="2286000" cy="423863"/>
          </a:xfrm>
        </p:grpSpPr>
        <p:sp>
          <p:nvSpPr>
            <p:cNvPr id="28" name="Rectangle 28"/>
            <p:cNvSpPr/>
            <p:nvPr/>
          </p:nvSpPr>
          <p:spPr>
            <a:xfrm>
              <a:off x="4953000" y="5762625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9050">
              <a:solidFill>
                <a:srgbClr val="33415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89434" y="5851208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2025 · 技术分享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34000" y="421005"/>
            <a:ext cx="1524000" cy="731520"/>
            <a:chOff x="5334000" y="421005"/>
            <a:chExt cx="1524000" cy="731520"/>
          </a:xfrm>
        </p:grpSpPr>
        <p:sp>
          <p:nvSpPr>
            <p:cNvPr id="3" name="TextBox 3"/>
            <p:cNvSpPr txBox="1"/>
            <p:nvPr/>
          </p:nvSpPr>
          <p:spPr>
            <a:xfrm>
              <a:off x="5498211" y="421005"/>
              <a:ext cx="1195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0" y="1047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866900" y="1676400"/>
            <a:ext cx="2912745" cy="2776538"/>
            <a:chOff x="1866900" y="1676400"/>
            <a:chExt cx="2912745" cy="2776538"/>
          </a:xfrm>
        </p:grpSpPr>
        <p:sp>
          <p:nvSpPr>
            <p:cNvPr id="6" name="Ellipse 6"/>
            <p:cNvSpPr/>
            <p:nvPr/>
          </p:nvSpPr>
          <p:spPr>
            <a:xfrm>
              <a:off x="1866900" y="1676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47301" y="1825942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51735" y="1770698"/>
              <a:ext cx="20431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什么是知识图谱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866900" y="2438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21423" y="2587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51735" y="2532698"/>
              <a:ext cx="2327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发展历程与里程碑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866900" y="3200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21423" y="3349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51735" y="3294698"/>
              <a:ext cx="17583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核心技术架构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866900" y="3962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21423" y="4111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51735" y="4056698"/>
              <a:ext cx="2327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知识图谱构建流程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676400"/>
            <a:ext cx="3197542" cy="2776538"/>
            <a:chOff x="6248400" y="1676400"/>
            <a:chExt cx="3197542" cy="2776538"/>
          </a:xfrm>
        </p:grpSpPr>
        <p:sp>
          <p:nvSpPr>
            <p:cNvPr id="19" name="Ellipse 19"/>
            <p:cNvSpPr/>
            <p:nvPr/>
          </p:nvSpPr>
          <p:spPr>
            <a:xfrm>
              <a:off x="6248400" y="1676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2923" y="1825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3235" y="1770698"/>
              <a:ext cx="2327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关键技术深度解析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48400" y="2438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2923" y="2587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33235" y="2532698"/>
              <a:ext cx="261270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经典案例与开源项目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3200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2923" y="3349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33235" y="3294698"/>
              <a:ext cx="17583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应用落地场景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39624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2923" y="411194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3235" y="4056698"/>
              <a:ext cx="20431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挑战与未来趋势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3000" y="6286500"/>
            <a:ext cx="9906000" cy="447675"/>
            <a:chOff x="1143000" y="6286500"/>
            <a:chExt cx="9906000" cy="447675"/>
          </a:xfrm>
        </p:grpSpPr>
        <p:sp>
          <p:nvSpPr>
            <p:cNvPr id="32" name="Line 32"/>
            <p:cNvSpPr/>
            <p:nvPr/>
          </p:nvSpPr>
          <p:spPr>
            <a:xfrm>
              <a:off x="1143000" y="6286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57303" y="6490335"/>
              <a:ext cx="4773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16280" y="563880"/>
            <a:ext cx="10713720" cy="731520"/>
            <a:chOff x="716280" y="563880"/>
            <a:chExt cx="10713720" cy="731520"/>
          </a:xfrm>
        </p:grpSpPr>
        <p:sp>
          <p:nvSpPr>
            <p:cNvPr id="4" name="TextBox 4"/>
            <p:cNvSpPr txBox="1"/>
            <p:nvPr/>
          </p:nvSpPr>
          <p:spPr>
            <a:xfrm>
              <a:off x="716280" y="563880"/>
              <a:ext cx="39559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什么是知识图谱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661809" y="790575"/>
              <a:ext cx="5967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3 / 12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238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62000" y="1524000"/>
            <a:ext cx="10668000" cy="3143250"/>
            <a:chOff x="762000" y="1524000"/>
            <a:chExt cx="10668000" cy="3143250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524000"/>
              <a:ext cx="5143500" cy="1428750"/>
              <a:chOff x="762000" y="1524000"/>
              <a:chExt cx="5143500" cy="1428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51435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866775" y="1628775"/>
                <a:ext cx="457200" cy="4572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41821" y="1752600"/>
                <a:ext cx="10710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53515" y="1663065"/>
                <a:ext cx="5977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定义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59230" y="2092642"/>
                <a:ext cx="31889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以图结构组织实体及其关系的知识库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286500" y="1524000"/>
              <a:ext cx="5143500" cy="1428750"/>
              <a:chOff x="6286500" y="1524000"/>
              <a:chExt cx="5143500" cy="1428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286500" y="1524000"/>
                <a:ext cx="51435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6391275" y="1628775"/>
                <a:ext cx="457200" cy="4572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537567" y="17526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59669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78015" y="1663065"/>
                <a:ext cx="142589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三元组基础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983730" y="2092642"/>
                <a:ext cx="281435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(实体, 关系, 实体) 的语义网络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238500"/>
              <a:ext cx="5143500" cy="1428750"/>
              <a:chOff x="762000" y="3238500"/>
              <a:chExt cx="5143500" cy="1428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3238500"/>
                <a:ext cx="51435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866775" y="3343275"/>
                <a:ext cx="457200" cy="457200"/>
              </a:xfrm>
              <a:prstGeom prst="ellipse">
                <a:avLst/>
              </a:prstGeom>
              <a:solidFill>
                <a:srgbClr val="FFF7E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3067" y="34671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D97706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53515" y="3377565"/>
                <a:ext cx="5977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本质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459230" y="3807142"/>
                <a:ext cx="37804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从「数据」到「信息」再到「知识」的升华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3238500"/>
              <a:ext cx="5143500" cy="1428750"/>
              <a:chOff x="6286500" y="3238500"/>
              <a:chExt cx="5143500" cy="14287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286500" y="3238500"/>
                <a:ext cx="51435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6391275" y="3343275"/>
                <a:ext cx="457200" cy="457200"/>
              </a:xfrm>
              <a:prstGeom prst="ellipse">
                <a:avLst/>
              </a:prstGeom>
              <a:solidFill>
                <a:srgbClr val="F5F3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537567" y="34671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7C3AED"/>
                    </a:solidFill>
                    <a:latin typeface="Segoe UI"/>
                    <a:ea typeface="Microsoft YaHei"/>
                    <a:cs typeface="Segoe UI"/>
                  </a:rPr>
                  <a:t>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978015" y="3377565"/>
                <a:ext cx="5977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类比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983730" y="3807142"/>
                <a:ext cx="22031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机器世界的「认知地图」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8839891" y="4381500"/>
            <a:ext cx="2322719" cy="2243138"/>
            <a:chOff x="8839891" y="4381500"/>
            <a:chExt cx="2322719" cy="2243138"/>
          </a:xfrm>
        </p:grpSpPr>
        <p:sp>
          <p:nvSpPr>
            <p:cNvPr id="33" name="Line 33"/>
            <p:cNvSpPr/>
            <p:nvPr/>
          </p:nvSpPr>
          <p:spPr>
            <a:xfrm>
              <a:off x="9048750" y="4572000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38100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0001250" y="45720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9525000" y="4572000"/>
              <a:ext cx="476250" cy="1143000"/>
            </a:xfrm>
            <a:custGeom>
              <a:avLst/>
              <a:gdLst/>
              <a:ahLst/>
              <a:cxnLst/>
              <a:rect l="l" t="t" r="r" b="b"/>
              <a:pathLst>
                <a:path w="476250" h="1143000">
                  <a:moveTo>
                    <a:pt x="47625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525000" y="57150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0477500" y="5048250"/>
              <a:ext cx="476250" cy="1143000"/>
            </a:xfrm>
            <a:custGeom>
              <a:avLst/>
              <a:gdLst/>
              <a:ahLst/>
              <a:cxnLst/>
              <a:rect l="l" t="t" r="r" b="b"/>
              <a:pathLst>
                <a:path w="476250" h="1143000">
                  <a:moveTo>
                    <a:pt x="0" y="114300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048750" y="49530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0"/>
                  </a:moveTo>
                  <a:lnTo>
                    <a:pt x="476250" y="762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896350" y="4800600"/>
              <a:ext cx="304800" cy="3048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810750" y="4381500"/>
              <a:ext cx="381000" cy="381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820400" y="4914900"/>
              <a:ext cx="266700" cy="2667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353550" y="5543550"/>
              <a:ext cx="342900" cy="3429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363200" y="6076950"/>
              <a:ext cx="228600" cy="228600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39891" y="517302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92391" y="479202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44891" y="526827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16141" y="593502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68641" y="641127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实体E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746760" y="6347460"/>
            <a:ext cx="27031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© 2024 AI Knowledge Base Series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935920" y="532448"/>
            <a:ext cx="4320159" cy="701040"/>
            <a:chOff x="3935920" y="532448"/>
            <a:chExt cx="4320159" cy="701040"/>
          </a:xfrm>
        </p:grpSpPr>
        <p:sp>
          <p:nvSpPr>
            <p:cNvPr id="3" name="TextBox 3"/>
            <p:cNvSpPr txBox="1"/>
            <p:nvPr/>
          </p:nvSpPr>
          <p:spPr>
            <a:xfrm>
              <a:off x="3935920" y="532448"/>
              <a:ext cx="4320159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发展历程与里程碑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381500" y="1190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47625" cap="rnd">
              <a:solidFill>
                <a:srgbClr val="3B82F6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-71652" y="2286000"/>
            <a:ext cx="11602593" cy="3048000"/>
            <a:chOff x="-71652" y="2286000"/>
            <a:chExt cx="11602593" cy="3048000"/>
          </a:xfrm>
        </p:grpSpPr>
        <p:sp>
          <p:nvSpPr>
            <p:cNvPr id="6" name="Rectangle 6"/>
            <p:cNvSpPr/>
            <p:nvPr/>
          </p:nvSpPr>
          <p:spPr>
            <a:xfrm>
              <a:off x="857250" y="2286000"/>
              <a:ext cx="1047750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3810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76200" cap="rnd">
              <a:solidFill>
                <a:srgbClr val="CBD5E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-71652" y="3138488"/>
              <a:ext cx="3572304" cy="1624012"/>
              <a:chOff x="-71652" y="3138488"/>
              <a:chExt cx="3572304" cy="1624012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562100" y="3657600"/>
                <a:ext cx="304800" cy="3048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657350" y="37528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54621" y="3138488"/>
                <a:ext cx="91975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1960s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-71652" y="4155758"/>
                <a:ext cx="357230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语义网络 (Semantic Networks)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47762" y="4457700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概念的提出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231666" y="3138488"/>
              <a:ext cx="2680668" cy="1624012"/>
              <a:chOff x="3231666" y="3138488"/>
              <a:chExt cx="2680668" cy="1624012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4419600" y="3657600"/>
                <a:ext cx="304800" cy="304800"/>
              </a:xfrm>
              <a:prstGeom prst="ellipse">
                <a:avLst/>
              </a:prstGeom>
              <a:solidFill>
                <a:srgbClr val="0891B2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514850" y="37528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63878" y="3138488"/>
                <a:ext cx="81624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2006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231666" y="4155758"/>
                <a:ext cx="26806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链接数据 (Linked Data)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114800" y="4457700"/>
                <a:ext cx="914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运动兴起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402744" y="3138488"/>
              <a:ext cx="2053511" cy="1638300"/>
              <a:chOff x="6402744" y="3138488"/>
              <a:chExt cx="2053511" cy="16383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277100" y="3657600"/>
                <a:ext cx="304800" cy="3048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372350" y="37528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064508" y="3138488"/>
                <a:ext cx="72998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2012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22934" y="4155758"/>
                <a:ext cx="181313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Google 正式提出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02744" y="4441508"/>
                <a:ext cx="205351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Knowledge Graph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043059" y="3138488"/>
              <a:ext cx="2487882" cy="1638300"/>
              <a:chOff x="9043059" y="3138488"/>
              <a:chExt cx="2487882" cy="16383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10134600" y="3657600"/>
                <a:ext cx="304800" cy="304800"/>
              </a:xfrm>
              <a:prstGeom prst="ellipse">
                <a:avLst/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0229850" y="37528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482078" y="3138488"/>
                <a:ext cx="160984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2018-至今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043059" y="4155758"/>
                <a:ext cx="24878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大语言模型 + 知识图谱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633466" y="4441508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融合新时代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61937"/>
            <a:chOff x="0" y="6619875"/>
            <a:chExt cx="12192000" cy="261937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87782" y="6668452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第 4 / 12 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771525"/>
            <a:chOff x="0" y="0"/>
            <a:chExt cx="12192000" cy="771525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961382" y="2171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核心技术架构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24000" y="1143000"/>
            <a:ext cx="9144000" cy="685800"/>
            <a:chOff x="1524000" y="1143000"/>
            <a:chExt cx="9144000" cy="685800"/>
          </a:xfrm>
        </p:grpSpPr>
        <p:sp>
          <p:nvSpPr>
            <p:cNvPr id="7" name="Rectangle 7"/>
            <p:cNvSpPr/>
            <p:nvPr/>
          </p:nvSpPr>
          <p:spPr>
            <a:xfrm>
              <a:off x="1524000" y="1143000"/>
              <a:ext cx="9144000" cy="68580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1430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84045" y="1231582"/>
              <a:ext cx="10919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40AF"/>
                  </a:solidFill>
                  <a:latin typeface="Segoe UI"/>
                  <a:ea typeface="Microsoft YaHei"/>
                  <a:cs typeface="Segoe UI"/>
                </a:rPr>
                <a:t>1. 数据层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89760" y="1508760"/>
              <a:ext cx="28521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结构化/半结构化/非结构化数据来源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4000" y="2019300"/>
            <a:ext cx="9144000" cy="685800"/>
            <a:chOff x="1524000" y="2019300"/>
            <a:chExt cx="9144000" cy="685800"/>
          </a:xfrm>
        </p:grpSpPr>
        <p:sp>
          <p:nvSpPr>
            <p:cNvPr id="12" name="Rectangle 12"/>
            <p:cNvSpPr/>
            <p:nvPr/>
          </p:nvSpPr>
          <p:spPr>
            <a:xfrm>
              <a:off x="1524000" y="2019300"/>
              <a:ext cx="9144000" cy="6858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9050">
              <a:solidFill>
                <a:srgbClr val="BBF7D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24000" y="20193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84045" y="2107882"/>
              <a:ext cx="16613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6534"/>
                  </a:solidFill>
                  <a:latin typeface="Segoe UI"/>
                  <a:ea typeface="Microsoft YaHei"/>
                  <a:cs typeface="Segoe UI"/>
                </a:rPr>
                <a:t>2. 知识抽取层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89760" y="2385060"/>
              <a:ext cx="2072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NER、关系抽取、事件抽取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24000" y="2895600"/>
            <a:ext cx="9144000" cy="685800"/>
            <a:chOff x="1524000" y="2895600"/>
            <a:chExt cx="9144000" cy="685800"/>
          </a:xfrm>
        </p:grpSpPr>
        <p:sp>
          <p:nvSpPr>
            <p:cNvPr id="17" name="Rectangle 17"/>
            <p:cNvSpPr/>
            <p:nvPr/>
          </p:nvSpPr>
          <p:spPr>
            <a:xfrm>
              <a:off x="1524000" y="2895600"/>
              <a:ext cx="9144000" cy="685800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19050">
              <a:solidFill>
                <a:srgbClr val="FED7A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524000" y="28956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84045" y="2984182"/>
              <a:ext cx="16613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9A3412"/>
                  </a:solidFill>
                  <a:latin typeface="Segoe UI"/>
                  <a:ea typeface="Microsoft YaHei"/>
                  <a:cs typeface="Segoe UI"/>
                </a:rPr>
                <a:t>3. 知识融合层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9760" y="32613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实体对齐、知识合并、冲突消解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24000" y="3771900"/>
            <a:ext cx="9144000" cy="685800"/>
            <a:chOff x="1524000" y="3771900"/>
            <a:chExt cx="9144000" cy="685800"/>
          </a:xfrm>
        </p:grpSpPr>
        <p:sp>
          <p:nvSpPr>
            <p:cNvPr id="22" name="Rectangle 22"/>
            <p:cNvSpPr/>
            <p:nvPr/>
          </p:nvSpPr>
          <p:spPr>
            <a:xfrm>
              <a:off x="1524000" y="3771900"/>
              <a:ext cx="9144000" cy="68580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19050">
              <a:solidFill>
                <a:srgbClr val="DDD6FE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524000" y="37719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84045" y="3860482"/>
              <a:ext cx="24204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B21B6"/>
                  </a:solidFill>
                  <a:latin typeface="Segoe UI"/>
                  <a:ea typeface="Microsoft YaHei"/>
                  <a:cs typeface="Segoe UI"/>
                </a:rPr>
                <a:t>4. 知识存储与查询层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9760" y="4137660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图数据库 (Neo4j, JanusGraph)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24000" y="4648200"/>
            <a:ext cx="9144000" cy="685800"/>
            <a:chOff x="1524000" y="4648200"/>
            <a:chExt cx="9144000" cy="685800"/>
          </a:xfrm>
        </p:grpSpPr>
        <p:sp>
          <p:nvSpPr>
            <p:cNvPr id="27" name="Rectangle 27"/>
            <p:cNvSpPr/>
            <p:nvPr/>
          </p:nvSpPr>
          <p:spPr>
            <a:xfrm>
              <a:off x="1524000" y="4648200"/>
              <a:ext cx="9144000" cy="685800"/>
            </a:xfrm>
            <a:prstGeom prst="roundRect">
              <a:avLst>
                <a:gd name="adj" fmla="val 16667"/>
              </a:avLst>
            </a:prstGeom>
            <a:solidFill>
              <a:srgbClr val="FDF2F8"/>
            </a:solidFill>
            <a:ln w="19050">
              <a:solidFill>
                <a:srgbClr val="FBCFE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24000" y="46482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84045" y="4736782"/>
              <a:ext cx="24204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9D174D"/>
                  </a:solidFill>
                  <a:latin typeface="Segoe UI"/>
                  <a:ea typeface="Microsoft YaHei"/>
                  <a:cs typeface="Segoe UI"/>
                </a:rPr>
                <a:t>5. 知识推理与应用层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9760" y="50139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推理引擎、问答系统、推荐系统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0" y="1828800"/>
            <a:ext cx="114300" cy="2781300"/>
            <a:chOff x="6038850" y="1828800"/>
            <a:chExt cx="114300" cy="2781300"/>
          </a:xfrm>
        </p:grpSpPr>
        <p:sp>
          <p:nvSpPr>
            <p:cNvPr id="32" name="Freeform 32"/>
            <p:cNvSpPr/>
            <p:nvPr/>
          </p:nvSpPr>
          <p:spPr>
            <a:xfrm>
              <a:off x="6038850" y="18288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57150" y="0"/>
                  </a:moveTo>
                  <a:lnTo>
                    <a:pt x="57150" y="114300"/>
                  </a:lnTo>
                  <a:moveTo>
                    <a:pt x="0" y="76200"/>
                  </a:moveTo>
                  <a:lnTo>
                    <a:pt x="57150" y="152400"/>
                  </a:lnTo>
                  <a:lnTo>
                    <a:pt x="114300" y="76200"/>
                  </a:lnTo>
                </a:path>
              </a:pathLst>
            </a:custGeom>
            <a:noFill/>
            <a:ln w="28575" cap="rnd">
              <a:solidFill>
                <a:srgbClr val="94A3B8"/>
              </a:solidFill>
              <a:round/>
            </a:ln>
          </p:spPr>
        </p:sp>
        <p:sp>
          <p:nvSpPr>
            <p:cNvPr id="33" name="Freeform 33"/>
            <p:cNvSpPr/>
            <p:nvPr/>
          </p:nvSpPr>
          <p:spPr>
            <a:xfrm>
              <a:off x="6038850" y="27051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57150" y="0"/>
                  </a:moveTo>
                  <a:lnTo>
                    <a:pt x="57150" y="114300"/>
                  </a:lnTo>
                  <a:moveTo>
                    <a:pt x="0" y="76200"/>
                  </a:moveTo>
                  <a:lnTo>
                    <a:pt x="57150" y="152400"/>
                  </a:lnTo>
                  <a:lnTo>
                    <a:pt x="114300" y="76200"/>
                  </a:lnTo>
                </a:path>
              </a:pathLst>
            </a:custGeom>
            <a:noFill/>
            <a:ln w="28575" cap="rnd">
              <a:solidFill>
                <a:srgbClr val="94A3B8"/>
              </a:solidFill>
              <a:round/>
            </a:ln>
          </p:spPr>
        </p:sp>
        <p:sp>
          <p:nvSpPr>
            <p:cNvPr id="34" name="Freeform 34"/>
            <p:cNvSpPr/>
            <p:nvPr/>
          </p:nvSpPr>
          <p:spPr>
            <a:xfrm>
              <a:off x="6038850" y="35814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57150" y="0"/>
                  </a:moveTo>
                  <a:lnTo>
                    <a:pt x="57150" y="114300"/>
                  </a:lnTo>
                  <a:moveTo>
                    <a:pt x="0" y="76200"/>
                  </a:moveTo>
                  <a:lnTo>
                    <a:pt x="57150" y="152400"/>
                  </a:lnTo>
                  <a:lnTo>
                    <a:pt x="114300" y="76200"/>
                  </a:lnTo>
                </a:path>
              </a:pathLst>
            </a:custGeom>
            <a:noFill/>
            <a:ln w="28575" cap="rnd">
              <a:solidFill>
                <a:srgbClr val="94A3B8"/>
              </a:solidFill>
              <a:round/>
            </a:ln>
          </p:spPr>
        </p:sp>
        <p:sp>
          <p:nvSpPr>
            <p:cNvPr id="35" name="Freeform 35"/>
            <p:cNvSpPr/>
            <p:nvPr/>
          </p:nvSpPr>
          <p:spPr>
            <a:xfrm>
              <a:off x="6038850" y="44577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57150" y="0"/>
                  </a:moveTo>
                  <a:lnTo>
                    <a:pt x="57150" y="114300"/>
                  </a:lnTo>
                  <a:moveTo>
                    <a:pt x="0" y="76200"/>
                  </a:moveTo>
                  <a:lnTo>
                    <a:pt x="57150" y="152400"/>
                  </a:lnTo>
                  <a:lnTo>
                    <a:pt x="114300" y="76200"/>
                  </a:lnTo>
                </a:path>
              </a:pathLst>
            </a:custGeom>
            <a:noFill/>
            <a:ln w="28575" cap="rnd">
              <a:solidFill>
                <a:srgbClr val="94A3B8"/>
              </a:solidFill>
              <a:round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31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311586" y="406718"/>
            <a:ext cx="3568827" cy="579120"/>
            <a:chOff x="4311586" y="406718"/>
            <a:chExt cx="3568827" cy="579120"/>
          </a:xfrm>
        </p:grpSpPr>
        <p:sp>
          <p:nvSpPr>
            <p:cNvPr id="3" name="TextBox 3"/>
            <p:cNvSpPr txBox="1"/>
            <p:nvPr/>
          </p:nvSpPr>
          <p:spPr>
            <a:xfrm>
              <a:off x="4311586" y="406718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知识图谱构建流程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0" y="95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sp>
        <p:nvSpPr>
          <p:cNvPr id="6" name="Ellipse 6"/>
          <p:cNvSpPr/>
          <p:nvPr/>
        </p:nvSpPr>
        <p:spPr>
          <a:xfrm>
            <a:off x="571500" y="2095500"/>
            <a:ext cx="11049000" cy="28575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2619375" y="3524250"/>
            <a:ext cx="8096250" cy="9525"/>
            <a:chOff x="2619375" y="3524250"/>
            <a:chExt cx="8096250" cy="9525"/>
          </a:xfrm>
        </p:grpSpPr>
        <p:sp>
          <p:nvSpPr>
            <p:cNvPr id="7" name="Freeform 7"/>
            <p:cNvSpPr/>
            <p:nvPr/>
          </p:nvSpPr>
          <p:spPr>
            <a:xfrm>
              <a:off x="2619375" y="3524250"/>
              <a:ext cx="8096250" cy="9525"/>
            </a:xfrm>
            <a:custGeom>
              <a:avLst/>
              <a:gdLst/>
              <a:ahLst/>
              <a:cxnLst/>
              <a:rect l="l" t="t" r="r" b="b"/>
              <a:pathLst>
                <a:path w="8096250" h="9525">
                  <a:moveTo>
                    <a:pt x="0" y="0"/>
                  </a:moveTo>
                  <a:lnTo>
                    <a:pt x="809625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90625" y="2667000"/>
            <a:ext cx="1428750" cy="1714500"/>
            <a:chOff x="1190625" y="2667000"/>
            <a:chExt cx="1428750" cy="1714500"/>
          </a:xfrm>
        </p:grpSpPr>
        <p:sp>
          <p:nvSpPr>
            <p:cNvPr id="9" name="Rectangle 9"/>
            <p:cNvSpPr/>
            <p:nvPr/>
          </p:nvSpPr>
          <p:spPr>
            <a:xfrm>
              <a:off x="1190625" y="2667000"/>
              <a:ext cx="142875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52600" y="2847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67512" y="29441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45669" y="3259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数据采集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7790" y="35223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多源异构数据获取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095625" y="2667000"/>
            <a:ext cx="1428750" cy="1714500"/>
            <a:chOff x="3095625" y="2667000"/>
            <a:chExt cx="1428750" cy="1714500"/>
          </a:xfrm>
        </p:grpSpPr>
        <p:sp>
          <p:nvSpPr>
            <p:cNvPr id="15" name="Rectangle 15"/>
            <p:cNvSpPr/>
            <p:nvPr/>
          </p:nvSpPr>
          <p:spPr>
            <a:xfrm>
              <a:off x="3095625" y="2667000"/>
              <a:ext cx="142875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657600" y="2847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52384" y="2944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0669" y="3259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知识抽取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41345" y="35223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实体、关系、属性抽取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00625" y="2667000"/>
            <a:ext cx="1428750" cy="1714500"/>
            <a:chOff x="5000625" y="2667000"/>
            <a:chExt cx="1428750" cy="1714500"/>
          </a:xfrm>
        </p:grpSpPr>
        <p:sp>
          <p:nvSpPr>
            <p:cNvPr id="21" name="Rectangle 21"/>
            <p:cNvSpPr/>
            <p:nvPr/>
          </p:nvSpPr>
          <p:spPr>
            <a:xfrm>
              <a:off x="5000625" y="2667000"/>
              <a:ext cx="142875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562600" y="2847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7384" y="2944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55669" y="3259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知识融合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3512" y="35223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实体对齐与消歧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905625" y="2667000"/>
            <a:ext cx="1428750" cy="1714500"/>
            <a:chOff x="6905625" y="2667000"/>
            <a:chExt cx="1428750" cy="1714500"/>
          </a:xfrm>
        </p:grpSpPr>
        <p:sp>
          <p:nvSpPr>
            <p:cNvPr id="27" name="Rectangle 27"/>
            <p:cNvSpPr/>
            <p:nvPr/>
          </p:nvSpPr>
          <p:spPr>
            <a:xfrm>
              <a:off x="6905625" y="2667000"/>
              <a:ext cx="142875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467600" y="2847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2384" y="2944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60669" y="3259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知识存储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17067" y="3522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图数据库建模与导入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59178" y="2667000"/>
            <a:ext cx="1731645" cy="1714500"/>
            <a:chOff x="8659178" y="2667000"/>
            <a:chExt cx="1731645" cy="1714500"/>
          </a:xfrm>
        </p:grpSpPr>
        <p:sp>
          <p:nvSpPr>
            <p:cNvPr id="33" name="Rectangle 33"/>
            <p:cNvSpPr/>
            <p:nvPr/>
          </p:nvSpPr>
          <p:spPr>
            <a:xfrm>
              <a:off x="8810625" y="2667000"/>
              <a:ext cx="142875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372600" y="2847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7384" y="2944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65669" y="3259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质量评估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9178" y="35223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一致性、完整性、准确性校验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715625" y="2667000"/>
            <a:ext cx="1428750" cy="1714500"/>
            <a:chOff x="10715625" y="2667000"/>
            <a:chExt cx="1428750" cy="1714500"/>
          </a:xfrm>
        </p:grpSpPr>
        <p:sp>
          <p:nvSpPr>
            <p:cNvPr id="39" name="Rectangle 39"/>
            <p:cNvSpPr/>
            <p:nvPr/>
          </p:nvSpPr>
          <p:spPr>
            <a:xfrm>
              <a:off x="10715625" y="2667000"/>
              <a:ext cx="142875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277600" y="2847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372384" y="29441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70669" y="3259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持续更新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27068" y="3522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增量学习与动态维护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095625" y="3457575"/>
            <a:ext cx="7715250" cy="133350"/>
            <a:chOff x="3095625" y="3457575"/>
            <a:chExt cx="7715250" cy="133350"/>
          </a:xfrm>
        </p:grpSpPr>
        <p:sp>
          <p:nvSpPr>
            <p:cNvPr id="45" name="Polygon 45"/>
            <p:cNvSpPr/>
            <p:nvPr/>
          </p:nvSpPr>
          <p:spPr>
            <a:xfrm>
              <a:off x="3095625" y="345757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6" name="Polygon 46"/>
            <p:cNvSpPr/>
            <p:nvPr/>
          </p:nvSpPr>
          <p:spPr>
            <a:xfrm>
              <a:off x="5000625" y="345757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7" name="Polygon 47"/>
            <p:cNvSpPr/>
            <p:nvPr/>
          </p:nvSpPr>
          <p:spPr>
            <a:xfrm>
              <a:off x="6905625" y="345757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8" name="Polygon 48"/>
            <p:cNvSpPr/>
            <p:nvPr/>
          </p:nvSpPr>
          <p:spPr>
            <a:xfrm>
              <a:off x="8810625" y="345757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9" name="Polygon 49"/>
            <p:cNvSpPr/>
            <p:nvPr/>
          </p:nvSpPr>
          <p:spPr>
            <a:xfrm>
              <a:off x="10715625" y="345757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762000" y="6477000"/>
            <a:ext cx="11062335" cy="242888"/>
            <a:chOff x="762000" y="6477000"/>
            <a:chExt cx="11062335" cy="242888"/>
          </a:xfrm>
        </p:grpSpPr>
        <p:sp>
          <p:nvSpPr>
            <p:cNvPr id="51" name="Line 51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406616" y="6506528"/>
              <a:ext cx="417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0" grpId="0"/>
      <p:bldP spid="26" grpId="0"/>
      <p:bldP spid="32" grpId="0"/>
      <p:bldP spid="38" grpId="0"/>
      <p:bldP spid="44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217670" y="533400"/>
            <a:ext cx="3756660" cy="609600"/>
            <a:chOff x="4217670" y="533400"/>
            <a:chExt cx="3756660" cy="609600"/>
          </a:xfrm>
        </p:grpSpPr>
        <p:sp>
          <p:nvSpPr>
            <p:cNvPr id="4" name="TextBox 4"/>
            <p:cNvSpPr txBox="1"/>
            <p:nvPr/>
          </p:nvSpPr>
          <p:spPr>
            <a:xfrm>
              <a:off x="4217670" y="533400"/>
              <a:ext cx="375666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关键技术深度解析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953000" y="10953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94A3B8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52500" y="2667000"/>
            <a:ext cx="10287000" cy="2952750"/>
            <a:chOff x="952500" y="2667000"/>
            <a:chExt cx="10287000" cy="2952750"/>
          </a:xfrm>
        </p:grpSpPr>
        <p:grpSp>
          <p:nvGrpSpPr>
            <p:cNvPr id="12" name="Group 12"/>
            <p:cNvGrpSpPr/>
            <p:nvPr/>
          </p:nvGrpSpPr>
          <p:grpSpPr>
            <a:xfrm>
              <a:off x="952500" y="2667000"/>
              <a:ext cx="5334000" cy="857250"/>
              <a:chOff x="952500" y="2667000"/>
              <a:chExt cx="5334000" cy="857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952500" y="2667000"/>
                <a:ext cx="53340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23950" y="2886075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40050" y="3023235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93545" y="2822258"/>
                <a:ext cx="233184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命名实体识别 (NER)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99260" y="3156585"/>
                <a:ext cx="32026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BiLSTM-CRF / BERT 等深度学习模型架构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952500" y="3714750"/>
              <a:ext cx="5334000" cy="857250"/>
              <a:chOff x="952500" y="3714750"/>
              <a:chExt cx="5334000" cy="857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52500" y="3714750"/>
                <a:ext cx="53340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123950" y="3933825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17047" y="4070985"/>
                <a:ext cx="2329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693545" y="387000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关系抽取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99260" y="4204335"/>
                <a:ext cx="32552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远程监督、Prompt-tuning 高效微调方法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52500" y="4762500"/>
              <a:ext cx="5334000" cy="857250"/>
              <a:chOff x="952500" y="4762500"/>
              <a:chExt cx="5334000" cy="857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52500" y="4762500"/>
                <a:ext cx="53340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1123950" y="4981575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17047" y="5118735"/>
                <a:ext cx="2329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693545" y="4917758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知识表示学习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99260" y="5252085"/>
                <a:ext cx="3342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TransE, TransR, RotatE 等向量空间映射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77000" y="2667000"/>
              <a:ext cx="4762500" cy="857250"/>
              <a:chOff x="6477000" y="2667000"/>
              <a:chExt cx="4762500" cy="8572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477000" y="2667000"/>
                <a:ext cx="4762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6648450" y="2886075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41547" y="3023235"/>
                <a:ext cx="2329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218045" y="2822258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图神经网络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23760" y="3156585"/>
                <a:ext cx="32640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GCN, GAT 在知识图谱节点分类与链接预测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477000" y="3714750"/>
              <a:ext cx="4762500" cy="857250"/>
              <a:chOff x="6477000" y="3714750"/>
              <a:chExt cx="4762500" cy="857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77000" y="3714750"/>
                <a:ext cx="4762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648450" y="3933825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41547" y="4070985"/>
                <a:ext cx="2329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218045" y="3870008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知识图谱补全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23760" y="4204335"/>
                <a:ext cx="3009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链接预测、逻辑推理与缺失边补全技术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524500" y="6477000"/>
            <a:ext cx="1143000" cy="338138"/>
            <a:chOff x="5524500" y="6477000"/>
            <a:chExt cx="1143000" cy="338138"/>
          </a:xfrm>
        </p:grpSpPr>
        <p:sp>
          <p:nvSpPr>
            <p:cNvPr id="38" name="Line 38"/>
            <p:cNvSpPr/>
            <p:nvPr/>
          </p:nvSpPr>
          <p:spPr>
            <a:xfrm>
              <a:off x="5524500" y="6477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91616" y="6601778"/>
              <a:ext cx="8087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Slide 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9525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1995" y="421958"/>
            <a:ext cx="442755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经典案例与开源项目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1238250"/>
            <a:ext cx="5143500" cy="1619250"/>
            <a:chOff x="762000" y="1238250"/>
            <a:chExt cx="5143500" cy="161925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514350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52500" y="14287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2057" y="14992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2075" y="1504950"/>
              <a:ext cx="2637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Google Knowledge Graph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6838" y="1831181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搜索引擎的智能引擎，实现语义搜索与实体关联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238250"/>
            <a:ext cx="5143500" cy="1619250"/>
            <a:chOff x="6286500" y="1238250"/>
            <a:chExt cx="5143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238250"/>
              <a:ext cx="514350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77000" y="14287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63554" y="14992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86575" y="1504950"/>
              <a:ext cx="9812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Wikidata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91338" y="1831181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全球最大的协作知识图谱，支持多语言开放数据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3048000"/>
            <a:ext cx="5143500" cy="1619250"/>
            <a:chOff x="762000" y="3048000"/>
            <a:chExt cx="5143500" cy="1619250"/>
          </a:xfrm>
        </p:grpSpPr>
        <p:sp>
          <p:nvSpPr>
            <p:cNvPr id="17" name="Rectangle 17"/>
            <p:cNvSpPr/>
            <p:nvPr/>
          </p:nvSpPr>
          <p:spPr>
            <a:xfrm>
              <a:off x="762000" y="3048000"/>
              <a:ext cx="514350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2500" y="323850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9054" y="33089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2075" y="3314700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DBpedia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6838" y="3640931"/>
              <a:ext cx="35200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从 Wikipedia 中结构化抽取，构建 RDF 知识网络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3048000"/>
            <a:ext cx="5143500" cy="1619250"/>
            <a:chOff x="6286500" y="3048000"/>
            <a:chExt cx="5143500" cy="1619250"/>
          </a:xfrm>
        </p:grpSpPr>
        <p:sp>
          <p:nvSpPr>
            <p:cNvPr id="23" name="Rectangle 23"/>
            <p:cNvSpPr/>
            <p:nvPr/>
          </p:nvSpPr>
          <p:spPr>
            <a:xfrm>
              <a:off x="6286500" y="3048000"/>
              <a:ext cx="514350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7000" y="323850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3554" y="33089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86575" y="3314700"/>
              <a:ext cx="19703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CN-DBpedia / 知网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1338" y="3640931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中文知识图谱代表，聚焦本土化实体与关系抽取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4953000"/>
            <a:ext cx="10668000" cy="1333500"/>
            <a:chOff x="762000" y="4953000"/>
            <a:chExt cx="106680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762000" y="4953000"/>
              <a:ext cx="10668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52500" y="514350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39054" y="52139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62075" y="52197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开源工具生态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66838" y="5593556"/>
              <a:ext cx="3133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Neo4j · Protégé · Apache Jena · DeepKE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381125" y="5857875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87805" y="59226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图数据库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238375" y="5857875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45055" y="59226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本体编辑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95625" y="5857875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225308" y="59226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RDF框架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952875" y="5857875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59555" y="59226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深度学习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025616" y="645890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2" grpId="0"/>
      <p:bldP spid="28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1905000"/>
            <a:ext cx="5715000" cy="5715000"/>
          </a:xfrm>
          <a:prstGeom prst="ellipse">
            <a:avLst/>
          </a:prstGeom>
          <a:solidFill>
            <a:srgbClr val="1E293B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476250" y="3333750"/>
            <a:ext cx="4762500" cy="47625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16280" y="468630"/>
            <a:ext cx="4128611" cy="1198245"/>
            <a:chOff x="716280" y="468630"/>
            <a:chExt cx="4128611" cy="1198245"/>
          </a:xfrm>
        </p:grpSpPr>
        <p:sp>
          <p:nvSpPr>
            <p:cNvPr id="5" name="TextBox 5"/>
            <p:cNvSpPr txBox="1"/>
            <p:nvPr/>
          </p:nvSpPr>
          <p:spPr>
            <a:xfrm>
              <a:off x="716280" y="468630"/>
              <a:ext cx="34038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应用落地场景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43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57150" cap="rnd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2950" y="1362075"/>
              <a:ext cx="41019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Knowledge Graph Application Scenarios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905000"/>
            <a:ext cx="3333750" cy="2381250"/>
            <a:chOff x="762000" y="1905000"/>
            <a:chExt cx="3333750" cy="2381250"/>
          </a:xfrm>
        </p:grpSpPr>
        <p:sp>
          <p:nvSpPr>
            <p:cNvPr id="9" name="Rectangle 9"/>
            <p:cNvSpPr/>
            <p:nvPr/>
          </p:nvSpPr>
          <p:spPr>
            <a:xfrm>
              <a:off x="762000" y="1905000"/>
              <a:ext cx="3333750" cy="2381250"/>
            </a:xfrm>
            <a:prstGeom prst="roundRect">
              <a:avLst>
                <a:gd name="adj" fmla="val 64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28700" y="2171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3B82F6"/>
                </a:gs>
                <a:gs pos="100000">
                  <a:srgbClr val="2563E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19200" y="2362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38100"/>
                  </a:moveTo>
                  <a:lnTo>
                    <a:pt x="190500" y="190500"/>
                  </a:lnTo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noFill/>
            <a:ln w="28575" cap="rnd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86890" y="223456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智能搜索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94510" y="25850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语义理解与实体卡片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2952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165" y="31727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深度解析用户查询意图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34109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结构化展示关键实体信息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364902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提升搜索准确率与用户体验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29125" y="1905000"/>
            <a:ext cx="3333750" cy="2381250"/>
            <a:chOff x="4429125" y="1905000"/>
            <a:chExt cx="333375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429125" y="1905000"/>
              <a:ext cx="3333750" cy="2381250"/>
            </a:xfrm>
            <a:prstGeom prst="roundRect">
              <a:avLst>
                <a:gd name="adj" fmla="val 64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695825" y="2171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06B6D4"/>
                </a:gs>
                <a:gs pos="100000">
                  <a:srgbClr val="0891B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886325" y="23812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114300"/>
                  </a:lnTo>
                  <a:lnTo>
                    <a:pt x="114300" y="1143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FFFF"/>
              </a:solidFill>
              <a:round/>
            </a:ln>
          </p:spPr>
        </p:sp>
        <p:sp>
          <p:nvSpPr>
            <p:cNvPr id="22" name="Ellipse 22"/>
            <p:cNvSpPr/>
            <p:nvPr/>
          </p:nvSpPr>
          <p:spPr>
            <a:xfrm>
              <a:off x="4924425" y="2419350"/>
              <a:ext cx="3810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981575" y="2419350"/>
              <a:ext cx="3810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038725" y="2419350"/>
              <a:ext cx="3810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54015" y="223456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智能问答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1635" y="2585085"/>
              <a:ext cx="13799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KBQA 与对话系统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19625" y="2952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06290" y="31727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基于知识库的精准问答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6290" y="341090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多轮对话上下文管理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6290" y="3649028"/>
              <a:ext cx="18285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自然语言转SQL/SPARQL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6250" y="1905000"/>
            <a:ext cx="3333750" cy="2381250"/>
            <a:chOff x="8096250" y="1905000"/>
            <a:chExt cx="3333750" cy="2381250"/>
          </a:xfrm>
        </p:grpSpPr>
        <p:sp>
          <p:nvSpPr>
            <p:cNvPr id="32" name="Rectangle 32"/>
            <p:cNvSpPr/>
            <p:nvPr/>
          </p:nvSpPr>
          <p:spPr>
            <a:xfrm>
              <a:off x="8096250" y="1905000"/>
              <a:ext cx="3333750" cy="2381250"/>
            </a:xfrm>
            <a:prstGeom prst="roundRect">
              <a:avLst>
                <a:gd name="adj" fmla="val 64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362950" y="2171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8B5CF6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572500" y="2400300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76200"/>
                  </a:moveTo>
                  <a:lnTo>
                    <a:pt x="57150" y="133350"/>
                  </a:lnTo>
                  <a:lnTo>
                    <a:pt x="19050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21140" y="223456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推荐系统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28760" y="258508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知识增强推荐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286750" y="2952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3415" y="317277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利用图谱关系挖掘潜在兴趣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73415" y="341090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解决冷启动问题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73415" y="364902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提供可解释的推荐理由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62000" y="4572000"/>
            <a:ext cx="3333750" cy="2381250"/>
            <a:chOff x="762000" y="4572000"/>
            <a:chExt cx="3333750" cy="2381250"/>
          </a:xfrm>
        </p:grpSpPr>
        <p:sp>
          <p:nvSpPr>
            <p:cNvPr id="42" name="Rectangle 42"/>
            <p:cNvSpPr/>
            <p:nvPr/>
          </p:nvSpPr>
          <p:spPr>
            <a:xfrm>
              <a:off x="762000" y="4572000"/>
              <a:ext cx="3333750" cy="2381250"/>
            </a:xfrm>
            <a:prstGeom prst="roundRect">
              <a:avLst>
                <a:gd name="adj" fmla="val 64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28700" y="4838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F59E0B"/>
                </a:gs>
                <a:gs pos="100000">
                  <a:srgbClr val="D9770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238250" y="502920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114300"/>
                  </a:lnTo>
                  <a:cubicBezTo>
                    <a:pt x="190500" y="228600"/>
                    <a:pt x="95250" y="304800"/>
                    <a:pt x="95250" y="304800"/>
                  </a:cubicBezTo>
                  <a:cubicBezTo>
                    <a:pt x="95250" y="304800"/>
                    <a:pt x="0" y="228600"/>
                    <a:pt x="0" y="114300"/>
                  </a:cubicBezTo>
                  <a:close/>
                </a:path>
              </a:pathLst>
            </a:custGeom>
            <a:noFill/>
            <a:ln w="28575">
              <a:solidFill>
                <a:srgbClr val="FFFFFF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1295400" y="5095875"/>
              <a:ext cx="85725" cy="76200"/>
            </a:xfrm>
            <a:custGeom>
              <a:avLst/>
              <a:gdLst/>
              <a:ahLst/>
              <a:cxnLst/>
              <a:rect l="l" t="t" r="r" b="b"/>
              <a:pathLst>
                <a:path w="85725" h="76200">
                  <a:moveTo>
                    <a:pt x="0" y="47625"/>
                  </a:moveTo>
                  <a:lnTo>
                    <a:pt x="28575" y="76200"/>
                  </a:lnTo>
                  <a:lnTo>
                    <a:pt x="85725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86890" y="490156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风险控制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94510" y="525208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关联挖掘与反欺诈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52500" y="5619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9165" y="58397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识别复杂团伙欺诈行为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9165" y="607790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资金流向异常检测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9165" y="631602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实时风控决策引擎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429125" y="4572000"/>
            <a:ext cx="3333750" cy="2381250"/>
            <a:chOff x="4429125" y="4572000"/>
            <a:chExt cx="3333750" cy="2381250"/>
          </a:xfrm>
        </p:grpSpPr>
        <p:sp>
          <p:nvSpPr>
            <p:cNvPr id="53" name="Rectangle 53"/>
            <p:cNvSpPr/>
            <p:nvPr/>
          </p:nvSpPr>
          <p:spPr>
            <a:xfrm>
              <a:off x="4429125" y="4572000"/>
              <a:ext cx="3333750" cy="2381250"/>
            </a:xfrm>
            <a:prstGeom prst="roundRect">
              <a:avLst>
                <a:gd name="adj" fmla="val 64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4695825" y="4838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10B981"/>
                </a:gs>
                <a:gs pos="100000">
                  <a:srgbClr val="05966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4905375" y="5048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95250" y="19050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54015" y="4901565"/>
              <a:ext cx="13016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医疗/金融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61635" y="525208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行业知识图谱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4619625" y="5619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606290" y="5839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辅助临床诊断与用药建议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06290" y="60779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金融产品关联风险传导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606290" y="631602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垂直领域专业决策支持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096250" y="4572000"/>
            <a:ext cx="3333750" cy="2381250"/>
            <a:chOff x="8096250" y="4572000"/>
            <a:chExt cx="3333750" cy="2381250"/>
          </a:xfrm>
        </p:grpSpPr>
        <p:sp>
          <p:nvSpPr>
            <p:cNvPr id="63" name="Rectangle 63"/>
            <p:cNvSpPr/>
            <p:nvPr/>
          </p:nvSpPr>
          <p:spPr>
            <a:xfrm>
              <a:off x="8096250" y="4572000"/>
              <a:ext cx="3333750" cy="2381250"/>
            </a:xfrm>
            <a:prstGeom prst="roundRect">
              <a:avLst>
                <a:gd name="adj" fmla="val 64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362950" y="4838700"/>
              <a:ext cx="609600" cy="609600"/>
            </a:xfrm>
            <a:prstGeom prst="ellipse">
              <a:avLst/>
            </a:prstGeom>
            <a:gradFill>
              <a:gsLst>
                <a:gs pos="0">
                  <a:srgbClr val="EC4899"/>
                </a:gs>
                <a:gs pos="100000">
                  <a:srgbClr val="DB2777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543925" y="50196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734425" y="50196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639175" y="52101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572500" y="5048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95250" y="190500"/>
                  </a:ln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21140" y="490156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大模型融合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28760" y="5252085"/>
              <a:ext cx="11170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RAG + KG 增强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8286750" y="5619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73415" y="58397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缓解大模型幻觉问题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3415" y="60779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结合实时数据与逻辑推理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73415" y="631602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• 提升生成内容的准确性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41" grpId="0"/>
      <p:bldP spid="52" grpId="0"/>
      <p:bldP spid="62" grpId="0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34155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34155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905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34155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334155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334155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334155">
                  <a:alpha val="30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16280" y="563880"/>
            <a:ext cx="10736579" cy="969645"/>
            <a:chOff x="716280" y="563880"/>
            <a:chExt cx="10736579" cy="969645"/>
          </a:xfrm>
        </p:grpSpPr>
        <p:sp>
          <p:nvSpPr>
            <p:cNvPr id="10" name="TextBox 10"/>
            <p:cNvSpPr txBox="1"/>
            <p:nvPr/>
          </p:nvSpPr>
          <p:spPr>
            <a:xfrm>
              <a:off x="716280" y="563880"/>
              <a:ext cx="39559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挑战与未来趋势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2950" y="1171575"/>
              <a:ext cx="28970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Challenges &amp; Future Trends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1524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 cap="rnd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57903" y="758190"/>
              <a:ext cx="7949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 / 12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2000" y="1905000"/>
            <a:ext cx="10668000" cy="3619500"/>
            <a:chOff x="762000" y="1905000"/>
            <a:chExt cx="10668000" cy="3619500"/>
          </a:xfrm>
        </p:grpSpPr>
        <p:grpSp>
          <p:nvGrpSpPr>
            <p:cNvPr id="24" name="Group 24"/>
            <p:cNvGrpSpPr/>
            <p:nvPr/>
          </p:nvGrpSpPr>
          <p:grpSpPr>
            <a:xfrm>
              <a:off x="762000" y="1905000"/>
              <a:ext cx="3238500" cy="1524000"/>
              <a:chOff x="762000" y="1905000"/>
              <a:chExt cx="3238500" cy="1524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1905000"/>
                <a:ext cx="3238500" cy="1524000"/>
              </a:xfrm>
              <a:prstGeom prst="roundRect">
                <a:avLst>
                  <a:gd name="adj" fmla="val 7500"/>
                </a:avLst>
              </a:prstGeom>
              <a:gradFill>
                <a:gsLst>
                  <a:gs pos="0">
                    <a:srgbClr val="334155">
                      <a:alpha val="60000"/>
                    </a:srgbClr>
                  </a:gs>
                  <a:gs pos="100000">
                    <a:srgbClr val="1E293B">
                      <a:alpha val="80000"/>
                    </a:srgbClr>
                  </a:gs>
                </a:gsLst>
                <a:lin ang="2700000" scaled="1"/>
              </a:gradFill>
              <a:ln w="19050">
                <a:solidFill>
                  <a:srgbClr val="0EA5E9"/>
                </a:solidFill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16" name="Ellipse 16"/>
              <p:cNvSpPr/>
              <p:nvPr/>
            </p:nvSpPr>
            <p:spPr>
              <a:xfrm>
                <a:off x="914400" y="2057400"/>
                <a:ext cx="457200" cy="457200"/>
              </a:xfrm>
              <a:prstGeom prst="ellipse">
                <a:avLst/>
              </a:prstGeom>
              <a:solidFill>
                <a:srgbClr val="0EA5E9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66800" y="2209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152400" y="76200"/>
                    </a:lnTo>
                    <a:moveTo>
                      <a:pt x="76200" y="0"/>
                    </a:moveTo>
                    <a:lnTo>
                      <a:pt x="76200" y="152400"/>
                    </a:lnTo>
                    <a:moveTo>
                      <a:pt x="76200" y="7620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0EA5E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40544" y="2065352"/>
                <a:ext cx="204912" cy="182548"/>
              </a:xfrm>
              <a:custGeom>
                <a:avLst/>
                <a:gdLst/>
                <a:ahLst/>
                <a:cxnLst/>
                <a:rect l="l" t="t" r="r" b="b"/>
                <a:pathLst>
                  <a:path w="204912" h="182548">
                    <a:moveTo>
                      <a:pt x="64356" y="182548"/>
                    </a:moveTo>
                    <a:cubicBezTo>
                      <a:pt x="23017" y="164506"/>
                      <a:pt x="0" y="119943"/>
                      <a:pt x="9215" y="75790"/>
                    </a:cubicBezTo>
                    <a:cubicBezTo>
                      <a:pt x="18431" y="31636"/>
                      <a:pt x="57352" y="0"/>
                      <a:pt x="102456" y="0"/>
                    </a:cubicBezTo>
                    <a:cubicBezTo>
                      <a:pt x="147561" y="0"/>
                      <a:pt x="186482" y="31636"/>
                      <a:pt x="195697" y="75790"/>
                    </a:cubicBezTo>
                    <a:cubicBezTo>
                      <a:pt x="204912" y="119943"/>
                      <a:pt x="181895" y="164506"/>
                      <a:pt x="140556" y="182548"/>
                    </a:cubicBezTo>
                  </a:path>
                </a:pathLst>
              </a:custGeom>
              <a:noFill/>
              <a:ln w="19050">
                <a:solidFill>
                  <a:srgbClr val="0EA5E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40544" y="2324100"/>
                <a:ext cx="204912" cy="182548"/>
              </a:xfrm>
              <a:custGeom>
                <a:avLst/>
                <a:gdLst/>
                <a:ahLst/>
                <a:cxnLst/>
                <a:rect l="l" t="t" r="r" b="b"/>
                <a:pathLst>
                  <a:path w="204912" h="182548">
                    <a:moveTo>
                      <a:pt x="140556" y="0"/>
                    </a:moveTo>
                    <a:cubicBezTo>
                      <a:pt x="181895" y="18042"/>
                      <a:pt x="204912" y="62605"/>
                      <a:pt x="195697" y="106759"/>
                    </a:cubicBezTo>
                    <a:cubicBezTo>
                      <a:pt x="186482" y="150912"/>
                      <a:pt x="147561" y="182548"/>
                      <a:pt x="102456" y="182548"/>
                    </a:cubicBezTo>
                    <a:cubicBezTo>
                      <a:pt x="57352" y="182548"/>
                      <a:pt x="18431" y="150912"/>
                      <a:pt x="9215" y="106759"/>
                    </a:cubicBezTo>
                    <a:cubicBezTo>
                      <a:pt x="0" y="62605"/>
                      <a:pt x="23017" y="18042"/>
                      <a:pt x="64356" y="0"/>
                    </a:cubicBezTo>
                  </a:path>
                </a:pathLst>
              </a:custGeom>
              <a:noFill/>
              <a:ln w="19050">
                <a:solidFill>
                  <a:srgbClr val="0EA5E9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503045" y="2155508"/>
                <a:ext cx="8010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动态性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08760" y="2489835"/>
                <a:ext cx="2133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知识图谱的实时更新与维护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10665" y="2744152"/>
                <a:ext cx="23882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Real-time Update &amp; Maintenance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1905000"/>
                <a:ext cx="57150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0EA5E9"/>
              </a:solidFill>
              <a:ln>
                <a:noFill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4476750" y="1905000"/>
              <a:ext cx="3581400" cy="1524000"/>
              <a:chOff x="4476750" y="1905000"/>
              <a:chExt cx="3581400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476750" y="1905000"/>
                <a:ext cx="3238500" cy="1524000"/>
              </a:xfrm>
              <a:prstGeom prst="roundRect">
                <a:avLst>
                  <a:gd name="adj" fmla="val 7500"/>
                </a:avLst>
              </a:prstGeom>
              <a:gradFill>
                <a:gsLst>
                  <a:gs pos="0">
                    <a:srgbClr val="334155">
                      <a:alpha val="60000"/>
                    </a:srgbClr>
                  </a:gs>
                  <a:gs pos="100000">
                    <a:srgbClr val="1E293B">
                      <a:alpha val="80000"/>
                    </a:srgbClr>
                  </a:gs>
                </a:gsLst>
                <a:lin ang="2700000" scaled="1"/>
              </a:gradFill>
              <a:ln w="19050">
                <a:solidFill>
                  <a:srgbClr val="EC4899"/>
                </a:solidFill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26" name="Ellipse 26"/>
              <p:cNvSpPr/>
              <p:nvPr/>
            </p:nvSpPr>
            <p:spPr>
              <a:xfrm>
                <a:off x="4629150" y="2057400"/>
                <a:ext cx="457200" cy="457200"/>
              </a:xfrm>
              <a:prstGeom prst="ellipse">
                <a:avLst/>
              </a:prstGeom>
              <a:solidFill>
                <a:srgbClr val="EC4899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762500" y="2190750"/>
                <a:ext cx="190500" cy="152400"/>
              </a:xfrm>
              <a:prstGeom prst="roundRect">
                <a:avLst>
                  <a:gd name="adj" fmla="val 12500"/>
                </a:avLst>
              </a:prstGeom>
              <a:noFill/>
              <a:ln w="19050">
                <a:solidFill>
                  <a:srgbClr val="EC4899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800600" y="2247900"/>
                <a:ext cx="38100" cy="38100"/>
              </a:xfrm>
              <a:prstGeom prst="ellipse">
                <a:avLst/>
              </a:prstGeom>
              <a:solidFill>
                <a:srgbClr val="EC4899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62500" y="224790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57150" y="0"/>
                    </a:lnTo>
                    <a:lnTo>
                      <a:pt x="114300" y="57150"/>
                    </a:lnTo>
                  </a:path>
                </a:pathLst>
              </a:custGeom>
              <a:noFill/>
              <a:ln w="19050">
                <a:solidFill>
                  <a:srgbClr val="EC489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217795" y="2155508"/>
                <a:ext cx="8010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多模态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223510" y="2489835"/>
                <a:ext cx="2834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融合文本、图像、视频的跨模态知识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225415" y="2744152"/>
                <a:ext cx="22579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Cross-modal Knowledge Fusion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4476750" y="1905000"/>
                <a:ext cx="57150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EC4899"/>
              </a:solidFill>
              <a:ln>
                <a:noFill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8191500" y="1905000"/>
              <a:ext cx="3238500" cy="1524000"/>
              <a:chOff x="8191500" y="1905000"/>
              <a:chExt cx="3238500" cy="1524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191500" y="1905000"/>
                <a:ext cx="3238500" cy="1524000"/>
              </a:xfrm>
              <a:prstGeom prst="roundRect">
                <a:avLst>
                  <a:gd name="adj" fmla="val 7500"/>
                </a:avLst>
              </a:prstGeom>
              <a:gradFill>
                <a:gsLst>
                  <a:gs pos="0">
                    <a:srgbClr val="334155">
                      <a:alpha val="60000"/>
                    </a:srgbClr>
                  </a:gs>
                  <a:gs pos="100000">
                    <a:srgbClr val="1E293B">
                      <a:alpha val="80000"/>
                    </a:srgbClr>
                  </a:gs>
                </a:gsLst>
                <a:lin ang="2700000" scaled="1"/>
              </a:gradFill>
              <a:ln w="19050">
                <a:solidFill>
                  <a:srgbClr val="8B5CF6"/>
                </a:solidFill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36" name="Ellipse 36"/>
              <p:cNvSpPr/>
              <p:nvPr/>
            </p:nvSpPr>
            <p:spPr>
              <a:xfrm>
                <a:off x="8343900" y="2057400"/>
                <a:ext cx="457200" cy="457200"/>
              </a:xfrm>
              <a:prstGeom prst="ellipse">
                <a:avLst/>
              </a:prstGeom>
              <a:solidFill>
                <a:srgbClr val="8B5CF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458200" y="219075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8572500" y="226695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8553450" y="22669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932545" y="2155508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大模型协同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938260" y="248983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LLM + KG 双向增强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940165" y="2744152"/>
                <a:ext cx="19742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Bidirectional Enhancement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8191500" y="1905000"/>
                <a:ext cx="57150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8B5CF6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2619375" y="4000500"/>
              <a:ext cx="3238500" cy="1524000"/>
              <a:chOff x="2619375" y="4000500"/>
              <a:chExt cx="3238500" cy="1524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2619375" y="4000500"/>
                <a:ext cx="3238500" cy="1524000"/>
              </a:xfrm>
              <a:prstGeom prst="roundRect">
                <a:avLst>
                  <a:gd name="adj" fmla="val 7500"/>
                </a:avLst>
              </a:prstGeom>
              <a:gradFill>
                <a:gsLst>
                  <a:gs pos="0">
                    <a:srgbClr val="334155">
                      <a:alpha val="60000"/>
                    </a:srgbClr>
                  </a:gs>
                  <a:gs pos="100000">
                    <a:srgbClr val="1E293B">
                      <a:alpha val="80000"/>
                    </a:srgbClr>
                  </a:gs>
                </a:gsLst>
                <a:lin ang="2700000" scaled="1"/>
              </a:gradFill>
              <a:ln w="19050">
                <a:solidFill>
                  <a:srgbClr val="F59E0B"/>
                </a:solidFill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46" name="Ellipse 46"/>
              <p:cNvSpPr/>
              <p:nvPr/>
            </p:nvSpPr>
            <p:spPr>
              <a:xfrm>
                <a:off x="2771775" y="4152900"/>
                <a:ext cx="457200" cy="457200"/>
              </a:xfrm>
              <a:prstGeom prst="ellipse">
                <a:avLst/>
              </a:prstGeom>
              <a:solidFill>
                <a:srgbClr val="F59E0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2943225" y="4286250"/>
                <a:ext cx="1143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4775">
                    <a:moveTo>
                      <a:pt x="57150" y="0"/>
                    </a:moveTo>
                    <a:lnTo>
                      <a:pt x="76200" y="38100"/>
                    </a:lnTo>
                    <a:lnTo>
                      <a:pt x="114300" y="38100"/>
                    </a:lnTo>
                    <a:lnTo>
                      <a:pt x="85725" y="66675"/>
                    </a:lnTo>
                    <a:lnTo>
                      <a:pt x="95250" y="104775"/>
                    </a:lnTo>
                    <a:lnTo>
                      <a:pt x="57150" y="85725"/>
                    </a:lnTo>
                    <a:lnTo>
                      <a:pt x="19050" y="104775"/>
                    </a:lnTo>
                    <a:lnTo>
                      <a:pt x="28575" y="66675"/>
                    </a:lnTo>
                    <a:lnTo>
                      <a:pt x="0" y="38100"/>
                    </a:lnTo>
                    <a:lnTo>
                      <a:pt x="38100" y="38100"/>
                    </a:lnTo>
                    <a:close/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2962275" y="4305300"/>
                <a:ext cx="76200" cy="76200"/>
              </a:xfrm>
              <a:prstGeom prst="ellipse">
                <a:avLst/>
              </a:pr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360420" y="4251008"/>
                <a:ext cx="8010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自动化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366135" y="4585335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从人工构建到自动化知识获取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368040" y="4839652"/>
                <a:ext cx="24726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Automated Knowledge Acquisition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2619375" y="4000500"/>
                <a:ext cx="57150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6334125" y="4000500"/>
              <a:ext cx="3238500" cy="1524000"/>
              <a:chOff x="6334125" y="4000500"/>
              <a:chExt cx="3238500" cy="1524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334125" y="4000500"/>
                <a:ext cx="3238500" cy="1524000"/>
              </a:xfrm>
              <a:prstGeom prst="roundRect">
                <a:avLst>
                  <a:gd name="adj" fmla="val 7500"/>
                </a:avLst>
              </a:prstGeom>
              <a:gradFill>
                <a:gsLst>
                  <a:gs pos="0">
                    <a:srgbClr val="334155">
                      <a:alpha val="60000"/>
                    </a:srgbClr>
                  </a:gs>
                  <a:gs pos="100000">
                    <a:srgbClr val="1E293B">
                      <a:alpha val="80000"/>
                    </a:srgbClr>
                  </a:gs>
                </a:gsLst>
                <a:lin ang="2700000" scaled="1"/>
              </a:gradFill>
              <a:ln w="19050">
                <a:solidFill>
                  <a:srgbClr val="10B981"/>
                </a:solidFill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55" name="Ellipse 55"/>
              <p:cNvSpPr/>
              <p:nvPr/>
            </p:nvSpPr>
            <p:spPr>
              <a:xfrm>
                <a:off x="6486525" y="4152900"/>
                <a:ext cx="457200" cy="457200"/>
              </a:xfrm>
              <a:prstGeom prst="ellipse">
                <a:avLst/>
              </a:prstGeom>
              <a:solidFill>
                <a:srgbClr val="10B981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38925" y="4305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14300"/>
                    </a:moveTo>
                    <a:cubicBezTo>
                      <a:pt x="0" y="38100"/>
                      <a:pt x="38100" y="0"/>
                      <a:pt x="76200" y="0"/>
                    </a:cubicBezTo>
                    <a:cubicBezTo>
                      <a:pt x="114300" y="0"/>
                      <a:pt x="152400" y="38100"/>
                      <a:pt x="152400" y="114300"/>
                    </a:cubicBezTo>
                    <a:lnTo>
                      <a:pt x="133350" y="152400"/>
                    </a:lnTo>
                    <a:lnTo>
                      <a:pt x="19050" y="152400"/>
                    </a:lnTo>
                    <a:close/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6715125" y="44767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6677025" y="45148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075170" y="4251008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可解释性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080885" y="4585335"/>
                <a:ext cx="23877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利用知识图谱提升 AI 可解释性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082790" y="4839652"/>
                <a:ext cx="19589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Enhancing AI Explainability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6334125" y="4000500"/>
                <a:ext cx="57150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</p:grpSp>
      </p:grpSp>
      <p:grpSp>
        <p:nvGrpSpPr>
          <p:cNvPr id="70" name="Group 70"/>
          <p:cNvGrpSpPr/>
          <p:nvPr/>
        </p:nvGrpSpPr>
        <p:grpSpPr>
          <a:xfrm>
            <a:off x="2381250" y="2667000"/>
            <a:ext cx="5810250" cy="2105025"/>
            <a:chOff x="2381250" y="2667000"/>
            <a:chExt cx="5810250" cy="2105025"/>
          </a:xfrm>
        </p:grpSpPr>
        <p:sp>
          <p:nvSpPr>
            <p:cNvPr id="65" name="Line 65"/>
            <p:cNvSpPr/>
            <p:nvPr/>
          </p:nvSpPr>
          <p:spPr>
            <a:xfrm>
              <a:off x="4000500" y="2667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75569">
                  <a:alpha val="50000"/>
                </a:srgbClr>
              </a:solidFill>
              <a:prstDash val="dash"/>
            </a:ln>
          </p:spPr>
        </p:sp>
        <p:sp>
          <p:nvSpPr>
            <p:cNvPr id="66" name="Line 66"/>
            <p:cNvSpPr/>
            <p:nvPr/>
          </p:nvSpPr>
          <p:spPr>
            <a:xfrm>
              <a:off x="7715250" y="2667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75569">
                  <a:alpha val="50000"/>
                </a:srgbClr>
              </a:solidFill>
              <a:prstDash val="dash"/>
            </a:ln>
          </p:spPr>
        </p:sp>
        <p:sp>
          <p:nvSpPr>
            <p:cNvPr id="67" name="Line 67"/>
            <p:cNvSpPr/>
            <p:nvPr/>
          </p:nvSpPr>
          <p:spPr>
            <a:xfrm>
              <a:off x="2381250" y="4762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475569">
                  <a:alpha val="50000"/>
                </a:srgbClr>
              </a:solidFill>
              <a:prstDash val="dash"/>
            </a:ln>
          </p:spPr>
        </p:sp>
        <p:sp>
          <p:nvSpPr>
            <p:cNvPr id="68" name="Line 68"/>
            <p:cNvSpPr/>
            <p:nvPr/>
          </p:nvSpPr>
          <p:spPr>
            <a:xfrm>
              <a:off x="5857875" y="47625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75569">
                  <a:alpha val="50000"/>
                </a:srgbClr>
              </a:solidFill>
              <a:prstDash val="dash"/>
            </a:ln>
          </p:spPr>
        </p:sp>
        <p:sp>
          <p:nvSpPr>
            <p:cNvPr id="69" name="Line 69"/>
            <p:cNvSpPr/>
            <p:nvPr/>
          </p:nvSpPr>
          <p:spPr>
            <a:xfrm>
              <a:off x="6096000" y="3429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475569">
                  <a:alpha val="50000"/>
                </a:srgbClr>
              </a:solidFill>
              <a:prstDash val="dash"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48665" y="6477000"/>
            <a:ext cx="10681335" cy="290512"/>
            <a:chOff x="748665" y="6477000"/>
            <a:chExt cx="10681335" cy="290512"/>
          </a:xfrm>
        </p:grpSpPr>
        <p:sp>
          <p:nvSpPr>
            <p:cNvPr id="71" name="Line 71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48665" y="6554152"/>
              <a:ext cx="3162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© 2023 Knowledge Graph Technology Report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32B"/>
              </a:gs>
              <a:gs pos="100000">
                <a:srgbClr val="1C2541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0" y="476250"/>
            <a:ext cx="12192000" cy="6191250"/>
            <a:chOff x="0" y="476250"/>
            <a:chExt cx="12192000" cy="6191250"/>
          </a:xfrm>
        </p:grpSpPr>
        <p:sp>
          <p:nvSpPr>
            <p:cNvPr id="4" name="Ellipse 4"/>
            <p:cNvSpPr/>
            <p:nvPr/>
          </p:nvSpPr>
          <p:spPr>
            <a:xfrm>
              <a:off x="476250" y="476250"/>
              <a:ext cx="1905000" cy="1905000"/>
            </a:xfrm>
            <a:prstGeom prst="ellipse">
              <a:avLst/>
            </a:prstGeom>
            <a:solidFill>
              <a:srgbClr val="00E5FF">
                <a:alpha val="10000"/>
              </a:srgbClr>
            </a:solidFill>
            <a:ln>
              <a:noFill/>
            </a:ln>
            <a:effectLst>
              <a:glow rad="142875">
                <a:srgbClr val="000000">
                  <a:alpha val="30000"/>
                </a:srgbClr>
              </a:glow>
            </a:effectLst>
          </p:spPr>
        </p:sp>
        <p:sp>
          <p:nvSpPr>
            <p:cNvPr id="5" name="Ellipse 5"/>
            <p:cNvSpPr/>
            <p:nvPr/>
          </p:nvSpPr>
          <p:spPr>
            <a:xfrm>
              <a:off x="9048750" y="3810000"/>
              <a:ext cx="2857500" cy="2857500"/>
            </a:xfrm>
            <a:prstGeom prst="ellipse">
              <a:avLst/>
            </a:prstGeom>
            <a:solidFill>
              <a:srgbClr val="00E5FF">
                <a:alpha val="10000"/>
              </a:srgbClr>
            </a:solidFill>
            <a:ln>
              <a:noFill/>
            </a:ln>
            <a:effectLst>
              <a:glow rad="142875">
                <a:srgbClr val="000000">
                  <a:alpha val="30000"/>
                </a:srgbClr>
              </a:glo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0" y="5080000"/>
              <a:ext cx="12192000" cy="1270000"/>
            </a:xfrm>
            <a:custGeom>
              <a:avLst/>
              <a:gdLst/>
              <a:ahLst/>
              <a:cxnLst/>
              <a:rect l="l" t="t" r="r" b="b"/>
              <a:pathLst>
                <a:path w="12192000" h="1270000">
                  <a:moveTo>
                    <a:pt x="0" y="635000"/>
                  </a:moveTo>
                  <a:cubicBezTo>
                    <a:pt x="1905000" y="0"/>
                    <a:pt x="3937000" y="0"/>
                    <a:pt x="6096000" y="635000"/>
                  </a:cubicBezTo>
                  <a:cubicBezTo>
                    <a:pt x="8255000" y="1270000"/>
                    <a:pt x="10287000" y="1270000"/>
                    <a:pt x="12192000" y="635000"/>
                  </a:cubicBezTo>
                </a:path>
              </a:pathLst>
            </a:custGeom>
            <a:noFill/>
            <a:ln w="19050">
              <a:solidFill>
                <a:srgbClr val="00E5FF">
                  <a:alpha val="20000"/>
                </a:srgbClr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14400" y="914400"/>
              <a:ext cx="1028700" cy="1504950"/>
              <a:chOff x="914400" y="914400"/>
              <a:chExt cx="1028700" cy="15049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952500" y="952500"/>
                <a:ext cx="952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476250">
                    <a:moveTo>
                      <a:pt x="0" y="0"/>
                    </a:moveTo>
                    <a:lnTo>
                      <a:pt x="952500" y="476250"/>
                    </a:lnTo>
                  </a:path>
                </a:pathLst>
              </a:custGeom>
              <a:noFill/>
              <a:ln w="9525">
                <a:solidFill>
                  <a:srgbClr val="00E5FF">
                    <a:alpha val="12000"/>
                  </a:srgbClr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714500" y="1428750"/>
                <a:ext cx="190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0">
                    <a:moveTo>
                      <a:pt x="190500" y="0"/>
                    </a:moveTo>
                    <a:lnTo>
                      <a:pt x="0" y="952500"/>
                    </a:lnTo>
                  </a:path>
                </a:pathLst>
              </a:custGeom>
              <a:noFill/>
              <a:ln w="9525">
                <a:solidFill>
                  <a:srgbClr val="00E5FF">
                    <a:alpha val="12000"/>
                  </a:srgbClr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952500" y="952500"/>
                <a:ext cx="7620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1428750">
                    <a:moveTo>
                      <a:pt x="762000" y="142875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E5FF">
                    <a:alpha val="12000"/>
                  </a:srgbClr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14400" y="914400"/>
                <a:ext cx="76200" cy="76200"/>
              </a:xfrm>
              <a:prstGeom prst="ellipse">
                <a:avLst/>
              </a:prstGeom>
              <a:solidFill>
                <a:srgbClr val="00E5FF">
                  <a:alpha val="12000"/>
                </a:srgbClr>
              </a:solidFill>
              <a:ln w="9525">
                <a:solidFill>
                  <a:srgbClr val="00E5FF">
                    <a:alpha val="12000"/>
                  </a:srgbClr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866900" y="1390650"/>
                <a:ext cx="76200" cy="76200"/>
              </a:xfrm>
              <a:prstGeom prst="ellipse">
                <a:avLst/>
              </a:prstGeom>
              <a:solidFill>
                <a:srgbClr val="00E5FF">
                  <a:alpha val="12000"/>
                </a:srgbClr>
              </a:solidFill>
              <a:ln w="9525">
                <a:solidFill>
                  <a:srgbClr val="00E5FF">
                    <a:alpha val="12000"/>
                  </a:srgbClr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676400" y="2343150"/>
                <a:ext cx="76200" cy="76200"/>
              </a:xfrm>
              <a:prstGeom prst="ellipse">
                <a:avLst/>
              </a:prstGeom>
              <a:solidFill>
                <a:srgbClr val="00E5FF">
                  <a:alpha val="12000"/>
                </a:srgbClr>
              </a:solidFill>
              <a:ln w="9525">
                <a:solidFill>
                  <a:srgbClr val="00E5FF">
                    <a:alpha val="12000"/>
                  </a:srgbClr>
                </a:solidFill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4232910" y="531495"/>
            <a:ext cx="3726180" cy="1259205"/>
            <a:chOff x="4232910" y="531495"/>
            <a:chExt cx="3726180" cy="1259205"/>
          </a:xfrm>
        </p:grpSpPr>
        <p:sp>
          <p:nvSpPr>
            <p:cNvPr id="15" name="TextBox 15"/>
            <p:cNvSpPr txBox="1"/>
            <p:nvPr/>
          </p:nvSpPr>
          <p:spPr>
            <a:xfrm>
              <a:off x="4551283" y="531495"/>
              <a:ext cx="308943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总结与展望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143500" y="1238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38100" cap="rnd">
              <a:solidFill>
                <a:srgbClr val="00E5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32910" y="1424940"/>
              <a:ext cx="37261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EC5"/>
                  </a:solidFill>
                  <a:latin typeface="Segoe UI"/>
                  <a:ea typeface="Microsoft YaHei"/>
                  <a:cs typeface="Segoe UI"/>
                </a:rPr>
                <a:t>构建下一代认知智能的核心路径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1905000"/>
            <a:ext cx="10668000" cy="4000500"/>
            <a:chOff x="762000" y="1905000"/>
            <a:chExt cx="10668000" cy="4000500"/>
          </a:xfrm>
        </p:grpSpPr>
        <p:grpSp>
          <p:nvGrpSpPr>
            <p:cNvPr id="33" name="Group 33"/>
            <p:cNvGrpSpPr/>
            <p:nvPr/>
          </p:nvGrpSpPr>
          <p:grpSpPr>
            <a:xfrm>
              <a:off x="762000" y="1905000"/>
              <a:ext cx="3238500" cy="4000500"/>
              <a:chOff x="762000" y="1905000"/>
              <a:chExt cx="3238500" cy="4000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1905000"/>
                <a:ext cx="3238500" cy="4000500"/>
              </a:xfrm>
              <a:prstGeom prst="roundRect">
                <a:avLst>
                  <a:gd name="adj" fmla="val 4706"/>
                </a:avLst>
              </a:prstGeom>
              <a:gradFill>
                <a:gsLst>
                  <a:gs pos="0">
                    <a:srgbClr val="233A63">
                      <a:alpha val="80000"/>
                    </a:srgbClr>
                  </a:gs>
                  <a:gs pos="100000">
                    <a:srgbClr val="151E32">
                      <a:alpha val="90000"/>
                    </a:srgbClr>
                  </a:gs>
                </a:gsLst>
                <a:lin ang="5400000" scaled="1"/>
              </a:gradFill>
              <a:ln w="9525">
                <a:solidFill>
                  <a:srgbClr val="00E5FF">
                    <a:alpha val="50000"/>
                  </a:srgbClr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2000250" y="2286000"/>
                <a:ext cx="762000" cy="762000"/>
                <a:chOff x="2000250" y="2286000"/>
                <a:chExt cx="762000" cy="762000"/>
              </a:xfrm>
            </p:grpSpPr>
            <p:sp>
              <p:nvSpPr>
                <p:cNvPr id="20" name="Ellipse 20"/>
                <p:cNvSpPr/>
                <p:nvPr/>
              </p:nvSpPr>
              <p:spPr>
                <a:xfrm>
                  <a:off x="2000250" y="2286000"/>
                  <a:ext cx="762000" cy="762000"/>
                </a:xfrm>
                <a:prstGeom prst="ellipse">
                  <a:avLst/>
                </a:prstGeom>
                <a:noFill/>
                <a:ln w="19050">
                  <a:solidFill>
                    <a:srgbClr val="00E5FF"/>
                  </a:solidFill>
                  <a:prstDash val="dash"/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2143125" y="2428875"/>
                  <a:ext cx="476250" cy="476250"/>
                </a:xfrm>
                <a:prstGeom prst="ellipse">
                  <a:avLst/>
                </a:prstGeom>
                <a:solidFill>
                  <a:srgbClr val="00E5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143125" y="2428875"/>
                  <a:ext cx="47625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76250">
                      <a:moveTo>
                        <a:pt x="95250" y="95250"/>
                      </a:moveTo>
                      <a:lnTo>
                        <a:pt x="381000" y="381000"/>
                      </a:lnTo>
                      <a:moveTo>
                        <a:pt x="95250" y="381000"/>
                      </a:moveTo>
                      <a:lnTo>
                        <a:pt x="381000" y="95250"/>
                      </a:lnTo>
                      <a:moveTo>
                        <a:pt x="238125" y="0"/>
                      </a:moveTo>
                      <a:lnTo>
                        <a:pt x="238125" y="476250"/>
                      </a:lnTo>
                      <a:moveTo>
                        <a:pt x="0" y="238125"/>
                      </a:moveTo>
                      <a:lnTo>
                        <a:pt x="476250" y="238125"/>
                      </a:lnTo>
                    </a:path>
                  </a:pathLst>
                </a:custGeom>
                <a:solidFill>
                  <a:srgbClr val="000000"/>
                </a:solidFill>
                <a:ln w="19050">
                  <a:solidFill>
                    <a:srgbClr val="00E5FF"/>
                  </a:solidFill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2305050" y="2590800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388459" y="3392805"/>
                <a:ext cx="198558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关键基础设施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516856" y="3917632"/>
                <a:ext cx="17287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E0E6ED"/>
                    </a:solidFill>
                    <a:latin typeface="Segoe UI"/>
                    <a:ea typeface="Microsoft YaHei"/>
                    <a:cs typeface="Segoe UI"/>
                  </a:rPr>
                  <a:t>知识图谱是通向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516856" y="4298632"/>
                <a:ext cx="17287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E0E6ED"/>
                    </a:solidFill>
                    <a:latin typeface="Segoe UI"/>
                    <a:ea typeface="Microsoft YaHei"/>
                    <a:cs typeface="Segoe UI"/>
                  </a:rPr>
                  <a:t>认知智能的基石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1104900" y="4854892"/>
                <a:ext cx="1823085" cy="655320"/>
                <a:chOff x="1104900" y="4854892"/>
                <a:chExt cx="1823085" cy="655320"/>
              </a:xfrm>
            </p:grpSpPr>
            <p:sp>
              <p:nvSpPr>
                <p:cNvPr id="28" name="Ellipse 28"/>
                <p:cNvSpPr/>
                <p:nvPr/>
              </p:nvSpPr>
              <p:spPr>
                <a:xfrm>
                  <a:off x="1104900" y="4914900"/>
                  <a:ext cx="76200" cy="76200"/>
                </a:xfrm>
                <a:prstGeom prst="ellipse">
                  <a:avLst/>
                </a:prstGeom>
                <a:solidFill>
                  <a:srgbClr val="00E5FF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316355" y="4854892"/>
                  <a:ext cx="1414462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rgbClr val="B0BEC5"/>
                      </a:solidFill>
                      <a:latin typeface="Segoe UI"/>
                      <a:ea typeface="Microsoft YaHei"/>
                      <a:cs typeface="Segoe UI"/>
                    </a:rPr>
                    <a:t>结构化语义关联</a:t>
                  </a:r>
                </a:p>
              </p:txBody>
            </p:sp>
            <p:sp>
              <p:nvSpPr>
                <p:cNvPr id="30" name="Ellipse 30"/>
                <p:cNvSpPr/>
                <p:nvPr/>
              </p:nvSpPr>
              <p:spPr>
                <a:xfrm>
                  <a:off x="1104900" y="5295900"/>
                  <a:ext cx="76200" cy="76200"/>
                </a:xfrm>
                <a:prstGeom prst="ellipse">
                  <a:avLst/>
                </a:prstGeom>
                <a:solidFill>
                  <a:srgbClr val="00E5FF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316355" y="5235892"/>
                  <a:ext cx="161163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rgbClr val="B0BEC5"/>
                      </a:solidFill>
                      <a:latin typeface="Segoe UI"/>
                      <a:ea typeface="Microsoft YaHei"/>
                      <a:cs typeface="Segoe UI"/>
                    </a:rPr>
                    <a:t>机器可理解的逻辑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4476750" y="1905000"/>
              <a:ext cx="3238500" cy="4000500"/>
              <a:chOff x="4476750" y="1905000"/>
              <a:chExt cx="3238500" cy="4000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476750" y="1905000"/>
                <a:ext cx="3238500" cy="4000500"/>
              </a:xfrm>
              <a:prstGeom prst="roundRect">
                <a:avLst>
                  <a:gd name="adj" fmla="val 4706"/>
                </a:avLst>
              </a:prstGeom>
              <a:gradFill>
                <a:gsLst>
                  <a:gs pos="0">
                    <a:srgbClr val="233A63">
                      <a:alpha val="80000"/>
                    </a:srgbClr>
                  </a:gs>
                  <a:gs pos="100000">
                    <a:srgbClr val="151E32">
                      <a:alpha val="90000"/>
                    </a:srgbClr>
                  </a:gs>
                </a:gsLst>
                <a:lin ang="5400000" scaled="1"/>
              </a:gradFill>
              <a:ln w="9525">
                <a:solidFill>
                  <a:srgbClr val="00E5FF">
                    <a:alpha val="50000"/>
                  </a:srgbClr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5810250" y="2381250"/>
                <a:ext cx="571500" cy="571500"/>
                <a:chOff x="5810250" y="2381250"/>
                <a:chExt cx="571500" cy="571500"/>
              </a:xfrm>
            </p:grpSpPr>
            <p:sp>
              <p:nvSpPr>
                <p:cNvPr id="35" name="Rectangle 35"/>
                <p:cNvSpPr/>
                <p:nvPr/>
              </p:nvSpPr>
              <p:spPr>
                <a:xfrm>
                  <a:off x="5810250" y="2381250"/>
                  <a:ext cx="190500" cy="190500"/>
                </a:xfrm>
                <a:prstGeom prst="rect">
                  <a:avLst/>
                </a:prstGeom>
                <a:solidFill>
                  <a:srgbClr val="00E5FF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36" name="Rectangle 36"/>
                <p:cNvSpPr/>
                <p:nvPr/>
              </p:nvSpPr>
              <p:spPr>
                <a:xfrm>
                  <a:off x="6191250" y="2381250"/>
                  <a:ext cx="190500" cy="190500"/>
                </a:xfrm>
                <a:prstGeom prst="rect">
                  <a:avLst/>
                </a:prstGeom>
                <a:solidFill>
                  <a:srgbClr val="00E5FF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>
                  <a:off x="5810250" y="2762250"/>
                  <a:ext cx="190500" cy="190500"/>
                </a:xfrm>
                <a:prstGeom prst="rect">
                  <a:avLst/>
                </a:prstGeom>
                <a:solidFill>
                  <a:srgbClr val="00E5FF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38" name="Rectangle 38"/>
                <p:cNvSpPr/>
                <p:nvPr/>
              </p:nvSpPr>
              <p:spPr>
                <a:xfrm>
                  <a:off x="6191250" y="2762250"/>
                  <a:ext cx="190500" cy="190500"/>
                </a:xfrm>
                <a:prstGeom prst="rect">
                  <a:avLst/>
                </a:prstGeom>
                <a:solidFill>
                  <a:srgbClr val="00E5FF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000750" y="2571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  <a:moveTo>
                        <a:pt x="190500" y="0"/>
                      </a:moveTo>
                      <a:lnTo>
                        <a:pt x="0" y="190500"/>
                      </a:lnTo>
                    </a:path>
                  </a:pathLst>
                </a:custGeom>
                <a:solidFill>
                  <a:srgbClr val="000000"/>
                </a:solidFill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810282" y="3425190"/>
                <a:ext cx="257143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0E5FF"/>
                    </a:solidFill>
                    <a:latin typeface="Segoe UI"/>
                    <a:ea typeface="Microsoft YaHei"/>
                    <a:cs typeface="Segoe UI"/>
                  </a:rPr>
                  <a:t>数据驱动 + 知识驱动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898461" y="3802380"/>
                <a:ext cx="395078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=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301825" y="4503420"/>
                <a:ext cx="158835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下一代 AI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0099" y="5188268"/>
                <a:ext cx="29918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B0BEC5"/>
                    </a:solidFill>
                    <a:latin typeface="Segoe UI"/>
                    <a:ea typeface="Microsoft YaHei"/>
                    <a:cs typeface="Segoe UI"/>
                  </a:rPr>
                  <a:t>双轮驱动，突破纯数据学习的瓶颈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191500" y="1905000"/>
              <a:ext cx="3238500" cy="4000500"/>
              <a:chOff x="8191500" y="1905000"/>
              <a:chExt cx="3238500" cy="4000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191500" y="1905000"/>
                <a:ext cx="3238500" cy="4000500"/>
              </a:xfrm>
              <a:prstGeom prst="roundRect">
                <a:avLst>
                  <a:gd name="adj" fmla="val 4706"/>
                </a:avLst>
              </a:prstGeom>
              <a:gradFill>
                <a:gsLst>
                  <a:gs pos="0">
                    <a:srgbClr val="233A63">
                      <a:alpha val="80000"/>
                    </a:srgbClr>
                  </a:gs>
                  <a:gs pos="100000">
                    <a:srgbClr val="151E32">
                      <a:alpha val="90000"/>
                    </a:srgbClr>
                  </a:gs>
                </a:gsLst>
                <a:lin ang="5400000" scaled="1"/>
              </a:gradFill>
              <a:ln w="9525">
                <a:solidFill>
                  <a:srgbClr val="00E5FF">
                    <a:alpha val="50000"/>
                  </a:srgbClr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9525000" y="2333625"/>
                <a:ext cx="571500" cy="762000"/>
                <a:chOff x="9525000" y="2333625"/>
                <a:chExt cx="571500" cy="7620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9525000" y="2333625"/>
                  <a:ext cx="571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762000">
                      <a:moveTo>
                        <a:pt x="285750" y="0"/>
                      </a:moveTo>
                      <a:lnTo>
                        <a:pt x="571500" y="142875"/>
                      </a:lnTo>
                      <a:lnTo>
                        <a:pt x="571500" y="428625"/>
                      </a:lnTo>
                      <a:cubicBezTo>
                        <a:pt x="571500" y="619125"/>
                        <a:pt x="285750" y="762000"/>
                        <a:pt x="285750" y="762000"/>
                      </a:cubicBezTo>
                      <a:cubicBezTo>
                        <a:pt x="285750" y="762000"/>
                        <a:pt x="0" y="619125"/>
                        <a:pt x="0" y="428625"/>
                      </a:cubicBezTo>
                      <a:lnTo>
                        <a:pt x="0" y="142875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E5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715500" y="2619375"/>
                  <a:ext cx="2381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90500">
                      <a:moveTo>
                        <a:pt x="0" y="95250"/>
                      </a:moveTo>
                      <a:lnTo>
                        <a:pt x="76200" y="190500"/>
                      </a:lnTo>
                      <a:lnTo>
                        <a:pt x="238125" y="0"/>
                      </a:lnTo>
                    </a:path>
                  </a:pathLst>
                </a:custGeom>
                <a:noFill/>
                <a:ln w="38100" cap="rnd">
                  <a:solidFill>
                    <a:srgbClr val="FFFFFF"/>
                  </a:solidFill>
                  <a:round/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8663049" y="3425190"/>
                <a:ext cx="229540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0E5FF"/>
                    </a:solidFill>
                    <a:latin typeface="Segoe UI"/>
                    <a:ea typeface="Microsoft YaHei"/>
                    <a:cs typeface="Segoe UI"/>
                  </a:rPr>
                  <a:t>知识图谱 + 大模型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613211" y="3802380"/>
                <a:ext cx="395078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=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495919" y="4440555"/>
                <a:ext cx="2629662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更可信、更可解释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978979" y="4821555"/>
                <a:ext cx="16635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的智能系统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14849" y="5474018"/>
                <a:ext cx="29918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B0BEC5"/>
                    </a:solidFill>
                    <a:latin typeface="Segoe UI"/>
                    <a:ea typeface="Microsoft YaHei"/>
                    <a:cs typeface="Segoe UI"/>
                  </a:rPr>
                  <a:t>解决幻觉问题，实现人机协作增强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4970621" y="6124575"/>
            <a:ext cx="22507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E5FF"/>
                </a:solidFill>
                <a:latin typeface="Segoe UI"/>
                <a:ea typeface="Microsoft YaHei"/>
                <a:cs typeface="Segoe UI"/>
              </a:rPr>
              <a:t>THANKS FOR WATCHING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90500" y="-381000"/>
            <a:ext cx="12096750" cy="7905750"/>
            <a:chOff x="190500" y="-381000"/>
            <a:chExt cx="12096750" cy="7905750"/>
          </a:xfrm>
        </p:grpSpPr>
        <p:sp>
          <p:nvSpPr>
            <p:cNvPr id="3" name="Ellipse 3"/>
            <p:cNvSpPr/>
            <p:nvPr/>
          </p:nvSpPr>
          <p:spPr>
            <a:xfrm>
              <a:off x="190500" y="-381000"/>
              <a:ext cx="3048000" cy="3048000"/>
            </a:xfrm>
            <a:prstGeom prst="ellipse">
              <a:avLst/>
            </a:prstGeom>
            <a:solidFill>
              <a:srgbClr val="3B82F6">
                <a:alpha val="7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67750" y="3905250"/>
              <a:ext cx="3619500" cy="3619500"/>
            </a:xfrm>
            <a:prstGeom prst="ellipse">
              <a:avLst/>
            </a:prstGeom>
            <a:solidFill>
              <a:srgbClr val="8B5CF6">
                <a:alpha val="7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4381500" y="32861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3B82F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603218" y="2050732"/>
            <a:ext cx="2985564" cy="2621280"/>
            <a:chOff x="4603218" y="2050732"/>
            <a:chExt cx="2985564" cy="2621280"/>
          </a:xfrm>
        </p:grpSpPr>
        <p:sp>
          <p:nvSpPr>
            <p:cNvPr id="7" name="TextBox 7"/>
            <p:cNvSpPr txBox="1"/>
            <p:nvPr/>
          </p:nvSpPr>
          <p:spPr>
            <a:xfrm>
              <a:off x="4603218" y="2050732"/>
              <a:ext cx="2985564" cy="1249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1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43912" y="3357562"/>
              <a:ext cx="150417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46333" y="4153852"/>
              <a:ext cx="22993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欢迎交流讨论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31645" y="6298882"/>
            <a:ext cx="72871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
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1085850" y="1371600"/>
            <a:ext cx="9258300" cy="4800600"/>
            <a:chOff x="1085850" y="1371600"/>
            <a:chExt cx="9258300" cy="4800600"/>
          </a:xfrm>
        </p:grpSpPr>
        <p:sp>
          <p:nvSpPr>
            <p:cNvPr id="3" name="Line 3"/>
            <p:cNvSpPr/>
            <p:nvPr/>
          </p:nvSpPr>
          <p:spPr>
            <a:xfrm>
              <a:off x="1143000" y="1428750"/>
              <a:ext cx="1905000" cy="1238250"/>
            </a:xfrm>
            <a:custGeom>
              <a:avLst/>
              <a:gdLst/>
              <a:ahLst/>
              <a:cxnLst/>
              <a:rect l="l" t="t" r="r" b="b"/>
              <a:pathLst>
                <a:path w="1905000" h="1238250">
                  <a:moveTo>
                    <a:pt x="0" y="0"/>
                  </a:moveTo>
                  <a:lnTo>
                    <a:pt x="1905000" y="123825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048000" y="1905000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0" y="7620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4572000" y="1905000"/>
              <a:ext cx="666750" cy="1143000"/>
            </a:xfrm>
            <a:custGeom>
              <a:avLst/>
              <a:gdLst/>
              <a:ahLst/>
              <a:cxnLst/>
              <a:rect l="l" t="t" r="r" b="b"/>
              <a:pathLst>
                <a:path w="666750" h="1143000">
                  <a:moveTo>
                    <a:pt x="0" y="0"/>
                  </a:moveTo>
                  <a:lnTo>
                    <a:pt x="666750" y="114300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382000" y="1714500"/>
              <a:ext cx="1619250" cy="1143000"/>
            </a:xfrm>
            <a:custGeom>
              <a:avLst/>
              <a:gdLst/>
              <a:ahLst/>
              <a:cxnLst/>
              <a:rect l="l" t="t" r="r" b="b"/>
              <a:pathLst>
                <a:path w="1619250" h="1143000">
                  <a:moveTo>
                    <a:pt x="161925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858000" y="2095500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1524000" y="762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477000" y="2095500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38100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524500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0" y="0"/>
                  </a:moveTo>
                  <a:lnTo>
                    <a:pt x="1524000" y="57150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238500" y="5619750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0" y="47625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763000" y="4953000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1524000" y="0"/>
                  </a:moveTo>
                  <a:lnTo>
                    <a:pt x="0" y="85725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239000" y="5143500"/>
              <a:ext cx="1524000" cy="666750"/>
            </a:xfrm>
            <a:custGeom>
              <a:avLst/>
              <a:gdLst/>
              <a:ahLst/>
              <a:cxnLst/>
              <a:rect l="l" t="t" r="r" b="b"/>
              <a:pathLst>
                <a:path w="1524000" h="666750">
                  <a:moveTo>
                    <a:pt x="1524000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3B82F6">
                  <a:alpha val="15000"/>
                </a:srgb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85850" y="1371600"/>
              <a:ext cx="114300" cy="11430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971800" y="2590800"/>
              <a:ext cx="152400" cy="15240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524375" y="1857375"/>
              <a:ext cx="95250" cy="9525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172075" y="2981325"/>
              <a:ext cx="133350" cy="13335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944100" y="1657350"/>
              <a:ext cx="114300" cy="11430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296275" y="2771775"/>
              <a:ext cx="171450" cy="17145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10375" y="2047875"/>
              <a:ext cx="95250" cy="9525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410325" y="3171825"/>
              <a:ext cx="133350" cy="13335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657350" y="5467350"/>
              <a:ext cx="114300" cy="11430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162300" y="6019800"/>
              <a:ext cx="152400" cy="15240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714875" y="5572125"/>
              <a:ext cx="95250" cy="9525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229850" y="4895850"/>
              <a:ext cx="114300" cy="11430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677275" y="5724525"/>
              <a:ext cx="171450" cy="17145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191375" y="5095875"/>
              <a:ext cx="95250" cy="95250"/>
            </a:xfrm>
            <a:prstGeom prst="ellipse">
              <a:avLst/>
            </a:prstGeom>
            <a:solidFill>
              <a:srgbClr val="60A5FA">
                <a:alpha val="150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179570" y="2305050"/>
            <a:ext cx="3832860" cy="1219200"/>
            <a:chOff x="4179570" y="2305050"/>
            <a:chExt cx="3832860" cy="1219200"/>
          </a:xfrm>
        </p:grpSpPr>
        <p:sp>
          <p:nvSpPr>
            <p:cNvPr id="28" name="TextBox 28"/>
            <p:cNvSpPr txBox="1"/>
            <p:nvPr/>
          </p:nvSpPr>
          <p:spPr>
            <a:xfrm>
              <a:off x="4179570" y="2305050"/>
              <a:ext cx="38328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760851" y="3455670"/>
            <a:ext cx="4670298" cy="487680"/>
            <a:chOff x="3760851" y="3455670"/>
            <a:chExt cx="4670298" cy="487680"/>
          </a:xfrm>
        </p:grpSpPr>
        <p:sp>
          <p:nvSpPr>
            <p:cNvPr id="30" name="TextBox 30"/>
            <p:cNvSpPr txBox="1"/>
            <p:nvPr/>
          </p:nvSpPr>
          <p:spPr>
            <a:xfrm>
              <a:off x="3760851" y="3455670"/>
              <a:ext cx="46702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核心技术架构 · 应用落地场景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143500" y="4095750"/>
            <a:ext cx="1905000" cy="9525"/>
            <a:chOff x="5143500" y="4095750"/>
            <a:chExt cx="1905000" cy="9525"/>
          </a:xfrm>
        </p:grpSpPr>
        <p:sp>
          <p:nvSpPr>
            <p:cNvPr id="32" name="Line 32"/>
            <p:cNvSpPr/>
            <p:nvPr/>
          </p:nvSpPr>
          <p:spPr>
            <a:xfrm>
              <a:off x="5143500" y="4095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 cap="rnd">
              <a:solidFill>
                <a:srgbClr val="0EA5E9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443004" y="5516880"/>
            <a:ext cx="1305992" cy="731520"/>
            <a:chOff x="5443004" y="5516880"/>
            <a:chExt cx="1305992" cy="731520"/>
          </a:xfrm>
        </p:grpSpPr>
        <p:sp>
          <p:nvSpPr>
            <p:cNvPr id="34" name="TextBox 34"/>
            <p:cNvSpPr txBox="1"/>
            <p:nvPr/>
          </p:nvSpPr>
          <p:spPr>
            <a:xfrm>
              <a:off x="5443004" y="5516880"/>
              <a:ext cx="130599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EA5E9"/>
                  </a:solidFill>
                  <a:latin typeface="Arial"/>
                  <a:ea typeface="Microsoft YaHei"/>
                  <a:cs typeface="Arial"/>
                </a:rPr>
                <a:t>2025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1" grpId="0"/>
      <p:bldP spid="33" grpId="0"/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02970" y="531495"/>
            <a:ext cx="1295210" cy="992505"/>
            <a:chOff x="902970" y="531495"/>
            <a:chExt cx="1295210" cy="992505"/>
          </a:xfrm>
        </p:grpSpPr>
        <p:sp>
          <p:nvSpPr>
            <p:cNvPr id="4" name="TextBox 4"/>
            <p:cNvSpPr txBox="1"/>
            <p:nvPr/>
          </p:nvSpPr>
          <p:spPr>
            <a:xfrm>
              <a:off x="902970" y="531495"/>
              <a:ext cx="129521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1545" y="1107758"/>
              <a:ext cx="1150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1476375"/>
              <a:ext cx="666750" cy="4762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47725" y="1395412"/>
            <a:ext cx="10391775" cy="5105400"/>
            <a:chOff x="847725" y="1395412"/>
            <a:chExt cx="10391775" cy="5105400"/>
          </a:xfrm>
        </p:grpSpPr>
        <p:grpSp>
          <p:nvGrpSpPr>
            <p:cNvPr id="11" name="Group 11"/>
            <p:cNvGrpSpPr/>
            <p:nvPr/>
          </p:nvGrpSpPr>
          <p:grpSpPr>
            <a:xfrm>
              <a:off x="847725" y="1395412"/>
              <a:ext cx="10391775" cy="1676400"/>
              <a:chOff x="847725" y="1395412"/>
              <a:chExt cx="10391775" cy="167640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847725" y="1395412"/>
                <a:ext cx="1284934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967865" y="1915478"/>
                <a:ext cx="2802112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什么是知识图谱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2000250" y="2428875"/>
                <a:ext cx="923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39250" h="9525">
                    <a:moveTo>
                      <a:pt x="0" y="0"/>
                    </a:moveTo>
                    <a:lnTo>
                      <a:pt x="9239250" y="0"/>
                    </a:lnTo>
                  </a:path>
                </a:pathLst>
              </a:custGeom>
              <a:noFill/>
              <a:ln w="19050">
                <a:solidFill>
                  <a:srgbClr val="E2E8F0"/>
                </a:solidFill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847725" y="2538412"/>
              <a:ext cx="10391775" cy="1676400"/>
              <a:chOff x="847725" y="2538412"/>
              <a:chExt cx="10391775" cy="167640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47725" y="2538412"/>
                <a:ext cx="1601224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967865" y="3058478"/>
                <a:ext cx="2411063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核心技术架构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2000250" y="3571875"/>
                <a:ext cx="923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39250" h="9525">
                    <a:moveTo>
                      <a:pt x="0" y="0"/>
                    </a:moveTo>
                    <a:lnTo>
                      <a:pt x="9239250" y="0"/>
                    </a:lnTo>
                  </a:path>
                </a:pathLst>
              </a:custGeom>
              <a:noFill/>
              <a:ln w="19050">
                <a:solidFill>
                  <a:srgbClr val="E2E8F0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847725" y="3681412"/>
              <a:ext cx="10391775" cy="1676400"/>
              <a:chOff x="847725" y="3681412"/>
              <a:chExt cx="10391775" cy="167640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47725" y="3681412"/>
                <a:ext cx="1601224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67865" y="4201478"/>
                <a:ext cx="2411063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应用落地场景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2000250" y="4714875"/>
                <a:ext cx="923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39250" h="9525">
                    <a:moveTo>
                      <a:pt x="0" y="0"/>
                    </a:moveTo>
                    <a:lnTo>
                      <a:pt x="9239250" y="0"/>
                    </a:lnTo>
                  </a:path>
                </a:pathLst>
              </a:custGeom>
              <a:noFill/>
              <a:ln w="19050">
                <a:solidFill>
                  <a:srgbClr val="E2E8F0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847725" y="4824412"/>
              <a:ext cx="10391775" cy="1676400"/>
              <a:chOff x="847725" y="4824412"/>
              <a:chExt cx="10391775" cy="167640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47725" y="4824412"/>
                <a:ext cx="1601224" cy="16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0" b="1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967865" y="5344478"/>
                <a:ext cx="2020014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总结与展望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2000250" y="5857875"/>
                <a:ext cx="923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39250" h="9525">
                    <a:moveTo>
                      <a:pt x="0" y="0"/>
                    </a:moveTo>
                    <a:lnTo>
                      <a:pt x="9239250" y="0"/>
                    </a:lnTo>
                  </a:path>
                </a:pathLst>
              </a:custGeom>
              <a:noFill/>
              <a:ln w="19050">
                <a:solidFill>
                  <a:srgbClr val="E2E8F0"/>
                </a:solidFill>
              </a:ln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952500" y="6172200"/>
            <a:ext cx="10306050" cy="314325"/>
            <a:chOff x="952500" y="6172200"/>
            <a:chExt cx="10306050" cy="314325"/>
          </a:xfrm>
        </p:grpSpPr>
        <p:sp>
          <p:nvSpPr>
            <p:cNvPr id="25" name="Line 25"/>
            <p:cNvSpPr/>
            <p:nvPr/>
          </p:nvSpPr>
          <p:spPr>
            <a:xfrm>
              <a:off x="952500" y="6477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86549" y="6172200"/>
              <a:ext cx="7720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09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953500" y="1905000"/>
            <a:ext cx="3048000" cy="3048000"/>
            <a:chOff x="8953500" y="1905000"/>
            <a:chExt cx="3048000" cy="3048000"/>
          </a:xfrm>
        </p:grpSpPr>
        <p:sp>
          <p:nvSpPr>
            <p:cNvPr id="28" name="Ellipse 28"/>
            <p:cNvSpPr/>
            <p:nvPr/>
          </p:nvSpPr>
          <p:spPr>
            <a:xfrm>
              <a:off x="8953500" y="1905000"/>
              <a:ext cx="3048000" cy="3048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525000" y="2476500"/>
              <a:ext cx="1905000" cy="1905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0" name="Polygon 30"/>
            <p:cNvSpPr/>
            <p:nvPr/>
          </p:nvSpPr>
          <p:spPr>
            <a:xfrm>
              <a:off x="10096500" y="3048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381000" y="0"/>
                  </a:lnTo>
                  <a:lnTo>
                    <a:pt x="762000" y="381000"/>
                  </a:lnTo>
                  <a:lnTo>
                    <a:pt x="381000" y="762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296275" y="1581150"/>
            <a:ext cx="3209925" cy="2505075"/>
            <a:chOff x="8296275" y="1581150"/>
            <a:chExt cx="3209925" cy="2505075"/>
          </a:xfrm>
        </p:grpSpPr>
        <p:sp>
          <p:nvSpPr>
            <p:cNvPr id="3" name="Line 3"/>
            <p:cNvSpPr/>
            <p:nvPr/>
          </p:nvSpPr>
          <p:spPr>
            <a:xfrm>
              <a:off x="8763000" y="1714500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0" y="0"/>
                  </a:moveTo>
                  <a:lnTo>
                    <a:pt x="952500" y="571500"/>
                  </a:lnTo>
                </a:path>
              </a:pathLst>
            </a:custGeom>
            <a:noFill/>
            <a:ln w="19050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9715500" y="180975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47625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9715500" y="2286000"/>
              <a:ext cx="571500" cy="952500"/>
            </a:xfrm>
            <a:custGeom>
              <a:avLst/>
              <a:gdLst/>
              <a:ahLst/>
              <a:cxnLst/>
              <a:rect l="l" t="t" r="r" b="b"/>
              <a:pathLst>
                <a:path w="571500" h="952500">
                  <a:moveTo>
                    <a:pt x="0" y="0"/>
                  </a:moveTo>
                  <a:lnTo>
                    <a:pt x="571500" y="952500"/>
                  </a:lnTo>
                </a:path>
              </a:pathLst>
            </a:custGeom>
            <a:noFill/>
            <a:ln w="19050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334500" y="32385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95250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763000" y="1714500"/>
              <a:ext cx="571500" cy="2000250"/>
            </a:xfrm>
            <a:custGeom>
              <a:avLst/>
              <a:gdLst/>
              <a:ahLst/>
              <a:cxnLst/>
              <a:rect l="l" t="t" r="r" b="b"/>
              <a:pathLst>
                <a:path w="571500" h="2000250">
                  <a:moveTo>
                    <a:pt x="571500" y="2000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287000" y="1809750"/>
              <a:ext cx="381000" cy="1428750"/>
            </a:xfrm>
            <a:custGeom>
              <a:avLst/>
              <a:gdLst/>
              <a:ahLst/>
              <a:cxnLst/>
              <a:rect l="l" t="t" r="r" b="b"/>
              <a:pathLst>
                <a:path w="381000" h="1428750">
                  <a:moveTo>
                    <a:pt x="381000" y="0"/>
                  </a:moveTo>
                  <a:lnTo>
                    <a:pt x="0" y="1428750"/>
                  </a:lnTo>
                </a:path>
              </a:pathLst>
            </a:custGeom>
            <a:noFill/>
            <a:ln w="19050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0" y="2667000"/>
              <a:ext cx="666750" cy="571500"/>
            </a:xfrm>
            <a:custGeom>
              <a:avLst/>
              <a:gdLst/>
              <a:ahLst/>
              <a:cxnLst/>
              <a:rect l="l" t="t" r="r" b="b"/>
              <a:pathLst>
                <a:path w="666750" h="571500">
                  <a:moveTo>
                    <a:pt x="0" y="57150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715500" y="2286000"/>
              <a:ext cx="1238250" cy="381000"/>
            </a:xfrm>
            <a:custGeom>
              <a:avLst/>
              <a:gdLst/>
              <a:ahLst/>
              <a:cxnLst/>
              <a:rect l="l" t="t" r="r" b="b"/>
              <a:pathLst>
                <a:path w="1238250" h="381000">
                  <a:moveTo>
                    <a:pt x="1238250" y="381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29650" y="1581150"/>
              <a:ext cx="266700" cy="266700"/>
            </a:xfrm>
            <a:prstGeom prst="ellipse">
              <a:avLst/>
            </a:prstGeom>
            <a:solidFill>
              <a:srgbClr val="60A5FA">
                <a:alpha val="3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44050" y="2114550"/>
              <a:ext cx="342900" cy="342900"/>
            </a:xfrm>
            <a:prstGeom prst="ellipse">
              <a:avLst/>
            </a:prstGeom>
            <a:solidFill>
              <a:srgbClr val="3B82F6">
                <a:alpha val="4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553700" y="1695450"/>
              <a:ext cx="228600" cy="228600"/>
            </a:xfrm>
            <a:prstGeom prst="ellipse">
              <a:avLst/>
            </a:prstGeom>
            <a:solidFill>
              <a:srgbClr val="60A5FA">
                <a:alpha val="3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134600" y="3086100"/>
              <a:ext cx="304800" cy="304800"/>
            </a:xfrm>
            <a:prstGeom prst="ellipse">
              <a:avLst/>
            </a:prstGeom>
            <a:solidFill>
              <a:srgbClr val="3B82F6">
                <a:alpha val="4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210675" y="3590925"/>
              <a:ext cx="247650" cy="247650"/>
            </a:xfrm>
            <a:prstGeom prst="ellipse">
              <a:avLst/>
            </a:prstGeom>
            <a:solidFill>
              <a:srgbClr val="60A5FA">
                <a:alpha val="3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858500" y="2571750"/>
              <a:ext cx="190500" cy="190500"/>
            </a:xfrm>
            <a:prstGeom prst="ellipse">
              <a:avLst/>
            </a:prstGeom>
            <a:solidFill>
              <a:srgbClr val="94A3B8">
                <a:alpha val="3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353800" y="3257550"/>
              <a:ext cx="152400" cy="152400"/>
            </a:xfrm>
            <a:prstGeom prst="ellipse">
              <a:avLst/>
            </a:prstGeom>
            <a:solidFill>
              <a:srgbClr val="94A3B8">
                <a:alpha val="2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296275" y="3914775"/>
              <a:ext cx="171450" cy="171450"/>
            </a:xfrm>
            <a:prstGeom prst="ellipse">
              <a:avLst/>
            </a:prstGeom>
            <a:solidFill>
              <a:srgbClr val="94A3B8">
                <a:alpha val="25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12470" y="579120"/>
            <a:ext cx="4285583" cy="792480"/>
            <a:chOff x="712470" y="579120"/>
            <a:chExt cx="4285583" cy="792480"/>
          </a:xfrm>
        </p:grpSpPr>
        <p:sp>
          <p:nvSpPr>
            <p:cNvPr id="20" name="TextBox 20"/>
            <p:cNvSpPr txBox="1"/>
            <p:nvPr/>
          </p:nvSpPr>
          <p:spPr>
            <a:xfrm>
              <a:off x="712470" y="579120"/>
              <a:ext cx="428558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什么是知识图谱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1190625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62000" y="1714500"/>
            <a:ext cx="10668000" cy="3810000"/>
            <a:chOff x="762000" y="1714500"/>
            <a:chExt cx="10668000" cy="3810000"/>
          </a:xfrm>
        </p:grpSpPr>
        <p:grpSp>
          <p:nvGrpSpPr>
            <p:cNvPr id="28" name="Group 28"/>
            <p:cNvGrpSpPr/>
            <p:nvPr/>
          </p:nvGrpSpPr>
          <p:grpSpPr>
            <a:xfrm>
              <a:off x="762000" y="1714500"/>
              <a:ext cx="10668000" cy="1143000"/>
              <a:chOff x="762000" y="1714500"/>
              <a:chExt cx="10668000" cy="1143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2000" y="1714500"/>
                <a:ext cx="10668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9050">
                <a:solidFill>
                  <a:srgbClr val="E2E8F0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066800" y="2019300"/>
                <a:ext cx="533400" cy="533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69235" y="2167890"/>
                <a:ext cx="1285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30705" y="1964055"/>
                <a:ext cx="69742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定义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38325" y="2390775"/>
                <a:ext cx="39814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用图结构描述实体及其语义关系的知识库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62000" y="3048000"/>
              <a:ext cx="10668000" cy="1143000"/>
              <a:chOff x="762000" y="3048000"/>
              <a:chExt cx="10668000" cy="1143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62000" y="3048000"/>
                <a:ext cx="10668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9050">
                <a:solidFill>
                  <a:srgbClr val="E2E8F0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1066800" y="3352800"/>
                <a:ext cx="533400" cy="533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34731" y="3501390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30705" y="329755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基本单元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838325" y="3724275"/>
                <a:ext cx="268890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&lt;实体, 关系, 实体&gt; 三元组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62000" y="4381500"/>
              <a:ext cx="10668000" cy="1143000"/>
              <a:chOff x="762000" y="4381500"/>
              <a:chExt cx="10668000" cy="11430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762000" y="4381500"/>
                <a:ext cx="10668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9050">
                <a:solidFill>
                  <a:srgbClr val="E2E8F0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1066800" y="4686300"/>
                <a:ext cx="533400" cy="533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34731" y="4834890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830705" y="4631055"/>
                <a:ext cx="69742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本质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838325" y="5057775"/>
                <a:ext cx="35433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将碎片化信息组织成结构化知识网络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0829925" y="644271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3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819555" y="267652"/>
            <a:ext cx="6623780" cy="703898"/>
            <a:chOff x="4819555" y="267652"/>
            <a:chExt cx="6623780" cy="703898"/>
          </a:xfrm>
        </p:grpSpPr>
        <p:sp>
          <p:nvSpPr>
            <p:cNvPr id="4" name="TextBox 4"/>
            <p:cNvSpPr txBox="1"/>
            <p:nvPr/>
          </p:nvSpPr>
          <p:spPr>
            <a:xfrm>
              <a:off x="4819555" y="422910"/>
              <a:ext cx="25528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核心技术架构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904875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071622" y="267652"/>
              <a:ext cx="3717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4 / 9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57500" y="1428750"/>
            <a:ext cx="1905000" cy="1524000"/>
            <a:chOff x="2857500" y="1428750"/>
            <a:chExt cx="1905000" cy="1524000"/>
          </a:xfrm>
        </p:grpSpPr>
        <p:sp>
          <p:nvSpPr>
            <p:cNvPr id="8" name="Rectangle 8"/>
            <p:cNvSpPr/>
            <p:nvPr/>
          </p:nvSpPr>
          <p:spPr>
            <a:xfrm>
              <a:off x="2857500" y="1428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857500" y="1428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933700" y="1504950"/>
              <a:ext cx="419100" cy="4191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00407" y="164211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57575" y="15335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知识抽取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63290" y="1867852"/>
              <a:ext cx="10234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NER实体识别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63290" y="210597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关系抽取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63290" y="23441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属性抽取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43500" y="1428750"/>
            <a:ext cx="1905000" cy="1524000"/>
            <a:chOff x="5143500" y="1428750"/>
            <a:chExt cx="1905000" cy="1524000"/>
          </a:xfrm>
        </p:grpSpPr>
        <p:sp>
          <p:nvSpPr>
            <p:cNvPr id="17" name="Rectangle 17"/>
            <p:cNvSpPr/>
            <p:nvPr/>
          </p:nvSpPr>
          <p:spPr>
            <a:xfrm>
              <a:off x="5143500" y="1428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143500" y="1428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219700" y="1504950"/>
              <a:ext cx="419100" cy="4191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63404" y="16421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43575" y="15335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知识融合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49290" y="186785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实体对齐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49290" y="210597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共指消解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49290" y="23441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冲突消解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429500" y="1428750"/>
            <a:ext cx="2165985" cy="1524000"/>
            <a:chOff x="7429500" y="1428750"/>
            <a:chExt cx="2165985" cy="1524000"/>
          </a:xfrm>
        </p:grpSpPr>
        <p:sp>
          <p:nvSpPr>
            <p:cNvPr id="26" name="Rectangle 26"/>
            <p:cNvSpPr/>
            <p:nvPr/>
          </p:nvSpPr>
          <p:spPr>
            <a:xfrm>
              <a:off x="7429500" y="1428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29500" y="1428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505700" y="1504950"/>
              <a:ext cx="419100" cy="4191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49404" y="16421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29575" y="15335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知识存储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35290" y="18678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图数据库建模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35290" y="210597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Neo4j / JanusGraph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5290" y="23441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模式设计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000500" y="3333750"/>
            <a:ext cx="1905000" cy="1524000"/>
            <a:chOff x="4000500" y="3333750"/>
            <a:chExt cx="1905000" cy="1524000"/>
          </a:xfrm>
        </p:grpSpPr>
        <p:sp>
          <p:nvSpPr>
            <p:cNvPr id="35" name="Rectangle 35"/>
            <p:cNvSpPr/>
            <p:nvPr/>
          </p:nvSpPr>
          <p:spPr>
            <a:xfrm>
              <a:off x="4000500" y="3333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000500" y="3333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4076700" y="3409950"/>
              <a:ext cx="419100" cy="4191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20404" y="35471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0575" y="34385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知识推理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6290" y="377285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规则推理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6290" y="401097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图神经网络推理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06290" y="42491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链接预测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3333750"/>
            <a:ext cx="1905000" cy="1524000"/>
            <a:chOff x="6286500" y="3333750"/>
            <a:chExt cx="1905000" cy="1524000"/>
          </a:xfrm>
        </p:grpSpPr>
        <p:sp>
          <p:nvSpPr>
            <p:cNvPr id="44" name="Rectangle 44"/>
            <p:cNvSpPr/>
            <p:nvPr/>
          </p:nvSpPr>
          <p:spPr>
            <a:xfrm>
              <a:off x="6286500" y="3333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86500" y="3333750"/>
              <a:ext cx="19050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362700" y="3409950"/>
              <a:ext cx="419100" cy="4191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06404" y="35471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86575" y="34385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知识更新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92290" y="377285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增量学习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92290" y="401097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动态维护机制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2290" y="42491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• 实时同步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25" grpId="0"/>
      <p:bldP spid="34" grpId="0"/>
      <p:bldP spid="43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123754" y="374333"/>
            <a:ext cx="3944493" cy="640080"/>
            <a:chOff x="4123754" y="374333"/>
            <a:chExt cx="3944493" cy="640080"/>
          </a:xfrm>
        </p:grpSpPr>
        <p:sp>
          <p:nvSpPr>
            <p:cNvPr id="3" name="TextBox 3"/>
            <p:cNvSpPr txBox="1"/>
            <p:nvPr/>
          </p:nvSpPr>
          <p:spPr>
            <a:xfrm>
              <a:off x="4123754" y="374333"/>
              <a:ext cx="394449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关键技术深度解析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381500" y="9525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143000"/>
            <a:ext cx="5143500" cy="2286000"/>
            <a:chOff x="762000" y="1143000"/>
            <a:chExt cx="5143500" cy="2286000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51435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14400" y="1295400"/>
              <a:ext cx="457200" cy="4572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9446" y="141922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03045" y="13935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知识表示学习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8760" y="1727835"/>
              <a:ext cx="21160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TransE / RotatE / 图嵌入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2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 cap="rnd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10665" y="226790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将离散符号映射为连续向量，保留语义与拓扑结构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143000"/>
            <a:ext cx="5143500" cy="2286000"/>
            <a:chOff x="6286500" y="1143000"/>
            <a:chExt cx="5143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143000"/>
              <a:ext cx="51435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438900" y="1295400"/>
              <a:ext cx="457200" cy="457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5192" y="14192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7545" y="13935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图神经网络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33260" y="1727835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GCN、GAT 在图结构上的应用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485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 cap="rnd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35165" y="226790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通过消息传递聚合邻居信息，处理非欧几里得数据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3619500"/>
            <a:ext cx="5143500" cy="2286000"/>
            <a:chOff x="762000" y="3619500"/>
            <a:chExt cx="5143500" cy="2286000"/>
          </a:xfrm>
        </p:grpSpPr>
        <p:sp>
          <p:nvSpPr>
            <p:cNvPr id="22" name="Rectangle 22"/>
            <p:cNvSpPr/>
            <p:nvPr/>
          </p:nvSpPr>
          <p:spPr>
            <a:xfrm>
              <a:off x="762000" y="3619500"/>
              <a:ext cx="51435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14400" y="3771900"/>
              <a:ext cx="457200" cy="457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60692" y="38957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03045" y="38700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知识图谱补全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08760" y="4204335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链接预测与缺失关系补全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524000" y="4572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 cap="rnd">
              <a:solidFill>
                <a:srgbClr val="CBD5E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10665" y="474440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基于现有三元组推断潜在连接，提升图谱完整性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3619500"/>
            <a:ext cx="5143500" cy="2286000"/>
            <a:chOff x="6286500" y="3619500"/>
            <a:chExt cx="5143500" cy="2286000"/>
          </a:xfrm>
        </p:grpSpPr>
        <p:sp>
          <p:nvSpPr>
            <p:cNvPr id="30" name="Rectangle 30"/>
            <p:cNvSpPr/>
            <p:nvPr/>
          </p:nvSpPr>
          <p:spPr>
            <a:xfrm>
              <a:off x="6286500" y="3619500"/>
              <a:ext cx="51435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38900" y="3771900"/>
              <a:ext cx="457200" cy="457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5192" y="38957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27545" y="38700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大模型融合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3260" y="4204335"/>
              <a:ext cx="2492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RAG + KG 增强生成式AI的准确性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048500" y="4572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 cap="rnd">
              <a:solidFill>
                <a:srgbClr val="CBD5E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35165" y="4744402"/>
              <a:ext cx="41671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结合检索增强与结构化知识，有效抑制幻觉并支持可解释输出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511427" y="6506528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第 5 页 / 共 9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9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62000" y="361950"/>
            <a:ext cx="10668000" cy="790575"/>
            <a:chOff x="762000" y="361950"/>
            <a:chExt cx="10668000" cy="790575"/>
          </a:xfrm>
        </p:grpSpPr>
        <p:sp>
          <p:nvSpPr>
            <p:cNvPr id="4" name="Rectangle 4"/>
            <p:cNvSpPr/>
            <p:nvPr/>
          </p:nvSpPr>
          <p:spPr>
            <a:xfrm>
              <a:off x="762000" y="381000"/>
              <a:ext cx="57150" cy="457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14400" y="361950"/>
              <a:ext cx="375666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应用落地场景总览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5355" y="806768"/>
              <a:ext cx="3691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Knowledge Graph Application Scenarios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143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62000" y="1524000"/>
            <a:ext cx="11049000" cy="3714750"/>
            <a:chOff x="762000" y="1524000"/>
            <a:chExt cx="11049000" cy="3714750"/>
          </a:xfrm>
        </p:grpSpPr>
        <p:grpSp>
          <p:nvGrpSpPr>
            <p:cNvPr id="14" name="Group 14"/>
            <p:cNvGrpSpPr/>
            <p:nvPr/>
          </p:nvGrpSpPr>
          <p:grpSpPr>
            <a:xfrm>
              <a:off x="762000" y="1524000"/>
              <a:ext cx="5334000" cy="1047750"/>
              <a:chOff x="762000" y="1524000"/>
              <a:chExt cx="5334000" cy="1047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52400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838200" y="1743075"/>
                <a:ext cx="609600" cy="6096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3B82F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16127" y="18840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🔍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98295" y="172688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智能搜索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04010" y="2042160"/>
                <a:ext cx="29660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语义理解与实体卡片（如 Google KG）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62000" y="2857500"/>
              <a:ext cx="5334000" cy="1047750"/>
              <a:chOff x="762000" y="2857500"/>
              <a:chExt cx="5334000" cy="1047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285750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838200" y="3076575"/>
                <a:ext cx="609600" cy="6096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3B82F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16127" y="32175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💬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98295" y="306038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智能问答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604010" y="3375660"/>
                <a:ext cx="137998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KBQA 与对话系统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62000" y="4191000"/>
              <a:ext cx="5334000" cy="1047750"/>
              <a:chOff x="762000" y="4191000"/>
              <a:chExt cx="5334000" cy="1047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419100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838200" y="4410075"/>
                <a:ext cx="609600" cy="6096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3B82F6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16127" y="45510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598295" y="439388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推荐系统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04010" y="4709160"/>
                <a:ext cx="2308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增强推荐的可解释性与精准度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477000" y="1524000"/>
              <a:ext cx="5334000" cy="1047750"/>
              <a:chOff x="6477000" y="1524000"/>
              <a:chExt cx="5334000" cy="1047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477000" y="152400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6743700" y="1743075"/>
                <a:ext cx="609600" cy="6096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3B82F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921627" y="18840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503795" y="172688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风险控制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09510" y="2042160"/>
                <a:ext cx="17830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关联挖掘与反欺诈检测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477000" y="2857500"/>
              <a:ext cx="5334000" cy="1047750"/>
              <a:chOff x="6477000" y="2857500"/>
              <a:chExt cx="5334000" cy="10477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477000" y="2857500"/>
                <a:ext cx="5334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6743700" y="3076575"/>
                <a:ext cx="609600" cy="6096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3B82F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921627" y="32175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🏥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503795" y="306038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行业应用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09510" y="3375660"/>
                <a:ext cx="197586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医疗/金融/法律知识图谱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762000" y="6347460"/>
            <a:ext cx="10492740" cy="243840"/>
            <a:chOff x="762000" y="6347460"/>
            <a:chExt cx="10492740" cy="243840"/>
          </a:xfrm>
        </p:grpSpPr>
        <p:sp>
          <p:nvSpPr>
            <p:cNvPr id="40" name="Line 40"/>
            <p:cNvSpPr/>
            <p:nvPr/>
          </p:nvSpPr>
          <p:spPr>
            <a:xfrm>
              <a:off x="762000" y="6477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29925" y="6347460"/>
              <a:ext cx="4248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6 / 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16305" y="501968"/>
            <a:ext cx="10323195" cy="579120"/>
            <a:chOff x="916305" y="501968"/>
            <a:chExt cx="10323195" cy="579120"/>
          </a:xfrm>
        </p:grpSpPr>
        <p:sp>
          <p:nvSpPr>
            <p:cNvPr id="4" name="TextBox 4"/>
            <p:cNvSpPr txBox="1"/>
            <p:nvPr/>
          </p:nvSpPr>
          <p:spPr>
            <a:xfrm>
              <a:off x="916305" y="501968"/>
              <a:ext cx="356882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典型应用案例解析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952500" y="100012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52500" y="1238250"/>
            <a:ext cx="4953000" cy="2286000"/>
            <a:chOff x="952500" y="1238250"/>
            <a:chExt cx="4953000" cy="2286000"/>
          </a:xfrm>
        </p:grpSpPr>
        <p:sp>
          <p:nvSpPr>
            <p:cNvPr id="7" name="Rectangle 7"/>
            <p:cNvSpPr/>
            <p:nvPr/>
          </p:nvSpPr>
          <p:spPr>
            <a:xfrm>
              <a:off x="952500" y="1238250"/>
              <a:ext cx="4953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352550" y="1543050"/>
              <a:ext cx="381000" cy="381000"/>
              <a:chOff x="1352550" y="1543050"/>
              <a:chExt cx="381000" cy="3810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352550" y="1543050"/>
                <a:ext cx="342900" cy="342900"/>
              </a:xfrm>
              <a:prstGeom prst="ellipse">
                <a:avLst/>
              </a:prstGeom>
              <a:noFill/>
              <a:ln w="28575">
                <a:solidFill>
                  <a:srgbClr val="3B82F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638300" y="18288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28575" cap="rnd">
                <a:solidFill>
                  <a:srgbClr val="3B82F6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447800" y="1638300"/>
                <a:ext cx="57150" cy="5715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638300" y="1638300"/>
                <a:ext cx="57150" cy="5715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543050" y="1828800"/>
                <a:ext cx="57150" cy="5715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476375" y="16668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3B82F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476375" y="1666875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0"/>
                    </a:moveTo>
                    <a:lnTo>
                      <a:pt x="95250" y="190500"/>
                    </a:lnTo>
                  </a:path>
                </a:pathLst>
              </a:custGeom>
              <a:noFill/>
              <a:ln w="19050">
                <a:solidFill>
                  <a:srgbClr val="3B82F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571625" y="1666875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9525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3B82F6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169795" y="1584008"/>
              <a:ext cx="13956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Google 搜索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75510" y="1918335"/>
              <a:ext cx="2527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Knowledge Graph 赋能语义搜索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143500" y="1333500"/>
              <a:ext cx="381000" cy="38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2231" y="14678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238250"/>
            <a:ext cx="4953000" cy="2286000"/>
            <a:chOff x="6286500" y="1238250"/>
            <a:chExt cx="4953000" cy="2286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238250"/>
              <a:ext cx="4953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724650" y="1581150"/>
              <a:ext cx="323850" cy="266700"/>
              <a:chOff x="6724650" y="1581150"/>
              <a:chExt cx="323850" cy="2667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724650" y="15811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0"/>
                    </a:moveTo>
                    <a:lnTo>
                      <a:pt x="133350" y="266700"/>
                    </a:lnTo>
                    <a:moveTo>
                      <a:pt x="0" y="133350"/>
                    </a:moveTo>
                    <a:lnTo>
                      <a:pt x="266700" y="133350"/>
                    </a:lnTo>
                  </a:path>
                </a:pathLst>
              </a:custGeom>
              <a:solidFill>
                <a:srgbClr val="000000"/>
              </a:solidFill>
              <a:ln w="28575" cap="rnd">
                <a:solidFill>
                  <a:srgbClr val="14B8A6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6743700" y="1600200"/>
                <a:ext cx="76200" cy="76200"/>
              </a:xfrm>
              <a:prstGeom prst="ellipse">
                <a:avLst/>
              </a:prstGeom>
              <a:solidFill>
                <a:srgbClr val="14B8A6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972300" y="1752600"/>
                <a:ext cx="76200" cy="76200"/>
              </a:xfrm>
              <a:prstGeom prst="ellipse">
                <a:avLst/>
              </a:prstGeom>
              <a:solidFill>
                <a:srgbClr val="14B8A6"/>
              </a:solidFill>
              <a:ln>
                <a:noFill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6781800" y="163830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0" y="0"/>
                    </a:moveTo>
                    <a:lnTo>
                      <a:pt x="228600" y="15240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503795" y="15840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医疗辅助诊断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9510" y="1918335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症状-疾病-药物知识推理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0477500" y="1333500"/>
              <a:ext cx="381000" cy="3810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566104" y="14678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D9488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2500" y="3714750"/>
            <a:ext cx="4953000" cy="2286000"/>
            <a:chOff x="952500" y="3714750"/>
            <a:chExt cx="4953000" cy="2286000"/>
          </a:xfrm>
        </p:grpSpPr>
        <p:sp>
          <p:nvSpPr>
            <p:cNvPr id="33" name="Rectangle 33"/>
            <p:cNvSpPr/>
            <p:nvPr/>
          </p:nvSpPr>
          <p:spPr>
            <a:xfrm>
              <a:off x="952500" y="3714750"/>
              <a:ext cx="4953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390650" y="4057650"/>
              <a:ext cx="266700" cy="304800"/>
              <a:chOff x="1390650" y="4057650"/>
              <a:chExt cx="266700" cy="304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390650" y="4057650"/>
                <a:ext cx="2667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04800">
                    <a:moveTo>
                      <a:pt x="133350" y="0"/>
                    </a:moveTo>
                    <a:lnTo>
                      <a:pt x="266700" y="57150"/>
                    </a:lnTo>
                    <a:lnTo>
                      <a:pt x="266700" y="171450"/>
                    </a:lnTo>
                    <a:cubicBezTo>
                      <a:pt x="266700" y="247650"/>
                      <a:pt x="133350" y="304800"/>
                      <a:pt x="133350" y="304800"/>
                    </a:cubicBezTo>
                    <a:cubicBezTo>
                      <a:pt x="133350" y="304800"/>
                      <a:pt x="0" y="247650"/>
                      <a:pt x="0" y="171450"/>
                    </a:cubicBezTo>
                    <a:lnTo>
                      <a:pt x="0" y="57150"/>
                    </a:lnTo>
                    <a:close/>
                  </a:path>
                </a:pathLst>
              </a:custGeom>
              <a:noFill/>
              <a:ln w="28575">
                <a:solidFill>
                  <a:srgbClr val="6366F1"/>
                </a:solidFill>
                <a:round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466850" y="41338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lnTo>
                      <a:pt x="114300" y="57150"/>
                    </a:lnTo>
                    <a:moveTo>
                      <a:pt x="57150" y="0"/>
                    </a:moveTo>
                    <a:lnTo>
                      <a:pt x="57150" y="11430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6366F1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1400175" y="4067175"/>
                <a:ext cx="57150" cy="57150"/>
              </a:xfrm>
              <a:prstGeom prst="ellipse">
                <a:avLst/>
              </a:prstGeom>
              <a:solidFill>
                <a:srgbClr val="6366F1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1590675" y="4257675"/>
                <a:ext cx="57150" cy="57150"/>
              </a:xfrm>
              <a:prstGeom prst="ellipse">
                <a:avLst/>
              </a:prstGeom>
              <a:solidFill>
                <a:srgbClr val="6366F1"/>
              </a:solidFill>
              <a:ln>
                <a:noFill/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1428750" y="4095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9050">
                <a:solidFill>
                  <a:srgbClr val="6366F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2169795" y="40605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金融风控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75510" y="4394835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企业关联关系挖掘与反团伙欺诈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143500" y="3810000"/>
              <a:ext cx="381000" cy="381000"/>
            </a:xfrm>
            <a:prstGeom prst="ellipse">
              <a:avLst/>
            </a:prstGeom>
            <a:solidFill>
              <a:srgbClr val="E0E7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32104" y="39443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3714750"/>
            <a:ext cx="4953000" cy="2286000"/>
            <a:chOff x="6286500" y="3714750"/>
            <a:chExt cx="4953000" cy="2286000"/>
          </a:xfrm>
        </p:grpSpPr>
        <p:sp>
          <p:nvSpPr>
            <p:cNvPr id="45" name="Rectangle 45"/>
            <p:cNvSpPr/>
            <p:nvPr/>
          </p:nvSpPr>
          <p:spPr>
            <a:xfrm>
              <a:off x="6286500" y="3714750"/>
              <a:ext cx="4953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705600" y="4038600"/>
              <a:ext cx="304800" cy="342900"/>
              <a:chOff x="6705600" y="4038600"/>
              <a:chExt cx="304800" cy="342900"/>
            </a:xfrm>
          </p:grpSpPr>
          <p:sp>
            <p:nvSpPr>
              <p:cNvPr id="46" name="Polygon 46"/>
              <p:cNvSpPr/>
              <p:nvPr/>
            </p:nvSpPr>
            <p:spPr>
              <a:xfrm>
                <a:off x="6705600" y="4038600"/>
                <a:ext cx="3048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42900">
                    <a:moveTo>
                      <a:pt x="152400" y="0"/>
                    </a:moveTo>
                    <a:lnTo>
                      <a:pt x="304800" y="95250"/>
                    </a:lnTo>
                    <a:lnTo>
                      <a:pt x="304800" y="247650"/>
                    </a:lnTo>
                    <a:lnTo>
                      <a:pt x="152400" y="342900"/>
                    </a:lnTo>
                    <a:lnTo>
                      <a:pt x="0" y="247650"/>
                    </a:lnTo>
                    <a:lnTo>
                      <a:pt x="0" y="95250"/>
                    </a:lnTo>
                    <a:close/>
                  </a:path>
                </a:pathLst>
              </a:custGeom>
              <a:noFill/>
              <a:ln w="28575">
                <a:solidFill>
                  <a:srgbClr val="8B5CF6"/>
                </a:solidFill>
                <a:round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6800850" y="4152900"/>
                <a:ext cx="114300" cy="15240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6838950" y="41910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 cap="rnd">
                <a:solidFill>
                  <a:srgbClr val="8B5CF6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6838950" y="42291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 cap="rnd">
                <a:solidFill>
                  <a:srgbClr val="8B5CF6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6838950" y="42672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 cap="rnd">
                <a:solidFill>
                  <a:srgbClr val="8B5CF6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503795" y="4060508"/>
              <a:ext cx="13576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大模型+RAG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09510" y="4394835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利用知识图谱减少 LLM 幻觉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477500" y="3810000"/>
              <a:ext cx="381000" cy="381000"/>
            </a:xfrm>
            <a:prstGeom prst="ellipse">
              <a:avLst/>
            </a:prstGeom>
            <a:solidFill>
              <a:srgbClr val="EDE9F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566104" y="39443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3AED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0881122" y="6458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7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32" grpId="0"/>
      <p:bldP spid="44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334250" y="-2476500"/>
            <a:ext cx="7239000" cy="7239000"/>
          </a:xfrm>
          <a:prstGeom prst="ellipse">
            <a:avLst/>
          </a:prstGeom>
          <a:solidFill>
            <a:srgbClr val="1E293B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333500" y="2857500"/>
            <a:ext cx="6096000" cy="6096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9086850" y="1285875"/>
            <a:ext cx="1428750" cy="1409700"/>
            <a:chOff x="9086850" y="1285875"/>
            <a:chExt cx="1428750" cy="1409700"/>
          </a:xfrm>
        </p:grpSpPr>
        <p:sp>
          <p:nvSpPr>
            <p:cNvPr id="5" name="Ellipse 5"/>
            <p:cNvSpPr/>
            <p:nvPr/>
          </p:nvSpPr>
          <p:spPr>
            <a:xfrm>
              <a:off x="9667875" y="1285875"/>
              <a:ext cx="95250" cy="95250"/>
            </a:xfrm>
            <a:prstGeom prst="ellipse">
              <a:avLst/>
            </a:prstGeom>
            <a:solidFill>
              <a:srgbClr val="38BDF8">
                <a:alpha val="1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439400" y="1866900"/>
              <a:ext cx="76200" cy="76200"/>
            </a:xfrm>
            <a:prstGeom prst="ellipse">
              <a:avLst/>
            </a:prstGeom>
            <a:solidFill>
              <a:srgbClr val="818CF8">
                <a:alpha val="12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086850" y="2038350"/>
              <a:ext cx="114300" cy="114300"/>
            </a:xfrm>
            <a:prstGeom prst="ellipse">
              <a:avLst/>
            </a:prstGeom>
            <a:solidFill>
              <a:srgbClr val="34D399">
                <a:alpha val="12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258425" y="2638425"/>
              <a:ext cx="57150" cy="57150"/>
            </a:xfrm>
            <a:prstGeom prst="ellipse">
              <a:avLst/>
            </a:prstGeom>
            <a:solidFill>
              <a:srgbClr val="38BDF8">
                <a:alpha val="12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44000" y="1333500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571500" y="0"/>
                  </a:moveTo>
                  <a:lnTo>
                    <a:pt x="1333500" y="571500"/>
                  </a:lnTo>
                  <a:moveTo>
                    <a:pt x="571500" y="0"/>
                  </a:moveTo>
                  <a:lnTo>
                    <a:pt x="0" y="762000"/>
                  </a:lnTo>
                  <a:moveTo>
                    <a:pt x="1333500" y="571500"/>
                  </a:moveTo>
                  <a:lnTo>
                    <a:pt x="1143000" y="1333500"/>
                  </a:lnTo>
                  <a:moveTo>
                    <a:pt x="0" y="762000"/>
                  </a:moveTo>
                  <a:lnTo>
                    <a:pt x="1143000" y="1333500"/>
                  </a:lnTo>
                </a:path>
              </a:pathLst>
            </a:custGeom>
            <a:noFill/>
            <a:ln w="19050">
              <a:solidFill>
                <a:srgbClr val="94A3B8">
                  <a:alpha val="12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01065" y="848678"/>
            <a:ext cx="3208258" cy="822960"/>
            <a:chOff x="901065" y="848678"/>
            <a:chExt cx="3208258" cy="822960"/>
          </a:xfrm>
        </p:grpSpPr>
        <p:sp>
          <p:nvSpPr>
            <p:cNvPr id="11" name="TextBox 11"/>
            <p:cNvSpPr txBox="1"/>
            <p:nvPr/>
          </p:nvSpPr>
          <p:spPr>
            <a:xfrm>
              <a:off x="901065" y="848678"/>
              <a:ext cx="320825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总结与展望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952500" y="15716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solidFill>
              <a:srgbClr val="000000"/>
            </a:solidFill>
            <a:ln w="47625" cap="rnd">
              <a:solidFill>
                <a:srgbClr val="38BDF8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952500" y="2190750"/>
            <a:ext cx="10287000" cy="3124200"/>
            <a:chOff x="952500" y="2190750"/>
            <a:chExt cx="10287000" cy="3124200"/>
          </a:xfrm>
        </p:grpSpPr>
        <p:grpSp>
          <p:nvGrpSpPr>
            <p:cNvPr id="17" name="Group 17"/>
            <p:cNvGrpSpPr/>
            <p:nvPr/>
          </p:nvGrpSpPr>
          <p:grpSpPr>
            <a:xfrm>
              <a:off x="952500" y="2190750"/>
              <a:ext cx="10287000" cy="914400"/>
              <a:chOff x="952500" y="2190750"/>
              <a:chExt cx="10287000" cy="9144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952500" y="2190750"/>
                <a:ext cx="10287000" cy="914400"/>
              </a:xfrm>
              <a:prstGeom prst="roundRect">
                <a:avLst>
                  <a:gd name="adj" fmla="val 14583"/>
                </a:avLst>
              </a:prstGeom>
              <a:solidFill>
                <a:srgbClr val="1E293B">
                  <a:alpha val="65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52500" y="2190750"/>
                <a:ext cx="57150" cy="914400"/>
              </a:xfrm>
              <a:prstGeom prst="roundRect">
                <a:avLst>
                  <a:gd name="adj" fmla="val 50000"/>
                </a:avLst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449705" y="2459355"/>
                <a:ext cx="526732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E2E8F0"/>
                    </a:solidFill>
                    <a:latin typeface="Segoe UI"/>
                    <a:ea typeface="Microsoft YaHei"/>
                    <a:cs typeface="Segoe UI"/>
                  </a:rPr>
                  <a:t>知识图谱是连接数据与智能的关键桥梁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52500" y="3295650"/>
              <a:ext cx="10287000" cy="914400"/>
              <a:chOff x="952500" y="3295650"/>
              <a:chExt cx="10287000" cy="914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52500" y="3295650"/>
                <a:ext cx="10287000" cy="914400"/>
              </a:xfrm>
              <a:prstGeom prst="roundRect">
                <a:avLst>
                  <a:gd name="adj" fmla="val 14583"/>
                </a:avLst>
              </a:prstGeom>
              <a:solidFill>
                <a:srgbClr val="1E293B">
                  <a:alpha val="65000"/>
                </a:srgbClr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952500" y="3295650"/>
                <a:ext cx="57150" cy="914400"/>
              </a:xfrm>
              <a:prstGeom prst="roundRect">
                <a:avLst>
                  <a:gd name="adj" fmla="val 50000"/>
                </a:avLst>
              </a:prstGeom>
              <a:solidFill>
                <a:srgbClr val="818CF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449705" y="3564255"/>
                <a:ext cx="469992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E2E8F0"/>
                    </a:solidFill>
                    <a:latin typeface="Segoe UI"/>
                    <a:ea typeface="Microsoft YaHei"/>
                    <a:cs typeface="Segoe UI"/>
                  </a:rPr>
                  <a:t>核心技术日趋成熟 → 产业落地加速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4400550"/>
              <a:ext cx="10287000" cy="914400"/>
              <a:chOff x="952500" y="4400550"/>
              <a:chExt cx="10287000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952500" y="4400550"/>
                <a:ext cx="10287000" cy="914400"/>
              </a:xfrm>
              <a:prstGeom prst="roundRect">
                <a:avLst>
                  <a:gd name="adj" fmla="val 14583"/>
                </a:avLst>
              </a:prstGeom>
              <a:solidFill>
                <a:srgbClr val="1E293B">
                  <a:alpha val="65000"/>
                </a:srgbClr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952500" y="4400550"/>
                <a:ext cx="57150" cy="914400"/>
              </a:xfrm>
              <a:prstGeom prst="roundRect">
                <a:avLst>
                  <a:gd name="adj" fmla="val 50000"/>
                </a:avLst>
              </a:prstGeom>
              <a:solidFill>
                <a:srgbClr val="34D399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449705" y="4669155"/>
                <a:ext cx="543601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E2E8F0"/>
                    </a:solidFill>
                    <a:latin typeface="Segoe UI"/>
                    <a:ea typeface="Microsoft YaHei"/>
                    <a:cs typeface="Segoe UI"/>
                  </a:rPr>
                  <a:t>未来：LLM + KG 深度融合，迈向可信 AI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9978690" y="6346508"/>
            <a:ext cx="1281765" cy="335280"/>
            <a:chOff x="9978690" y="6346508"/>
            <a:chExt cx="1281765" cy="335280"/>
          </a:xfrm>
        </p:grpSpPr>
        <p:sp>
          <p:nvSpPr>
            <p:cNvPr id="27" name="Freeform 27"/>
            <p:cNvSpPr/>
            <p:nvPr/>
          </p:nvSpPr>
          <p:spPr>
            <a:xfrm>
              <a:off x="10096500" y="642937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33415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78690" y="6346508"/>
              <a:ext cx="12817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THANK YOU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1428750" y="-2857500"/>
            <a:ext cx="15716250" cy="11430000"/>
            <a:chOff x="-1428750" y="-2857500"/>
            <a:chExt cx="15716250" cy="11430000"/>
          </a:xfrm>
        </p:grpSpPr>
        <p:sp>
          <p:nvSpPr>
            <p:cNvPr id="3" name="Ellipse 3"/>
            <p:cNvSpPr/>
            <p:nvPr/>
          </p:nvSpPr>
          <p:spPr>
            <a:xfrm>
              <a:off x="7620000" y="-2857500"/>
              <a:ext cx="6667500" cy="66675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3810000"/>
              <a:ext cx="4762500" cy="4762500"/>
            </a:xfrm>
            <a:prstGeom prst="ellipse">
              <a:avLst/>
            </a:prstGeom>
            <a:solidFill>
              <a:srgbClr val="FFFFFF">
                <a:alpha val="2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5905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>
                <a:alpha val="60000"/>
              </a:srgbClr>
            </a:solidFill>
            <a:ln w="19050">
              <a:solidFill>
                <a:srgbClr val="334155">
                  <a:alpha val="6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911441" y="1695450"/>
            <a:ext cx="4369118" cy="4181475"/>
            <a:chOff x="3911441" y="1695450"/>
            <a:chExt cx="4369118" cy="4181475"/>
          </a:xfrm>
        </p:grpSpPr>
        <p:sp>
          <p:nvSpPr>
            <p:cNvPr id="7" name="TextBox 7"/>
            <p:cNvSpPr txBox="1"/>
            <p:nvPr/>
          </p:nvSpPr>
          <p:spPr>
            <a:xfrm>
              <a:off x="3911441" y="1695450"/>
              <a:ext cx="4369118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谢谢！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62324" y="3090862"/>
              <a:ext cx="16673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THANK YOU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905250"/>
              <a:ext cx="1905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33327" y="4339590"/>
              <a:ext cx="1925345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Q &amp;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78705" y="5328285"/>
              <a:ext cx="24345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欢迎交流讨论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
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7753350" y="1152525"/>
            <a:ext cx="3152775" cy="4229100"/>
            <a:chOff x="7753350" y="1152525"/>
            <a:chExt cx="3152775" cy="4229100"/>
          </a:xfrm>
        </p:grpSpPr>
        <p:sp>
          <p:nvSpPr>
            <p:cNvPr id="4" name="Line 4"/>
            <p:cNvSpPr/>
            <p:nvPr/>
          </p:nvSpPr>
          <p:spPr>
            <a:xfrm>
              <a:off x="7810500" y="1238250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0" y="47625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9334500" y="123825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0" y="0"/>
                  </a:moveTo>
                  <a:lnTo>
                    <a:pt x="1524000" y="76200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858250" y="1238250"/>
              <a:ext cx="476250" cy="1524000"/>
            </a:xfrm>
            <a:custGeom>
              <a:avLst/>
              <a:gdLst/>
              <a:ahLst/>
              <a:cxnLst/>
              <a:rect l="l" t="t" r="r" b="b"/>
              <a:pathLst>
                <a:path w="476250" h="1524000">
                  <a:moveTo>
                    <a:pt x="47625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858250" y="2762250"/>
              <a:ext cx="1428750" cy="762000"/>
            </a:xfrm>
            <a:custGeom>
              <a:avLst/>
              <a:gdLst/>
              <a:ahLst/>
              <a:cxnLst/>
              <a:rect l="l" t="t" r="r" b="b"/>
              <a:pathLst>
                <a:path w="1428750" h="762000">
                  <a:moveTo>
                    <a:pt x="0" y="0"/>
                  </a:moveTo>
                  <a:lnTo>
                    <a:pt x="1428750" y="76200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810750" y="3524250"/>
              <a:ext cx="476250" cy="1238250"/>
            </a:xfrm>
            <a:custGeom>
              <a:avLst/>
              <a:gdLst/>
              <a:ahLst/>
              <a:cxnLst/>
              <a:rect l="l" t="t" r="r" b="b"/>
              <a:pathLst>
                <a:path w="476250" h="1238250">
                  <a:moveTo>
                    <a:pt x="476250" y="0"/>
                  </a:moveTo>
                  <a:lnTo>
                    <a:pt x="0" y="123825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82000" y="476250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142875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382000" y="43815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95250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334500" y="381000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571500"/>
                  </a:moveTo>
                  <a:lnTo>
                    <a:pt x="1428750" y="0"/>
                  </a:lnTo>
                </a:path>
              </a:pathLst>
            </a:custGeom>
            <a:noFill/>
            <a:ln w="19050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763250" y="2000250"/>
              <a:ext cx="95250" cy="1809750"/>
            </a:xfrm>
            <a:custGeom>
              <a:avLst/>
              <a:gdLst/>
              <a:ahLst/>
              <a:cxnLst/>
              <a:rect l="l" t="t" r="r" b="b"/>
              <a:pathLst>
                <a:path w="95250" h="1809750">
                  <a:moveTo>
                    <a:pt x="95250" y="0"/>
                  </a:moveTo>
                  <a:lnTo>
                    <a:pt x="0" y="1809750"/>
                  </a:lnTo>
                </a:path>
              </a:pathLst>
            </a:custGeom>
            <a:noFill/>
            <a:ln w="14288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858250" y="2762250"/>
              <a:ext cx="952500" cy="2000250"/>
            </a:xfrm>
            <a:custGeom>
              <a:avLst/>
              <a:gdLst/>
              <a:ahLst/>
              <a:cxnLst/>
              <a:rect l="l" t="t" r="r" b="b"/>
              <a:pathLst>
                <a:path w="952500" h="2000250">
                  <a:moveTo>
                    <a:pt x="0" y="0"/>
                  </a:moveTo>
                  <a:lnTo>
                    <a:pt x="952500" y="2000250"/>
                  </a:lnTo>
                </a:path>
              </a:pathLst>
            </a:custGeom>
            <a:noFill/>
            <a:ln w="14288">
              <a:solidFill>
                <a:srgbClr val="2B7FC3">
                  <a:alpha val="12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753350" y="1657350"/>
              <a:ext cx="114300" cy="11430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248775" y="1152525"/>
              <a:ext cx="171450" cy="171450"/>
            </a:xfrm>
            <a:prstGeom prst="ellipse">
              <a:avLst/>
            </a:prstGeom>
            <a:solidFill>
              <a:srgbClr val="2B7FC3">
                <a:alpha val="12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810875" y="1952625"/>
              <a:ext cx="95250" cy="9525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791575" y="2695575"/>
              <a:ext cx="133350" cy="133350"/>
            </a:xfrm>
            <a:prstGeom prst="ellipse">
              <a:avLst/>
            </a:prstGeom>
            <a:solidFill>
              <a:srgbClr val="2B7FC3">
                <a:alpha val="12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229850" y="3467100"/>
              <a:ext cx="114300" cy="11430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734550" y="4686300"/>
              <a:ext cx="152400" cy="152400"/>
            </a:xfrm>
            <a:prstGeom prst="ellipse">
              <a:avLst/>
            </a:prstGeom>
            <a:solidFill>
              <a:srgbClr val="2B7FC3">
                <a:alpha val="12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334375" y="5286375"/>
              <a:ext cx="95250" cy="9525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267825" y="4314825"/>
              <a:ext cx="133350" cy="133350"/>
            </a:xfrm>
            <a:prstGeom prst="ellipse">
              <a:avLst/>
            </a:prstGeom>
            <a:solidFill>
              <a:srgbClr val="2B7FC3">
                <a:alpha val="12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706100" y="3752850"/>
              <a:ext cx="114300" cy="11430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97280" y="2183130"/>
            <a:ext cx="3815572" cy="2117408"/>
            <a:chOff x="1097280" y="2183130"/>
            <a:chExt cx="3815572" cy="2117408"/>
          </a:xfrm>
        </p:grpSpPr>
        <p:sp>
          <p:nvSpPr>
            <p:cNvPr id="24" name="TextBox 24"/>
            <p:cNvSpPr txBox="1"/>
            <p:nvPr/>
          </p:nvSpPr>
          <p:spPr>
            <a:xfrm>
              <a:off x="1097280" y="2183130"/>
              <a:ext cx="2299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8235" y="3027998"/>
              <a:ext cx="37946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核心技术架构 · 应用落地场景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43000" y="3571875"/>
              <a:ext cx="666750" cy="38100"/>
            </a:xfrm>
            <a:prstGeom prst="rect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2045" y="39652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104900" y="1295400"/>
            <a:ext cx="996315" cy="609600"/>
            <a:chOff x="1104900" y="1295400"/>
            <a:chExt cx="996315" cy="609600"/>
          </a:xfrm>
        </p:grpSpPr>
        <p:sp>
          <p:nvSpPr>
            <p:cNvPr id="4" name="TextBox 4"/>
            <p:cNvSpPr txBox="1"/>
            <p:nvPr/>
          </p:nvSpPr>
          <p:spPr>
            <a:xfrm>
              <a:off x="1104900" y="1295400"/>
              <a:ext cx="9963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1143000" y="185737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 cap="rnd">
              <a:solidFill>
                <a:srgbClr val="2B7FC3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23950" y="2457450"/>
            <a:ext cx="2899077" cy="3024188"/>
            <a:chOff x="1123950" y="2457450"/>
            <a:chExt cx="2899077" cy="3024188"/>
          </a:xfrm>
        </p:grpSpPr>
        <p:grpSp>
          <p:nvGrpSpPr>
            <p:cNvPr id="10" name="Group 10"/>
            <p:cNvGrpSpPr/>
            <p:nvPr/>
          </p:nvGrpSpPr>
          <p:grpSpPr>
            <a:xfrm>
              <a:off x="1123950" y="2457450"/>
              <a:ext cx="2899077" cy="452438"/>
              <a:chOff x="1123950" y="2457450"/>
              <a:chExt cx="2899077" cy="452438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23950" y="2457450"/>
                <a:ext cx="419100" cy="419100"/>
              </a:xfrm>
              <a:prstGeom prst="ellipse">
                <a:avLst/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05007" y="254603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7FC3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80235" y="2513648"/>
                <a:ext cx="2142792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什么是知识图谱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123950" y="3314700"/>
              <a:ext cx="2600039" cy="452438"/>
              <a:chOff x="1123950" y="3314700"/>
              <a:chExt cx="2600039" cy="452438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123950" y="3314700"/>
                <a:ext cx="419100" cy="419100"/>
              </a:xfrm>
              <a:prstGeom prst="ellipse">
                <a:avLst/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73378" y="34032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7FC3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80235" y="3370898"/>
                <a:ext cx="184375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核心技术架构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23950" y="4171950"/>
              <a:ext cx="2600039" cy="452438"/>
              <a:chOff x="1123950" y="4171950"/>
              <a:chExt cx="2600039" cy="452438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123950" y="4171950"/>
                <a:ext cx="419100" cy="419100"/>
              </a:xfrm>
              <a:prstGeom prst="ellipse">
                <a:avLst/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73378" y="42605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7FC3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80235" y="4228148"/>
                <a:ext cx="184375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应用落地场景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123950" y="5029200"/>
              <a:ext cx="2301002" cy="452438"/>
              <a:chOff x="1123950" y="5029200"/>
              <a:chExt cx="2301002" cy="452438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123950" y="5029200"/>
                <a:ext cx="419100" cy="419100"/>
              </a:xfrm>
              <a:prstGeom prst="ellipse">
                <a:avLst/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73378" y="51177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7FC3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80235" y="5085398"/>
                <a:ext cx="154471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总结与展望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10637139" y="63474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52500" y="76200"/>
            <a:ext cx="533400" cy="38100"/>
          </a:xfrm>
          <a:prstGeom prst="rect">
            <a:avLst/>
          </a:prstGeom>
          <a:solidFill>
            <a:srgbClr val="2B7FC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14400" y="771525"/>
            <a:ext cx="4155757" cy="862013"/>
            <a:chOff x="914400" y="771525"/>
            <a:chExt cx="4155757" cy="862013"/>
          </a:xfrm>
        </p:grpSpPr>
        <p:sp>
          <p:nvSpPr>
            <p:cNvPr id="5" name="TextBox 5"/>
            <p:cNvSpPr txBox="1"/>
            <p:nvPr/>
          </p:nvSpPr>
          <p:spPr>
            <a:xfrm>
              <a:off x="914400" y="771525"/>
              <a:ext cx="329660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什么是知识图谱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1545" y="1298258"/>
              <a:ext cx="41386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从数据孤岛到智能决策的核心基础设施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" y="1905000"/>
            <a:ext cx="10287000" cy="1333500"/>
            <a:chOff x="952500" y="1905000"/>
            <a:chExt cx="10287000" cy="1333500"/>
          </a:xfrm>
        </p:grpSpPr>
        <p:sp>
          <p:nvSpPr>
            <p:cNvPr id="8" name="Rectangle 8"/>
            <p:cNvSpPr/>
            <p:nvPr/>
          </p:nvSpPr>
          <p:spPr>
            <a:xfrm>
              <a:off x="952500" y="1905000"/>
              <a:ext cx="10287000" cy="133350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9050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95400" y="2343150"/>
              <a:ext cx="457200" cy="4572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52600" y="2333625"/>
              <a:ext cx="295275" cy="476250"/>
            </a:xfrm>
            <a:custGeom>
              <a:avLst/>
              <a:gdLst/>
              <a:ahLst/>
              <a:cxnLst/>
              <a:rect l="l" t="t" r="r" b="b"/>
              <a:pathLst>
                <a:path w="295275" h="476250">
                  <a:moveTo>
                    <a:pt x="0" y="238125"/>
                  </a:moveTo>
                  <a:lnTo>
                    <a:pt x="295275" y="0"/>
                  </a:lnTo>
                  <a:moveTo>
                    <a:pt x="0" y="238125"/>
                  </a:moveTo>
                  <a:lnTo>
                    <a:pt x="295275" y="476250"/>
                  </a:lnTo>
                </a:path>
              </a:pathLst>
            </a:custGeom>
            <a:noFill/>
            <a:ln w="28575" cap="rnd">
              <a:solidFill>
                <a:srgbClr val="1A3A5C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00250" y="2190750"/>
              <a:ext cx="285750" cy="28575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000250" y="2667000"/>
              <a:ext cx="285750" cy="28575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45080" y="22498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核心定义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50795" y="2631758"/>
              <a:ext cx="72713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用图结构描述实体及其语义关系的知识库，突破传统表格存储局限。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3429000"/>
            <a:ext cx="10287000" cy="1333500"/>
            <a:chOff x="952500" y="3429000"/>
            <a:chExt cx="102870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952500" y="3429000"/>
              <a:ext cx="10287000" cy="133350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2500" y="34290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352550" y="3924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1695450" y="40957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1A3A5C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790700" y="3924300"/>
              <a:ext cx="342900" cy="3429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2133600" y="40957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1A3A5C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228850" y="3924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45080" y="37738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基本单元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0795" y="4155758"/>
              <a:ext cx="68135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&lt;实体, 关系, 实体&gt;</a:t>
              </a:r>
              <a:r>
                <a:rPr lang="zh-CN" sz="16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三元组，精准刻画业务对象间的逻辑关联。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2500" y="4953000"/>
            <a:ext cx="10287000" cy="1333500"/>
            <a:chOff x="952500" y="4953000"/>
            <a:chExt cx="102870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952500" y="4953000"/>
              <a:ext cx="10287000" cy="133350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2500" y="49530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333500" y="5429250"/>
              <a:ext cx="381000" cy="38100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524000" y="5238750"/>
              <a:ext cx="381000" cy="762000"/>
            </a:xfrm>
            <a:custGeom>
              <a:avLst/>
              <a:gdLst/>
              <a:ahLst/>
              <a:cxnLst/>
              <a:rect l="l" t="t" r="r" b="b"/>
              <a:pathLst>
                <a:path w="381000" h="762000">
                  <a:moveTo>
                    <a:pt x="190500" y="381000"/>
                  </a:moveTo>
                  <a:lnTo>
                    <a:pt x="381000" y="142875"/>
                  </a:lnTo>
                  <a:moveTo>
                    <a:pt x="190500" y="381000"/>
                  </a:moveTo>
                  <a:lnTo>
                    <a:pt x="381000" y="619125"/>
                  </a:lnTo>
                  <a:moveTo>
                    <a:pt x="0" y="190500"/>
                  </a:moveTo>
                  <a:lnTo>
                    <a:pt x="190500" y="0"/>
                  </a:lnTo>
                  <a:moveTo>
                    <a:pt x="0" y="571500"/>
                  </a:moveTo>
                  <a:lnTo>
                    <a:pt x="190500" y="762000"/>
                  </a:lnTo>
                </a:path>
              </a:pathLst>
            </a:custGeom>
            <a:noFill/>
            <a:ln w="23812" cap="rnd">
              <a:solidFill>
                <a:srgbClr val="2B7FC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885950" y="5267325"/>
              <a:ext cx="228600" cy="2286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885950" y="5743575"/>
              <a:ext cx="228600" cy="2286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695450" y="5124450"/>
              <a:ext cx="228600" cy="2286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695450" y="5886450"/>
              <a:ext cx="228600" cy="2286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45080" y="52978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业务本质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50795" y="5679758"/>
              <a:ext cx="70304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将碎片化信息组织成</a:t>
              </a:r>
              <a:r>
                <a:rPr lang="zh-CN" sz="165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结构化知识网络</a:t>
              </a:r>
              <a:r>
                <a:rPr lang="zh-CN" sz="16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，赋能智能搜索与决策分析。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829925" y="6490335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2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766762"/>
            <a:chOff x="0" y="0"/>
            <a:chExt cx="12192000" cy="766762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47625"/>
              <a:ext cx="1219200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9615" y="248602"/>
              <a:ext cx="24110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核心技术架构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7143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8ECE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143000" y="1047750"/>
            <a:ext cx="9525" cy="4572000"/>
            <a:chOff x="1143000" y="1047750"/>
            <a:chExt cx="9525" cy="4572000"/>
          </a:xfrm>
        </p:grpSpPr>
        <p:sp>
          <p:nvSpPr>
            <p:cNvPr id="8" name="Line 8"/>
            <p:cNvSpPr/>
            <p:nvPr/>
          </p:nvSpPr>
          <p:spPr>
            <a:xfrm>
              <a:off x="1143000" y="104775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19050">
              <a:solidFill>
                <a:srgbClr val="2B7FC3">
                  <a:alpha val="25000"/>
                </a:srgbClr>
              </a:solidFill>
              <a:custDash>
                <a:ds d="300000" sp="300000"/>
              </a:custDash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62000" y="1047750"/>
            <a:ext cx="10668000" cy="762000"/>
            <a:chOff x="762000" y="1047750"/>
            <a:chExt cx="10668000" cy="762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0477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1257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5512" y="13154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7325" y="1123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知识抽取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135" y="1394460"/>
              <a:ext cx="28258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NER实体识别 · 关系抽取 · 属性抽取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048750" y="1238250"/>
              <a:ext cx="21907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2B7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05558" y="131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▸ 夯实数据底座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123950"/>
            <a:ext cx="10668000" cy="1638300"/>
            <a:chOff x="762000" y="1123950"/>
            <a:chExt cx="10668000" cy="1638300"/>
          </a:xfrm>
        </p:grpSpPr>
        <p:sp>
          <p:nvSpPr>
            <p:cNvPr id="18" name="Rectangle 18"/>
            <p:cNvSpPr/>
            <p:nvPr/>
          </p:nvSpPr>
          <p:spPr>
            <a:xfrm>
              <a:off x="762000" y="20002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71550" y="1257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5384" y="13154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7325" y="1123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知识融合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1135" y="1394460"/>
              <a:ext cx="25366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实体对齐 · 共指消解 · 冲突消解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048750" y="1238250"/>
              <a:ext cx="21907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2B7F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05558" y="131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▸ 打破数据孤岛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1123950"/>
            <a:ext cx="10668000" cy="2590800"/>
            <a:chOff x="762000" y="1123950"/>
            <a:chExt cx="10668000" cy="2590800"/>
          </a:xfrm>
        </p:grpSpPr>
        <p:sp>
          <p:nvSpPr>
            <p:cNvPr id="26" name="Rectangle 26"/>
            <p:cNvSpPr/>
            <p:nvPr/>
          </p:nvSpPr>
          <p:spPr>
            <a:xfrm>
              <a:off x="762000" y="29527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71550" y="1257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5384" y="13154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7325" y="1123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知识存储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1135" y="1394460"/>
              <a:ext cx="2983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图数据库 (Neo4j / JanusGraph) 建模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48750" y="1238250"/>
              <a:ext cx="21907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2B7FC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05558" y="131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▸ 高效管理关联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123950"/>
            <a:ext cx="10668000" cy="3543300"/>
            <a:chOff x="762000" y="1123950"/>
            <a:chExt cx="10668000" cy="3543300"/>
          </a:xfrm>
        </p:grpSpPr>
        <p:sp>
          <p:nvSpPr>
            <p:cNvPr id="34" name="Rectangle 34"/>
            <p:cNvSpPr/>
            <p:nvPr/>
          </p:nvSpPr>
          <p:spPr>
            <a:xfrm>
              <a:off x="762000" y="39052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71550" y="1257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5384" y="13154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57325" y="1123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知识推理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135" y="1394460"/>
              <a:ext cx="30624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规则推理 · 图神经网络推理 · 链接预测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048750" y="1238250"/>
              <a:ext cx="21907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2B7FC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05558" y="131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▸ 赋能智能决策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123950"/>
            <a:ext cx="10668000" cy="4495800"/>
            <a:chOff x="762000" y="1123950"/>
            <a:chExt cx="10668000" cy="449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48577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71550" y="1257300"/>
              <a:ext cx="342900" cy="3429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85384" y="13154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57325" y="1123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知识更新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61135" y="1394460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增量学习 · 动态维护机制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048750" y="1238250"/>
              <a:ext cx="21907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2B7FC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05558" y="131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▸ 保持系统鲜活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0570" y="6477000"/>
            <a:ext cx="10690860" cy="323850"/>
            <a:chOff x="750570" y="6477000"/>
            <a:chExt cx="10690860" cy="323850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19050"/>
            </a:xfrm>
            <a:prstGeom prst="rect">
              <a:avLst/>
            </a:prstGeom>
            <a:solidFill>
              <a:srgbClr val="E8EC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0570" y="6617970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第 4 页 / 共 9 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29900" y="6617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核心技术架构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5" grpId="0"/>
      <p:bldP spid="33" grpId="0"/>
      <p:bldP spid="41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1381125"/>
            <a:ext cx="10668000" cy="9525"/>
          </a:xfrm>
          <a:prstGeom prst="rect">
            <a:avLst/>
          </a:prstGeom>
          <a:solidFill>
            <a:srgbClr val="E0E5E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31520" y="693420"/>
            <a:ext cx="3005328" cy="611505"/>
            <a:chOff x="731520" y="693420"/>
            <a:chExt cx="3005328" cy="611505"/>
          </a:xfrm>
        </p:grpSpPr>
        <p:sp>
          <p:nvSpPr>
            <p:cNvPr id="4" name="TextBox 4"/>
            <p:cNvSpPr txBox="1"/>
            <p:nvPr/>
          </p:nvSpPr>
          <p:spPr>
            <a:xfrm>
              <a:off x="731520" y="693420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关键技术深度解析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106108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聚焦核心技术架构与业务赋能价值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14500"/>
            <a:ext cx="4953000" cy="2095500"/>
            <a:chOff x="762000" y="1714500"/>
            <a:chExt cx="4953000" cy="209550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F5F7FA"/>
            </a:solidFill>
            <a:ln w="9525">
              <a:solidFill>
                <a:srgbClr val="E0E5EC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90600" y="1800225"/>
              <a:ext cx="304800" cy="400050"/>
              <a:chOff x="990600" y="1800225"/>
              <a:chExt cx="304800" cy="40005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1943100"/>
                <a:ext cx="114300" cy="11430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81100" y="1800225"/>
                <a:ext cx="114300" cy="11430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81100" y="2085975"/>
                <a:ext cx="114300" cy="11430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047750" y="185737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142875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047750" y="2000250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0"/>
                    </a:moveTo>
                    <a:lnTo>
                      <a:pt x="190500" y="142875"/>
                    </a:lnTo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238250" y="1857375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19200" y="20288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知识表示学习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3010" y="2394585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将非结构化业务数据转化为高维向量，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3010" y="2623185"/>
              <a:ext cx="31851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支撑智能检索、个性化推荐与语义理解。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238250" y="29051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2B7FC3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484" y="296989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业务价值：数据资产化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0125" y="1714500"/>
            <a:ext cx="10429875" cy="2095500"/>
            <a:chOff x="1000125" y="1714500"/>
            <a:chExt cx="10429875" cy="2095500"/>
          </a:xfrm>
        </p:grpSpPr>
        <p:sp>
          <p:nvSpPr>
            <p:cNvPr id="21" name="Rectangle 21"/>
            <p:cNvSpPr/>
            <p:nvPr/>
          </p:nvSpPr>
          <p:spPr>
            <a:xfrm>
              <a:off x="6477000" y="171450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F5F7FA"/>
            </a:solidFill>
            <a:ln w="9525">
              <a:solidFill>
                <a:srgbClr val="E0E5EC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00125" y="1857375"/>
              <a:ext cx="381000" cy="285750"/>
              <a:chOff x="1000125" y="1857375"/>
              <a:chExt cx="381000" cy="2857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00125" y="1952625"/>
                <a:ext cx="95250" cy="9525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143000" y="1857375"/>
                <a:ext cx="95250" cy="9525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143000" y="2047875"/>
                <a:ext cx="95250" cy="9525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285875" y="1952625"/>
                <a:ext cx="95250" cy="95250"/>
              </a:xfrm>
              <a:prstGeom prst="ellipse">
                <a:avLst/>
              </a:prstGeom>
              <a:solidFill>
                <a:srgbClr val="2B7FC3"/>
              </a:solidFill>
              <a:ln>
                <a:noFill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047750" y="19050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9525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2B7FC3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047750" y="200025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0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4288">
                <a:solidFill>
                  <a:srgbClr val="2B7FC3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1190625" y="19050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0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4288">
                <a:solidFill>
                  <a:srgbClr val="2B7FC3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190625" y="200025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9525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2B7FC3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648450" y="20288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图神经网络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2260" y="2394585"/>
              <a:ext cx="28083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基于GCN/GAT算法挖掘实体深层拓扑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2260" y="2623185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关联，精准识别欺诈网络与用户画像。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67500" y="29051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2B7FC3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1742" y="296989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业务价值：风险洞察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2000" y="1952625"/>
            <a:ext cx="4953000" cy="4333875"/>
            <a:chOff x="762000" y="1952625"/>
            <a:chExt cx="4953000" cy="4333875"/>
          </a:xfrm>
        </p:grpSpPr>
        <p:sp>
          <p:nvSpPr>
            <p:cNvPr id="37" name="Rectangle 37"/>
            <p:cNvSpPr/>
            <p:nvPr/>
          </p:nvSpPr>
          <p:spPr>
            <a:xfrm>
              <a:off x="762000" y="419100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F5F7FA"/>
            </a:solidFill>
            <a:ln w="9525">
              <a:solidFill>
                <a:srgbClr val="E0E5EC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52500" y="1952625"/>
              <a:ext cx="333375" cy="190500"/>
              <a:chOff x="952500" y="1952625"/>
              <a:chExt cx="333375" cy="190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5250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47625" y="0"/>
                    </a:moveTo>
                    <a:lnTo>
                      <a:pt x="142875" y="0"/>
                    </a:lnTo>
                    <a:lnTo>
                      <a:pt x="142875" y="47625"/>
                    </a:lnTo>
                    <a:lnTo>
                      <a:pt x="190500" y="47625"/>
                    </a:lnTo>
                    <a:lnTo>
                      <a:pt x="190500" y="142875"/>
                    </a:lnTo>
                    <a:lnTo>
                      <a:pt x="142875" y="142875"/>
                    </a:lnTo>
                    <a:lnTo>
                      <a:pt x="142875" y="190500"/>
                    </a:lnTo>
                    <a:lnTo>
                      <a:pt x="47625" y="190500"/>
                    </a:lnTo>
                    <a:lnTo>
                      <a:pt x="47625" y="142875"/>
                    </a:lnTo>
                    <a:lnTo>
                      <a:pt x="0" y="142875"/>
                    </a:lnTo>
                    <a:lnTo>
                      <a:pt x="0" y="47625"/>
                    </a:lnTo>
                    <a:lnTo>
                      <a:pt x="47625" y="47625"/>
                    </a:lnTo>
                    <a:close/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95375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47625" y="0"/>
                    </a:moveTo>
                    <a:lnTo>
                      <a:pt x="142875" y="0"/>
                    </a:lnTo>
                    <a:lnTo>
                      <a:pt x="142875" y="47625"/>
                    </a:lnTo>
                    <a:lnTo>
                      <a:pt x="190500" y="47625"/>
                    </a:lnTo>
                    <a:lnTo>
                      <a:pt x="190500" y="142875"/>
                    </a:lnTo>
                    <a:lnTo>
                      <a:pt x="142875" y="142875"/>
                    </a:lnTo>
                    <a:lnTo>
                      <a:pt x="142875" y="190500"/>
                    </a:lnTo>
                    <a:lnTo>
                      <a:pt x="47625" y="190500"/>
                    </a:lnTo>
                    <a:lnTo>
                      <a:pt x="47625" y="142875"/>
                    </a:lnTo>
                    <a:lnTo>
                      <a:pt x="0" y="142875"/>
                    </a:lnTo>
                    <a:lnTo>
                      <a:pt x="0" y="47625"/>
                    </a:lnTo>
                    <a:lnTo>
                      <a:pt x="47625" y="47625"/>
                    </a:lnTo>
                    <a:close/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1095375" y="20002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219200" y="4505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知识图谱补全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23010" y="487108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利用链接预测自动推断缺失关系，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3010" y="5099685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修复数据断层，保障决策数据可靠性。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38250" y="5381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2B7FC3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03484" y="544639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业务价值：数据完整性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28700" y="1876425"/>
            <a:ext cx="10401300" cy="4410075"/>
            <a:chOff x="1028700" y="1876425"/>
            <a:chExt cx="10401300" cy="4410075"/>
          </a:xfrm>
        </p:grpSpPr>
        <p:sp>
          <p:nvSpPr>
            <p:cNvPr id="48" name="Rectangle 48"/>
            <p:cNvSpPr/>
            <p:nvPr/>
          </p:nvSpPr>
          <p:spPr>
            <a:xfrm>
              <a:off x="6477000" y="419100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F5F7FA"/>
            </a:solidFill>
            <a:ln w="9525">
              <a:solidFill>
                <a:srgbClr val="E0E5EC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28700" y="1876425"/>
              <a:ext cx="257175" cy="219075"/>
              <a:chOff x="1028700" y="1876425"/>
              <a:chExt cx="257175" cy="21907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1028700" y="1876425"/>
                <a:ext cx="2190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00025">
                    <a:moveTo>
                      <a:pt x="19050" y="76200"/>
                    </a:moveTo>
                    <a:cubicBezTo>
                      <a:pt x="0" y="28575"/>
                      <a:pt x="66675" y="0"/>
                      <a:pt x="95250" y="47625"/>
                    </a:cubicBezTo>
                    <a:cubicBezTo>
                      <a:pt x="123825" y="0"/>
                      <a:pt x="190500" y="28575"/>
                      <a:pt x="171450" y="76200"/>
                    </a:cubicBezTo>
                    <a:cubicBezTo>
                      <a:pt x="219075" y="95250"/>
                      <a:pt x="190500" y="161925"/>
                      <a:pt x="142875" y="152400"/>
                    </a:cubicBezTo>
                    <a:cubicBezTo>
                      <a:pt x="123825" y="200025"/>
                      <a:pt x="57150" y="171450"/>
                      <a:pt x="66675" y="123825"/>
                    </a:cubicBezTo>
                    <a:cubicBezTo>
                      <a:pt x="19050" y="104775"/>
                      <a:pt x="47625" y="38100"/>
                      <a:pt x="95250" y="47625"/>
                    </a:cubicBezTo>
                    <a:close/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90625" y="20002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  <a:lnTo>
                      <a:pt x="47625" y="95250"/>
                    </a:lnTo>
                    <a:close/>
                  </a:path>
                </a:pathLst>
              </a:custGeom>
              <a:solidFill>
                <a:srgbClr val="2B7FC3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1095375" y="204787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2B7FC3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648450" y="45053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大模型融合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2260" y="4871085"/>
              <a:ext cx="25980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RAG架构结合图谱事实约束，有效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52260" y="5099685"/>
              <a:ext cx="3001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抑制AI“幻觉”，确保输出专业可溯源。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67500" y="5381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2B7FC3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43085" y="5446395"/>
              <a:ext cx="13823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业务价值：可信AI生成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6" grpId="0"/>
      <p:bldP spid="47" grpId="0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303020" y="550545"/>
            <a:ext cx="9555480" cy="897255"/>
            <a:chOff x="1303020" y="550545"/>
            <a:chExt cx="9555480" cy="897255"/>
          </a:xfrm>
        </p:grpSpPr>
        <p:sp>
          <p:nvSpPr>
            <p:cNvPr id="3" name="TextBox 3"/>
            <p:cNvSpPr txBox="1"/>
            <p:nvPr/>
          </p:nvSpPr>
          <p:spPr>
            <a:xfrm>
              <a:off x="1303020" y="550545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应用落地场景总览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1333500" y="1047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rgbClr val="F5F7F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18260" y="1203960"/>
              <a:ext cx="40614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聚焦核心业务价值，驱动智能化决策与运营效率升级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3500" y="1619250"/>
            <a:ext cx="4632960" cy="1333500"/>
            <a:chOff x="1333500" y="1619250"/>
            <a:chExt cx="4632960" cy="1333500"/>
          </a:xfrm>
        </p:grpSpPr>
        <p:sp>
          <p:nvSpPr>
            <p:cNvPr id="7" name="Rectangle 7"/>
            <p:cNvSpPr/>
            <p:nvPr/>
          </p:nvSpPr>
          <p:spPr>
            <a:xfrm>
              <a:off x="1333500" y="1619250"/>
              <a:ext cx="4572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8ECF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771650"/>
              <a:ext cx="457200" cy="457200"/>
            </a:xfrm>
            <a:prstGeom prst="ellipse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19345" y="186309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6450" y="1790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智能搜索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0260" y="2108835"/>
              <a:ext cx="3886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语义理解与实体卡片，精准匹配意图降低检索成本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95500" y="238125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286500" y="1619250"/>
            <a:ext cx="4572000" cy="1333500"/>
            <a:chOff x="6286500" y="1619250"/>
            <a:chExt cx="4572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619250"/>
              <a:ext cx="4572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8ECF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438900" y="1771650"/>
              <a:ext cx="457200" cy="457200"/>
            </a:xfrm>
            <a:prstGeom prst="ellipse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72345" y="186309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9450" y="1790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智能问答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3260" y="2108835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自然语言交互直达权威答案，大幅提升决策效率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48500" y="238125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33500" y="3238500"/>
            <a:ext cx="4632960" cy="1333500"/>
            <a:chOff x="1333500" y="3238500"/>
            <a:chExt cx="4632960" cy="1333500"/>
          </a:xfrm>
        </p:grpSpPr>
        <p:sp>
          <p:nvSpPr>
            <p:cNvPr id="21" name="Rectangle 21"/>
            <p:cNvSpPr/>
            <p:nvPr/>
          </p:nvSpPr>
          <p:spPr>
            <a:xfrm>
              <a:off x="1333500" y="3238500"/>
              <a:ext cx="4572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8ECF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485900" y="3390900"/>
              <a:ext cx="457200" cy="457200"/>
            </a:xfrm>
            <a:prstGeom prst="ellipse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19345" y="34823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76450" y="3409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推荐系统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0260" y="3728085"/>
              <a:ext cx="3886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基于关系网络优化分发策略，显著提升转化与留存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095500" y="40005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286500" y="3238500"/>
            <a:ext cx="4808220" cy="1333500"/>
            <a:chOff x="6286500" y="3238500"/>
            <a:chExt cx="4808220" cy="1333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3238500"/>
              <a:ext cx="4572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8ECF0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438900" y="3390900"/>
              <a:ext cx="457200" cy="457200"/>
            </a:xfrm>
            <a:prstGeom prst="ellipse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72345" y="348234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9450" y="34099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风险控制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3260" y="3728085"/>
              <a:ext cx="40614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实时识别隐蔽资金链路，有效拦截异常保障资产安全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48500" y="40005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33500" y="4857750"/>
            <a:ext cx="9525000" cy="1333500"/>
            <a:chOff x="1333500" y="4857750"/>
            <a:chExt cx="9525000" cy="1333500"/>
          </a:xfrm>
        </p:grpSpPr>
        <p:sp>
          <p:nvSpPr>
            <p:cNvPr id="35" name="Rectangle 35"/>
            <p:cNvSpPr/>
            <p:nvPr/>
          </p:nvSpPr>
          <p:spPr>
            <a:xfrm>
              <a:off x="1333500" y="4857750"/>
              <a:ext cx="9525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8ECF0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485900" y="5010150"/>
              <a:ext cx="457200" cy="457200"/>
            </a:xfrm>
            <a:prstGeom prst="ellipse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19345" y="5101590"/>
              <a:ext cx="1903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76450" y="5029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行业应用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80260" y="5347335"/>
              <a:ext cx="441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覆盖医疗、金融与法律领域，沉淀跨域知识资产赋能转型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95500" y="561975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2B7FC3"/>
            </a:solidFill>
            <a:ln>
              <a:noFill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08811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6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  <p:bldP spid="34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952500"/>
            <a:ext cx="10668000" cy="38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952500"/>
            <a:ext cx="571500" cy="38100"/>
          </a:xfrm>
          <a:prstGeom prst="rect">
            <a:avLst/>
          </a:prstGeom>
          <a:solidFill>
            <a:srgbClr val="2B7FC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7710" y="47053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A5C"/>
                </a:solidFill>
                <a:latin typeface="Arial"/>
                <a:ea typeface="Microsoft YaHei"/>
                <a:cs typeface="Arial"/>
              </a:rPr>
              <a:t>典型应用案例解析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1143000"/>
            <a:ext cx="5519642" cy="1905000"/>
            <a:chOff x="762000" y="1143000"/>
            <a:chExt cx="5519642" cy="1905000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4762500" cy="1905000"/>
            </a:xfrm>
            <a:prstGeom prst="roundRect">
              <a:avLst>
                <a:gd name="adj" fmla="val 6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14400" y="1866900"/>
              <a:ext cx="457200" cy="4572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9446" y="19907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4950" y="1790700"/>
              <a:ext cx="47766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Google 搜索：Knowledge Graph 赋能语义搜索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8760" y="2108835"/>
              <a:ext cx="45872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提升信息检索精准度，直接呈现结构化答案，优化用户体验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0" y="1143000"/>
            <a:ext cx="4983480" cy="1905000"/>
            <a:chOff x="6096000" y="1143000"/>
            <a:chExt cx="498348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096000" y="1143000"/>
              <a:ext cx="4762500" cy="1905000"/>
            </a:xfrm>
            <a:prstGeom prst="roundRect">
              <a:avLst>
                <a:gd name="adj" fmla="val 6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248400" y="1866900"/>
              <a:ext cx="457200" cy="4572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94692" y="19907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38950" y="1790700"/>
              <a:ext cx="42016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医疗辅助诊断：症状-疾病-药物知识推理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2760" y="2108835"/>
              <a:ext cx="4236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辅助医生快速定位病因，缩短诊疗路径，降低误诊风险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619500"/>
            <a:ext cx="5684520" cy="1905000"/>
            <a:chOff x="762000" y="3619500"/>
            <a:chExt cx="5684520" cy="1905000"/>
          </a:xfrm>
        </p:grpSpPr>
        <p:sp>
          <p:nvSpPr>
            <p:cNvPr id="18" name="Rectangle 18"/>
            <p:cNvSpPr/>
            <p:nvPr/>
          </p:nvSpPr>
          <p:spPr>
            <a:xfrm>
              <a:off x="762000" y="3619500"/>
              <a:ext cx="4762500" cy="1905000"/>
            </a:xfrm>
            <a:prstGeom prst="roundRect">
              <a:avLst>
                <a:gd name="adj" fmla="val 6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4400" y="4343400"/>
              <a:ext cx="457200" cy="4572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0692" y="44672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4950" y="4267200"/>
              <a:ext cx="44086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金融风控：企业关联关系挖掘与反团伙欺诈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08760" y="4585335"/>
              <a:ext cx="4937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穿透复杂股权穿透网络，实时预警隐性关联交易，保障资金安全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0" y="3619500"/>
            <a:ext cx="5833491" cy="1905000"/>
            <a:chOff x="6096000" y="3619500"/>
            <a:chExt cx="5833491" cy="1905000"/>
          </a:xfrm>
        </p:grpSpPr>
        <p:sp>
          <p:nvSpPr>
            <p:cNvPr id="24" name="Rectangle 24"/>
            <p:cNvSpPr/>
            <p:nvPr/>
          </p:nvSpPr>
          <p:spPr>
            <a:xfrm>
              <a:off x="6096000" y="3619500"/>
              <a:ext cx="4762500" cy="1905000"/>
            </a:xfrm>
            <a:prstGeom prst="roundRect">
              <a:avLst>
                <a:gd name="adj" fmla="val 6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48400" y="4343400"/>
              <a:ext cx="457200" cy="4572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94692" y="44672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38950" y="4267200"/>
              <a:ext cx="43281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大模型+RAG：利用知识图谱减少 LLM 幻觉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42760" y="4585335"/>
              <a:ext cx="5086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为生成式AI提供权威事实锚点，显著提升回答可信度与业务可用性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071622" y="636365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2192000" cy="76200"/>
            <a:chOff x="0" y="0"/>
            <a:chExt cx="12192000" cy="762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57150"/>
              <a:ext cx="12192000" cy="19050"/>
            </a:xfrm>
            <a:prstGeom prst="rect">
              <a:avLst/>
            </a:prstGeom>
            <a:solidFill>
              <a:srgbClr val="2B7FC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18210" y="851535"/>
            <a:ext cx="2138839" cy="548640"/>
            <a:chOff x="918210" y="851535"/>
            <a:chExt cx="2138839" cy="548640"/>
          </a:xfrm>
        </p:grpSpPr>
        <p:sp>
          <p:nvSpPr>
            <p:cNvPr id="6" name="TextBox 6"/>
            <p:cNvSpPr txBox="1"/>
            <p:nvPr/>
          </p:nvSpPr>
          <p:spPr>
            <a:xfrm>
              <a:off x="918210" y="851535"/>
              <a:ext cx="213883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总结与展望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1381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 cap="rnd">
              <a:solidFill>
                <a:srgbClr val="2B7FC3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52500" y="1905000"/>
            <a:ext cx="10287000" cy="952500"/>
            <a:chOff x="952500" y="1905000"/>
            <a:chExt cx="10287000" cy="952500"/>
          </a:xfrm>
        </p:grpSpPr>
        <p:sp>
          <p:nvSpPr>
            <p:cNvPr id="9" name="Rectangle 9"/>
            <p:cNvSpPr/>
            <p:nvPr/>
          </p:nvSpPr>
          <p:spPr>
            <a:xfrm>
              <a:off x="952500" y="1905000"/>
              <a:ext cx="10287000" cy="952500"/>
            </a:xfrm>
            <a:prstGeom prst="roundRect">
              <a:avLst>
                <a:gd name="adj" fmla="val 12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38250" y="2286000"/>
              <a:ext cx="190500" cy="1905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00200" y="227647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知识图谱是连接数据与智能的关键基础设施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" y="3048000"/>
            <a:ext cx="10287000" cy="952500"/>
            <a:chOff x="952500" y="3048000"/>
            <a:chExt cx="10287000" cy="952500"/>
          </a:xfrm>
        </p:grpSpPr>
        <p:sp>
          <p:nvSpPr>
            <p:cNvPr id="13" name="Rectangle 13"/>
            <p:cNvSpPr/>
            <p:nvPr/>
          </p:nvSpPr>
          <p:spPr>
            <a:xfrm>
              <a:off x="952500" y="3048000"/>
              <a:ext cx="10287000" cy="952500"/>
            </a:xfrm>
            <a:prstGeom prst="roundRect">
              <a:avLst>
                <a:gd name="adj" fmla="val 12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29000"/>
              <a:ext cx="190500" cy="1905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00200" y="3419475"/>
              <a:ext cx="33570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 xml:space="preserve">核心技术日趋成熟 </a:t>
              </a:r>
              <a:r>
                <a:rPr lang="zh-CN" sz="1500" b="1" dirty="0">
                  <a:solidFill>
                    <a:srgbClr val="2B7FC3"/>
                  </a:solidFill>
                  <a:latin typeface="Segoe UI"/>
                  <a:ea typeface="Microsoft YaHei"/>
                  <a:cs typeface="Segoe UI"/>
                </a:rPr>
                <a:t>→</a:t>
              </a:r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 xml:space="preserve"> 产业落地加速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4191000"/>
            <a:ext cx="10287000" cy="952500"/>
            <a:chOff x="952500" y="4191000"/>
            <a:chExt cx="10287000" cy="952500"/>
          </a:xfrm>
        </p:grpSpPr>
        <p:sp>
          <p:nvSpPr>
            <p:cNvPr id="17" name="Rectangle 17"/>
            <p:cNvSpPr/>
            <p:nvPr/>
          </p:nvSpPr>
          <p:spPr>
            <a:xfrm>
              <a:off x="952500" y="4191000"/>
              <a:ext cx="10287000" cy="952500"/>
            </a:xfrm>
            <a:prstGeom prst="roundRect">
              <a:avLst>
                <a:gd name="adj" fmla="val 12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238250" y="4572000"/>
              <a:ext cx="190500" cy="19050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00200" y="4562475"/>
              <a:ext cx="38828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未来：</a:t>
              </a:r>
              <a:r>
                <a:rPr lang="zh-CN" sz="1500" b="1" dirty="0">
                  <a:solidFill>
                    <a:srgbClr val="2B7FC3"/>
                  </a:solidFill>
                  <a:latin typeface="Segoe UI"/>
                  <a:ea typeface="Microsoft YaHei"/>
                  <a:cs typeface="Segoe UI"/>
                </a:rPr>
                <a:t>LLM + KG 深度融合</a:t>
              </a:r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，迈向可信 AI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2500" y="6299835"/>
            <a:ext cx="10300335" cy="243840"/>
            <a:chOff x="952500" y="6299835"/>
            <a:chExt cx="10300335" cy="243840"/>
          </a:xfrm>
        </p:grpSpPr>
        <p:sp>
          <p:nvSpPr>
            <p:cNvPr id="21" name="Line 21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68634" y="629983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A5C"/>
                  </a:solidFill>
                  <a:latin typeface="Segoe UI"/>
                  <a:ea typeface="Microsoft YaHei"/>
                  <a:cs typeface="Segoe UI"/>
                </a:rPr>
                <a:t>携手构建可信智能新生态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1122" y="6316028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99999"/>
                  </a:solidFill>
                  <a:latin typeface="Segoe UI"/>
                  <a:ea typeface="Microsoft YaHei"/>
                  <a:cs typeface="Segoe UI"/>
                </a:rPr>
                <a:t>8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638175"/>
            <a:ext cx="2047875" cy="95250"/>
            <a:chOff x="762000" y="638175"/>
            <a:chExt cx="2047875" cy="95250"/>
          </a:xfrm>
        </p:grpSpPr>
        <p:sp>
          <p:nvSpPr>
            <p:cNvPr id="3" name="Rectangle 3"/>
            <p:cNvSpPr/>
            <p:nvPr/>
          </p:nvSpPr>
          <p:spPr>
            <a:xfrm>
              <a:off x="762000" y="666750"/>
              <a:ext cx="1905000" cy="381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2714625" y="638175"/>
              <a:ext cx="95250" cy="95250"/>
            </a:xfrm>
            <a:prstGeom prst="ellipse">
              <a:avLst/>
            </a:prstGeom>
            <a:solidFill>
              <a:srgbClr val="2B7FC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149358" y="2531745"/>
            <a:ext cx="1893284" cy="2083117"/>
            <a:chOff x="5149358" y="2531745"/>
            <a:chExt cx="1893284" cy="2083117"/>
          </a:xfrm>
        </p:grpSpPr>
        <p:sp>
          <p:nvSpPr>
            <p:cNvPr id="6" name="TextBox 6"/>
            <p:cNvSpPr txBox="1"/>
            <p:nvPr/>
          </p:nvSpPr>
          <p:spPr>
            <a:xfrm>
              <a:off x="5149358" y="2531745"/>
              <a:ext cx="189328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谢谢！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0" y="3333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 cap="rnd">
              <a:solidFill>
                <a:srgbClr val="2B7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584580" y="3629978"/>
              <a:ext cx="10228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B7FC3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16842" y="4218622"/>
              <a:ext cx="17583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欢迎交流讨论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6162675"/>
            <a:ext cx="1190625" cy="95250"/>
            <a:chOff x="762000" y="6162675"/>
            <a:chExt cx="1190625" cy="95250"/>
          </a:xfrm>
        </p:grpSpPr>
        <p:sp>
          <p:nvSpPr>
            <p:cNvPr id="11" name="Rectangle 11"/>
            <p:cNvSpPr/>
            <p:nvPr/>
          </p:nvSpPr>
          <p:spPr>
            <a:xfrm>
              <a:off x="762000" y="6191250"/>
              <a:ext cx="1143000" cy="381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857375" y="6162675"/>
              <a:ext cx="95250" cy="95250"/>
            </a:xfrm>
            <a:prstGeom prst="ellipse">
              <a:avLst/>
            </a:prstGeom>
            <a:solidFill>
              <a:srgbClr val="1A3A5C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
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2240"/>
              </a:gs>
              <a:gs pos="100000">
                <a:srgbClr val="0A192F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1647825" y="1457325"/>
            <a:ext cx="8686800" cy="3933825"/>
            <a:chOff x="1647825" y="1457325"/>
            <a:chExt cx="8686800" cy="3933825"/>
          </a:xfrm>
        </p:grpSpPr>
        <p:sp>
          <p:nvSpPr>
            <p:cNvPr id="3" name="Line 3"/>
            <p:cNvSpPr/>
            <p:nvPr/>
          </p:nvSpPr>
          <p:spPr>
            <a:xfrm>
              <a:off x="1714500" y="1524000"/>
              <a:ext cx="2286000" cy="1238250"/>
            </a:xfrm>
            <a:custGeom>
              <a:avLst/>
              <a:gdLst/>
              <a:ahLst/>
              <a:cxnLst/>
              <a:rect l="l" t="t" r="r" b="b"/>
              <a:pathLst>
                <a:path w="2286000" h="1238250">
                  <a:moveTo>
                    <a:pt x="0" y="0"/>
                  </a:moveTo>
                  <a:lnTo>
                    <a:pt x="2286000" y="1238250"/>
                  </a:lnTo>
                </a:path>
              </a:pathLst>
            </a:custGeom>
            <a:noFill/>
            <a:ln w="19050">
              <a:solidFill>
                <a:srgbClr val="64FFDA">
                  <a:alpha val="1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4000500" y="2000250"/>
              <a:ext cx="2476500" cy="762000"/>
            </a:xfrm>
            <a:custGeom>
              <a:avLst/>
              <a:gdLst/>
              <a:ahLst/>
              <a:cxnLst/>
              <a:rect l="l" t="t" r="r" b="b"/>
              <a:pathLst>
                <a:path w="2476500" h="762000">
                  <a:moveTo>
                    <a:pt x="0" y="762000"/>
                  </a:moveTo>
                  <a:lnTo>
                    <a:pt x="2476500" y="0"/>
                  </a:lnTo>
                </a:path>
              </a:pathLst>
            </a:custGeom>
            <a:noFill/>
            <a:ln w="19050">
              <a:solidFill>
                <a:srgbClr val="64FFDA">
                  <a:alpha val="1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477000" y="2000250"/>
              <a:ext cx="2286000" cy="1428750"/>
            </a:xfrm>
            <a:custGeom>
              <a:avLst/>
              <a:gdLst/>
              <a:ahLst/>
              <a:cxnLst/>
              <a:rect l="l" t="t" r="r" b="b"/>
              <a:pathLst>
                <a:path w="2286000" h="1428750">
                  <a:moveTo>
                    <a:pt x="0" y="0"/>
                  </a:moveTo>
                  <a:lnTo>
                    <a:pt x="2286000" y="1428750"/>
                  </a:lnTo>
                </a:path>
              </a:pathLst>
            </a:custGeom>
            <a:noFill/>
            <a:ln w="19050">
              <a:solidFill>
                <a:srgbClr val="64FFDA">
                  <a:alpha val="1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763000" y="2095500"/>
              <a:ext cx="1524000" cy="1333500"/>
            </a:xfrm>
            <a:custGeom>
              <a:avLst/>
              <a:gdLst/>
              <a:ahLst/>
              <a:cxnLst/>
              <a:rect l="l" t="t" r="r" b="b"/>
              <a:pathLst>
                <a:path w="1524000" h="1333500">
                  <a:moveTo>
                    <a:pt x="0" y="133350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64FFDA">
                  <a:alpha val="1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714500" y="1524000"/>
              <a:ext cx="1333500" cy="2381250"/>
            </a:xfrm>
            <a:custGeom>
              <a:avLst/>
              <a:gdLst/>
              <a:ahLst/>
              <a:cxnLst/>
              <a:rect l="l" t="t" r="r" b="b"/>
              <a:pathLst>
                <a:path w="1333500" h="2381250">
                  <a:moveTo>
                    <a:pt x="0" y="0"/>
                  </a:moveTo>
                  <a:lnTo>
                    <a:pt x="1333500" y="2381250"/>
                  </a:lnTo>
                </a:path>
              </a:pathLst>
            </a:custGeom>
            <a:noFill/>
            <a:ln w="19050">
              <a:solidFill>
                <a:srgbClr val="64FFDA">
                  <a:alpha val="1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3905250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0" y="0"/>
                  </a:moveTo>
                  <a:lnTo>
                    <a:pt x="2476500" y="952500"/>
                  </a:lnTo>
                </a:path>
              </a:pathLst>
            </a:custGeom>
            <a:noFill/>
            <a:ln w="19050">
              <a:solidFill>
                <a:srgbClr val="64FFDA">
                  <a:alpha val="1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524500" y="4381500"/>
              <a:ext cx="2286000" cy="476250"/>
            </a:xfrm>
            <a:custGeom>
              <a:avLst/>
              <a:gdLst/>
              <a:ahLst/>
              <a:cxnLst/>
              <a:rect l="l" t="t" r="r" b="b"/>
              <a:pathLst>
                <a:path w="2286000" h="476250">
                  <a:moveTo>
                    <a:pt x="0" y="47625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rgbClr val="64FFDA">
                  <a:alpha val="1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810500" y="4381500"/>
              <a:ext cx="1905000" cy="952500"/>
            </a:xfrm>
            <a:custGeom>
              <a:avLst/>
              <a:gdLst/>
              <a:ahLst/>
              <a:cxnLst/>
              <a:rect l="l" t="t" r="r" b="b"/>
              <a:pathLst>
                <a:path w="1905000" h="952500">
                  <a:moveTo>
                    <a:pt x="0" y="0"/>
                  </a:moveTo>
                  <a:lnTo>
                    <a:pt x="1905000" y="952500"/>
                  </a:lnTo>
                </a:path>
              </a:pathLst>
            </a:custGeom>
            <a:noFill/>
            <a:ln w="19050">
              <a:solidFill>
                <a:srgbClr val="64FFDA">
                  <a:alpha val="1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048000" y="2762250"/>
              <a:ext cx="952500" cy="1143000"/>
            </a:xfrm>
            <a:custGeom>
              <a:avLst/>
              <a:gdLst/>
              <a:ahLst/>
              <a:cxnLst/>
              <a:rect l="l" t="t" r="r" b="b"/>
              <a:pathLst>
                <a:path w="952500" h="1143000">
                  <a:moveTo>
                    <a:pt x="95250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64FFDA">
                  <a:alpha val="1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477000" y="2000250"/>
              <a:ext cx="1333500" cy="2381250"/>
            </a:xfrm>
            <a:custGeom>
              <a:avLst/>
              <a:gdLst/>
              <a:ahLst/>
              <a:cxnLst/>
              <a:rect l="l" t="t" r="r" b="b"/>
              <a:pathLst>
                <a:path w="1333500" h="2381250">
                  <a:moveTo>
                    <a:pt x="0" y="0"/>
                  </a:moveTo>
                  <a:lnTo>
                    <a:pt x="1333500" y="2381250"/>
                  </a:lnTo>
                </a:path>
              </a:pathLst>
            </a:custGeom>
            <a:noFill/>
            <a:ln w="19050">
              <a:solidFill>
                <a:srgbClr val="64FFDA">
                  <a:alpha val="1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763000" y="3429000"/>
              <a:ext cx="952500" cy="1905000"/>
            </a:xfrm>
            <a:custGeom>
              <a:avLst/>
              <a:gdLst/>
              <a:ahLst/>
              <a:cxnLst/>
              <a:rect l="l" t="t" r="r" b="b"/>
              <a:pathLst>
                <a:path w="952500" h="1905000">
                  <a:moveTo>
                    <a:pt x="0" y="0"/>
                  </a:moveTo>
                  <a:lnTo>
                    <a:pt x="952500" y="1905000"/>
                  </a:lnTo>
                </a:path>
              </a:pathLst>
            </a:custGeom>
            <a:noFill/>
            <a:ln w="19050">
              <a:solidFill>
                <a:srgbClr val="64FFDA">
                  <a:alpha val="1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048000" y="3905250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0" y="0"/>
                  </a:moveTo>
                  <a:lnTo>
                    <a:pt x="2476500" y="952500"/>
                  </a:lnTo>
                </a:path>
              </a:pathLst>
            </a:custGeom>
            <a:noFill/>
            <a:ln w="19050">
              <a:solidFill>
                <a:srgbClr val="64FFDA">
                  <a:alpha val="1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524500" y="4381500"/>
              <a:ext cx="2286000" cy="476250"/>
            </a:xfrm>
            <a:custGeom>
              <a:avLst/>
              <a:gdLst/>
              <a:ahLst/>
              <a:cxnLst/>
              <a:rect l="l" t="t" r="r" b="b"/>
              <a:pathLst>
                <a:path w="2286000" h="476250">
                  <a:moveTo>
                    <a:pt x="0" y="47625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rgbClr val="64FFDA">
                  <a:alpha val="15000"/>
                </a:srgbClr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647825" y="1457325"/>
              <a:ext cx="133350" cy="133350"/>
            </a:xfrm>
            <a:prstGeom prst="ellipse">
              <a:avLst/>
            </a:prstGeom>
            <a:solidFill>
              <a:srgbClr val="64FFDA">
                <a:alpha val="15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895725" y="2657475"/>
              <a:ext cx="209550" cy="209550"/>
            </a:xfrm>
            <a:prstGeom prst="ellipse">
              <a:avLst/>
            </a:prstGeom>
            <a:solidFill>
              <a:srgbClr val="64FFDA">
                <a:alpha val="1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419850" y="1943100"/>
              <a:ext cx="114300" cy="114300"/>
            </a:xfrm>
            <a:prstGeom prst="ellipse">
              <a:avLst/>
            </a:prstGeom>
            <a:solidFill>
              <a:srgbClr val="64FFDA">
                <a:alpha val="15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677275" y="3343275"/>
              <a:ext cx="171450" cy="171450"/>
            </a:xfrm>
            <a:prstGeom prst="ellipse">
              <a:avLst/>
            </a:prstGeom>
            <a:solidFill>
              <a:srgbClr val="64FFDA">
                <a:alpha val="15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239375" y="2047875"/>
              <a:ext cx="95250" cy="95250"/>
            </a:xfrm>
            <a:prstGeom prst="ellipse">
              <a:avLst/>
            </a:prstGeom>
            <a:solidFill>
              <a:srgbClr val="64FFDA">
                <a:alpha val="15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971800" y="3829050"/>
              <a:ext cx="152400" cy="152400"/>
            </a:xfrm>
            <a:prstGeom prst="ellipse">
              <a:avLst/>
            </a:prstGeom>
            <a:solidFill>
              <a:srgbClr val="64FFDA">
                <a:alpha val="15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457825" y="4791075"/>
              <a:ext cx="133350" cy="133350"/>
            </a:xfrm>
            <a:prstGeom prst="ellipse">
              <a:avLst/>
            </a:prstGeom>
            <a:solidFill>
              <a:srgbClr val="64FFDA">
                <a:alpha val="15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715250" y="4286250"/>
              <a:ext cx="190500" cy="190500"/>
            </a:xfrm>
            <a:prstGeom prst="ellipse">
              <a:avLst/>
            </a:prstGeom>
            <a:solidFill>
              <a:srgbClr val="64FFDA">
                <a:alpha val="15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658350" y="5276850"/>
              <a:ext cx="114300" cy="114300"/>
            </a:xfrm>
            <a:prstGeom prst="ellipse">
              <a:avLst/>
            </a:prstGeom>
            <a:solidFill>
              <a:srgbClr val="64FFDA">
                <a:alpha val="15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724400" y="3295650"/>
              <a:ext cx="76200" cy="76200"/>
            </a:xfrm>
            <a:prstGeom prst="ellipse">
              <a:avLst/>
            </a:prstGeom>
            <a:solidFill>
              <a:srgbClr val="64FFDA">
                <a:alpha val="15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096125" y="3762375"/>
              <a:ext cx="95250" cy="95250"/>
            </a:xfrm>
            <a:prstGeom prst="ellipse">
              <a:avLst/>
            </a:prstGeom>
            <a:solidFill>
              <a:srgbClr val="64FFDA">
                <a:alpha val="15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343150" y="5200650"/>
              <a:ext cx="76200" cy="76200"/>
            </a:xfrm>
            <a:prstGeom prst="ellipse">
              <a:avLst/>
            </a:prstGeom>
            <a:solidFill>
              <a:srgbClr val="64FFDA">
                <a:alpha val="150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614904" y="2190750"/>
            <a:ext cx="4962192" cy="2638425"/>
            <a:chOff x="3614904" y="2190750"/>
            <a:chExt cx="4962192" cy="2638425"/>
          </a:xfrm>
        </p:grpSpPr>
        <p:sp>
          <p:nvSpPr>
            <p:cNvPr id="29" name="Rectangle 29"/>
            <p:cNvSpPr/>
            <p:nvPr/>
          </p:nvSpPr>
          <p:spPr>
            <a:xfrm>
              <a:off x="4953000" y="2190750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64FFD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083748" y="2225040"/>
              <a:ext cx="4024503" cy="1280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知识图谱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14904" y="3391852"/>
              <a:ext cx="496219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CCD6F6"/>
                  </a:solidFill>
                  <a:latin typeface="Arial"/>
                  <a:ea typeface="Microsoft YaHei"/>
                  <a:cs typeface="Arial"/>
                </a:rPr>
                <a:t>核心技术架构 · 应用落地场景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58076" y="4186238"/>
              <a:ext cx="107584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8892B0"/>
                  </a:solidFill>
                  <a:latin typeface="Arial"/>
                  <a:ea typeface="Microsoft YaHei"/>
                  <a:cs typeface="Arial"/>
                </a:rPr>
                <a:t>2 0 2 5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24500" y="4810125"/>
              <a:ext cx="1143000" cy="19050"/>
            </a:xfrm>
            <a:prstGeom prst="roundRect">
              <a:avLst>
                <a:gd name="adj" fmla="val 50000"/>
              </a:avLst>
            </a:prstGeom>
            <a:solidFill>
              <a:srgbClr val="8892B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906780" y="659130"/>
            <a:ext cx="1195578" cy="731520"/>
            <a:chOff x="906780" y="659130"/>
            <a:chExt cx="1195578" cy="731520"/>
          </a:xfrm>
        </p:grpSpPr>
        <p:sp>
          <p:nvSpPr>
            <p:cNvPr id="4" name="TextBox 4"/>
            <p:cNvSpPr txBox="1"/>
            <p:nvPr/>
          </p:nvSpPr>
          <p:spPr>
            <a:xfrm>
              <a:off x="906780" y="659130"/>
              <a:ext cx="119557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952500" y="1238250"/>
              <a:ext cx="11430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62000" y="2000250"/>
            <a:ext cx="10668000" cy="952500"/>
            <a:chOff x="762000" y="2000250"/>
            <a:chExt cx="10668000" cy="952500"/>
          </a:xfrm>
        </p:grpSpPr>
        <p:sp>
          <p:nvSpPr>
            <p:cNvPr id="7" name="Rectangle 7"/>
            <p:cNvSpPr/>
            <p:nvPr/>
          </p:nvSpPr>
          <p:spPr>
            <a:xfrm>
              <a:off x="762000" y="2000250"/>
              <a:ext cx="1066800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81100" y="2038350"/>
              <a:ext cx="700873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63115" y="2248852"/>
              <a:ext cx="267176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什么是知识图谱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3048000"/>
            <a:ext cx="10668000" cy="952500"/>
            <a:chOff x="762000" y="3048000"/>
            <a:chExt cx="10668000" cy="952500"/>
          </a:xfrm>
        </p:grpSpPr>
        <p:sp>
          <p:nvSpPr>
            <p:cNvPr id="11" name="Rectangle 11"/>
            <p:cNvSpPr/>
            <p:nvPr/>
          </p:nvSpPr>
          <p:spPr>
            <a:xfrm>
              <a:off x="762000" y="3048000"/>
              <a:ext cx="1066800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81100" y="3086100"/>
              <a:ext cx="87339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63115" y="3296602"/>
              <a:ext cx="229933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核心技术架构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4095750"/>
            <a:ext cx="10668000" cy="952500"/>
            <a:chOff x="762000" y="4095750"/>
            <a:chExt cx="10668000" cy="952500"/>
          </a:xfrm>
        </p:grpSpPr>
        <p:sp>
          <p:nvSpPr>
            <p:cNvPr id="15" name="Rectangle 15"/>
            <p:cNvSpPr/>
            <p:nvPr/>
          </p:nvSpPr>
          <p:spPr>
            <a:xfrm>
              <a:off x="762000" y="4095750"/>
              <a:ext cx="1066800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81100" y="4133850"/>
              <a:ext cx="87339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63115" y="4344352"/>
              <a:ext cx="229933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应用落地场景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5143500"/>
            <a:ext cx="10668000" cy="952500"/>
            <a:chOff x="762000" y="5143500"/>
            <a:chExt cx="10668000" cy="952500"/>
          </a:xfrm>
        </p:grpSpPr>
        <p:sp>
          <p:nvSpPr>
            <p:cNvPr id="19" name="Rectangle 19"/>
            <p:cNvSpPr/>
            <p:nvPr/>
          </p:nvSpPr>
          <p:spPr>
            <a:xfrm>
              <a:off x="762000" y="5143500"/>
              <a:ext cx="1066800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81100" y="5181600"/>
              <a:ext cx="87339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63115" y="5392102"/>
              <a:ext cx="192690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总结与展望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763000" y="1714500"/>
            <a:ext cx="3429000" cy="3429000"/>
            <a:chOff x="8763000" y="1714500"/>
            <a:chExt cx="3429000" cy="3429000"/>
          </a:xfrm>
        </p:grpSpPr>
        <p:sp>
          <p:nvSpPr>
            <p:cNvPr id="23" name="Ellipse 23"/>
            <p:cNvSpPr/>
            <p:nvPr/>
          </p:nvSpPr>
          <p:spPr>
            <a:xfrm>
              <a:off x="8763000" y="1714500"/>
              <a:ext cx="3429000" cy="3429000"/>
            </a:xfrm>
            <a:prstGeom prst="ellipse">
              <a:avLst/>
            </a:prstGeom>
            <a:solidFill>
              <a:srgbClr val="EFF6FF">
                <a:alpha val="60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334500" y="2286000"/>
              <a:ext cx="2286000" cy="2286000"/>
            </a:xfrm>
            <a:prstGeom prst="ellipse">
              <a:avLst/>
            </a:prstGeom>
            <a:solidFill>
              <a:srgbClr val="DBEAFE">
                <a:alpha val="40000"/>
              </a:srgbClr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0001250" y="2857500"/>
              <a:ext cx="952500" cy="1143000"/>
            </a:xfrm>
            <a:custGeom>
              <a:avLst/>
              <a:gdLst/>
              <a:ahLst/>
              <a:cxnLst/>
              <a:rect l="l" t="t" r="r" b="b"/>
              <a:pathLst>
                <a:path w="952500" h="1143000">
                  <a:moveTo>
                    <a:pt x="0" y="0"/>
                  </a:moveTo>
                  <a:lnTo>
                    <a:pt x="952500" y="0"/>
                  </a:lnTo>
                  <a:moveTo>
                    <a:pt x="0" y="571500"/>
                  </a:moveTo>
                  <a:lnTo>
                    <a:pt x="952500" y="571500"/>
                  </a:lnTo>
                  <a:moveTo>
                    <a:pt x="0" y="1143000"/>
                  </a:moveTo>
                  <a:lnTo>
                    <a:pt x="952500" y="1143000"/>
                  </a:lnTo>
                </a:path>
              </a:pathLst>
            </a:custGeom>
            <a:solidFill>
              <a:srgbClr val="000000">
                <a:alpha val="50000"/>
              </a:srgbClr>
            </a:solidFill>
            <a:ln w="19050" cap="rnd">
              <a:solidFill>
                <a:srgbClr val="93C5FD">
                  <a:alpha val="50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906780" y="563880"/>
            <a:ext cx="3955923" cy="731520"/>
            <a:chOff x="906780" y="563880"/>
            <a:chExt cx="3955923" cy="731520"/>
          </a:xfrm>
        </p:grpSpPr>
        <p:sp>
          <p:nvSpPr>
            <p:cNvPr id="3" name="TextBox 3"/>
            <p:cNvSpPr txBox="1"/>
            <p:nvPr/>
          </p:nvSpPr>
          <p:spPr>
            <a:xfrm>
              <a:off x="906780" y="563880"/>
              <a:ext cx="395592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什么是知识图谱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952500" y="119062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23900" y="1771650"/>
            <a:ext cx="7172325" cy="3171825"/>
            <a:chOff x="723900" y="1771650"/>
            <a:chExt cx="7172325" cy="3171825"/>
          </a:xfrm>
        </p:grpSpPr>
        <p:grpSp>
          <p:nvGrpSpPr>
            <p:cNvPr id="9" name="Group 9"/>
            <p:cNvGrpSpPr/>
            <p:nvPr/>
          </p:nvGrpSpPr>
          <p:grpSpPr>
            <a:xfrm>
              <a:off x="723900" y="1771650"/>
              <a:ext cx="7172325" cy="504825"/>
              <a:chOff x="723900" y="1771650"/>
              <a:chExt cx="7172325" cy="504825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723900" y="1771650"/>
                <a:ext cx="457200" cy="4572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88235" y="1882140"/>
                <a:ext cx="12853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402080" y="1849755"/>
                <a:ext cx="6494145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定义：</a:t>
                </a:r>
                <a:r>
                  <a:rPr lang="zh-CN" sz="210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用图结构描述实体及其语义关系的知识库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723900" y="3105150"/>
              <a:ext cx="5976175" cy="504825"/>
              <a:chOff x="723900" y="3105150"/>
              <a:chExt cx="5976175" cy="504825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723900" y="3105150"/>
                <a:ext cx="457200" cy="4572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53731" y="3215640"/>
                <a:ext cx="19753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02080" y="3183255"/>
                <a:ext cx="5297995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基本单元：</a:t>
                </a:r>
                <a:r>
                  <a:rPr lang="zh-CN" sz="210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&lt;实体, 关系, 实体&gt; 三元组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23900" y="4438650"/>
              <a:ext cx="6558915" cy="504825"/>
              <a:chOff x="723900" y="4438650"/>
              <a:chExt cx="6558915" cy="50482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23900" y="4438650"/>
                <a:ext cx="457200" cy="4572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53731" y="4549140"/>
                <a:ext cx="19753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402080" y="4516755"/>
                <a:ext cx="5880735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本质：</a:t>
                </a:r>
                <a:r>
                  <a:rPr lang="zh-CN" sz="210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将碎片化信息组织成结构化知识网络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6953250" y="1714500"/>
            <a:ext cx="4191000" cy="4191000"/>
            <a:chOff x="6953250" y="1714500"/>
            <a:chExt cx="4191000" cy="4191000"/>
          </a:xfrm>
        </p:grpSpPr>
        <p:sp>
          <p:nvSpPr>
            <p:cNvPr id="19" name="Ellipse 19"/>
            <p:cNvSpPr/>
            <p:nvPr/>
          </p:nvSpPr>
          <p:spPr>
            <a:xfrm>
              <a:off x="6953250" y="1714500"/>
              <a:ext cx="4191000" cy="4191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810500" y="2286000"/>
              <a:ext cx="2667000" cy="2295525"/>
              <a:chOff x="7810500" y="2286000"/>
              <a:chExt cx="2667000" cy="2295525"/>
            </a:xfrm>
          </p:grpSpPr>
          <p:sp>
            <p:nvSpPr>
              <p:cNvPr id="20" name="Line 20"/>
              <p:cNvSpPr/>
              <p:nvPr/>
            </p:nvSpPr>
            <p:spPr>
              <a:xfrm>
                <a:off x="7810500" y="2286000"/>
                <a:ext cx="952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381000">
                    <a:moveTo>
                      <a:pt x="0" y="381000"/>
                    </a:moveTo>
                    <a:lnTo>
                      <a:pt x="952500" y="0"/>
                    </a:lnTo>
                  </a:path>
                </a:pathLst>
              </a:custGeom>
              <a:noFill/>
              <a:ln w="23812">
                <a:solidFill>
                  <a:srgbClr val="93C5FD">
                    <a:alpha val="70000"/>
                  </a:srgbClr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7810500" y="2667000"/>
                <a:ext cx="381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00">
                    <a:moveTo>
                      <a:pt x="0" y="0"/>
                    </a:moveTo>
                    <a:lnTo>
                      <a:pt x="381000" y="952500"/>
                    </a:lnTo>
                  </a:path>
                </a:pathLst>
              </a:custGeom>
              <a:noFill/>
              <a:ln w="23812">
                <a:solidFill>
                  <a:srgbClr val="93C5FD">
                    <a:alpha val="70000"/>
                  </a:srgbClr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8763000" y="2286000"/>
                <a:ext cx="9525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571500">
                    <a:moveTo>
                      <a:pt x="0" y="0"/>
                    </a:moveTo>
                    <a:lnTo>
                      <a:pt x="952500" y="571500"/>
                    </a:lnTo>
                  </a:path>
                </a:pathLst>
              </a:custGeom>
              <a:noFill/>
              <a:ln w="23812">
                <a:solidFill>
                  <a:srgbClr val="93C5FD">
                    <a:alpha val="70000"/>
                  </a:srgbClr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8763000" y="2286000"/>
                <a:ext cx="381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143000">
                    <a:moveTo>
                      <a:pt x="0" y="0"/>
                    </a:moveTo>
                    <a:lnTo>
                      <a:pt x="381000" y="1143000"/>
                    </a:lnTo>
                  </a:path>
                </a:pathLst>
              </a:custGeom>
              <a:noFill/>
              <a:ln w="23812">
                <a:solidFill>
                  <a:srgbClr val="93C5FD">
                    <a:alpha val="70000"/>
                  </a:srgbClr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9715500" y="2476500"/>
                <a:ext cx="762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381000">
                    <a:moveTo>
                      <a:pt x="0" y="381000"/>
                    </a:moveTo>
                    <a:lnTo>
                      <a:pt x="762000" y="0"/>
                    </a:lnTo>
                  </a:path>
                </a:pathLst>
              </a:custGeom>
              <a:noFill/>
              <a:ln w="23812">
                <a:solidFill>
                  <a:srgbClr val="93C5FD">
                    <a:alpha val="70000"/>
                  </a:srgbClr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9715500" y="2857500"/>
                <a:ext cx="381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00">
                    <a:moveTo>
                      <a:pt x="0" y="0"/>
                    </a:moveTo>
                    <a:lnTo>
                      <a:pt x="381000" y="952500"/>
                    </a:lnTo>
                  </a:path>
                </a:pathLst>
              </a:custGeom>
              <a:noFill/>
              <a:ln w="23812">
                <a:solidFill>
                  <a:srgbClr val="93C5FD">
                    <a:alpha val="70000"/>
                  </a:srgbClr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8191500" y="3429000"/>
                <a:ext cx="952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190500">
                    <a:moveTo>
                      <a:pt x="0" y="190500"/>
                    </a:moveTo>
                    <a:lnTo>
                      <a:pt x="952500" y="0"/>
                    </a:lnTo>
                  </a:path>
                </a:pathLst>
              </a:custGeom>
              <a:noFill/>
              <a:ln w="23812">
                <a:solidFill>
                  <a:srgbClr val="93C5FD">
                    <a:alpha val="70000"/>
                  </a:srgbClr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8191500" y="3619500"/>
                <a:ext cx="381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00">
                    <a:moveTo>
                      <a:pt x="0" y="0"/>
                    </a:moveTo>
                    <a:lnTo>
                      <a:pt x="381000" y="952500"/>
                    </a:lnTo>
                  </a:path>
                </a:pathLst>
              </a:custGeom>
              <a:noFill/>
              <a:ln w="23812">
                <a:solidFill>
                  <a:srgbClr val="93C5FD">
                    <a:alpha val="70000"/>
                  </a:srgbClr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9144000" y="3429000"/>
                <a:ext cx="952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381000">
                    <a:moveTo>
                      <a:pt x="0" y="0"/>
                    </a:moveTo>
                    <a:lnTo>
                      <a:pt x="952500" y="381000"/>
                    </a:lnTo>
                  </a:path>
                </a:pathLst>
              </a:custGeom>
              <a:noFill/>
              <a:ln w="23812">
                <a:solidFill>
                  <a:srgbClr val="93C5FD">
                    <a:alpha val="70000"/>
                  </a:srgbClr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9144000" y="3429000"/>
                <a:ext cx="381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143000">
                    <a:moveTo>
                      <a:pt x="0" y="0"/>
                    </a:moveTo>
                    <a:lnTo>
                      <a:pt x="381000" y="1143000"/>
                    </a:lnTo>
                  </a:path>
                </a:pathLst>
              </a:custGeom>
              <a:noFill/>
              <a:ln w="23812">
                <a:solidFill>
                  <a:srgbClr val="93C5FD">
                    <a:alpha val="70000"/>
                  </a:srgbClr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10096500" y="2476500"/>
                <a:ext cx="3810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333500">
                    <a:moveTo>
                      <a:pt x="381000" y="0"/>
                    </a:moveTo>
                    <a:lnTo>
                      <a:pt x="0" y="1333500"/>
                    </a:lnTo>
                  </a:path>
                </a:pathLst>
              </a:custGeom>
              <a:noFill/>
              <a:ln w="23812">
                <a:solidFill>
                  <a:srgbClr val="93C5FD">
                    <a:alpha val="70000"/>
                  </a:srgbClr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8572500" y="4572000"/>
                <a:ext cx="95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9525">
                    <a:moveTo>
                      <a:pt x="0" y="0"/>
                    </a:moveTo>
                    <a:lnTo>
                      <a:pt x="952500" y="0"/>
                    </a:lnTo>
                  </a:path>
                </a:pathLst>
              </a:custGeom>
              <a:noFill/>
              <a:ln w="23812">
                <a:solidFill>
                  <a:srgbClr val="93C5FD">
                    <a:alpha val="70000"/>
                  </a:srgbClr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9525000" y="3810000"/>
                <a:ext cx="571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762000">
                    <a:moveTo>
                      <a:pt x="0" y="762000"/>
                    </a:moveTo>
                    <a:lnTo>
                      <a:pt x="571500" y="0"/>
                    </a:lnTo>
                  </a:path>
                </a:pathLst>
              </a:custGeom>
              <a:noFill/>
              <a:ln w="23812">
                <a:solidFill>
                  <a:srgbClr val="93C5FD">
                    <a:alpha val="70000"/>
                  </a:srgbClr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10096500" y="2476500"/>
                <a:ext cx="3810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333500">
                    <a:moveTo>
                      <a:pt x="0" y="1333500"/>
                    </a:moveTo>
                    <a:lnTo>
                      <a:pt x="381000" y="0"/>
                    </a:lnTo>
                  </a:path>
                </a:pathLst>
              </a:custGeom>
              <a:noFill/>
              <a:ln w="23812">
                <a:solidFill>
                  <a:srgbClr val="93C5FD">
                    <a:alpha val="70000"/>
                  </a:srgbClr>
                </a:solidFill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7639050" y="2152650"/>
              <a:ext cx="2981325" cy="2590800"/>
              <a:chOff x="7639050" y="2152650"/>
              <a:chExt cx="2981325" cy="2590800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7639050" y="2495550"/>
                <a:ext cx="342900" cy="342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8629650" y="2152650"/>
                <a:ext cx="266700" cy="26670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9525000" y="2667000"/>
                <a:ext cx="381000" cy="381000"/>
              </a:xfrm>
              <a:prstGeom prst="ellipse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8039100" y="3467100"/>
                <a:ext cx="304800" cy="304800"/>
              </a:xfrm>
              <a:prstGeom prst="ellipse">
                <a:avLst/>
              </a:prstGeom>
              <a:solidFill>
                <a:srgbClr val="60A5FA"/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8934450" y="3219450"/>
                <a:ext cx="419100" cy="4191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10334625" y="2333625"/>
                <a:ext cx="285750" cy="28575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8401050" y="4400550"/>
                <a:ext cx="342900" cy="342900"/>
              </a:xfrm>
              <a:prstGeom prst="ellipse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9391650" y="4438650"/>
                <a:ext cx="266700" cy="266700"/>
              </a:xfrm>
              <a:prstGeom prst="ellipse">
                <a:avLst/>
              </a:prstGeom>
              <a:solidFill>
                <a:srgbClr val="60A5FA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9944100" y="3657600"/>
                <a:ext cx="304800" cy="3048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7810500" y="2286000"/>
              <a:ext cx="2286000" cy="2286000"/>
              <a:chOff x="7810500" y="2286000"/>
              <a:chExt cx="2286000" cy="2286000"/>
            </a:xfrm>
          </p:grpSpPr>
          <p:sp>
            <p:nvSpPr>
              <p:cNvPr id="45" name="Line 45"/>
              <p:cNvSpPr/>
              <p:nvPr/>
            </p:nvSpPr>
            <p:spPr>
              <a:xfrm>
                <a:off x="7810500" y="2667000"/>
                <a:ext cx="2286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1143000">
                    <a:moveTo>
                      <a:pt x="0" y="0"/>
                    </a:moveTo>
                    <a:lnTo>
                      <a:pt x="2286000" y="1143000"/>
                    </a:lnTo>
                  </a:path>
                </a:pathLst>
              </a:custGeom>
              <a:noFill/>
              <a:ln w="14288">
                <a:solidFill>
                  <a:srgbClr val="BFDBFE">
                    <a:alpha val="80000"/>
                  </a:srgbClr>
                </a:solidFill>
                <a:prstDash val="dash"/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8763000" y="2286000"/>
                <a:ext cx="762000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286000">
                    <a:moveTo>
                      <a:pt x="0" y="0"/>
                    </a:moveTo>
                    <a:lnTo>
                      <a:pt x="762000" y="2286000"/>
                    </a:lnTo>
                  </a:path>
                </a:pathLst>
              </a:custGeom>
              <a:noFill/>
              <a:ln w="14288">
                <a:solidFill>
                  <a:srgbClr val="BFDBFE">
                    <a:alpha val="80000"/>
                  </a:srgbClr>
                </a:solidFill>
                <a:prstDash val="dash"/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8572500" y="2857500"/>
                <a:ext cx="114300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1714500">
                    <a:moveTo>
                      <a:pt x="1143000" y="0"/>
                    </a:moveTo>
                    <a:lnTo>
                      <a:pt x="0" y="1714500"/>
                    </a:lnTo>
                  </a:path>
                </a:pathLst>
              </a:custGeom>
              <a:noFill/>
              <a:ln w="14288">
                <a:solidFill>
                  <a:srgbClr val="BFDBFE">
                    <a:alpha val="80000"/>
                  </a:srgbClr>
                </a:solidFill>
                <a:prstDash val="dash"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8332470" y="5204460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知识图谱结构示意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727531" y="6315075"/>
            <a:ext cx="5310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3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748641" y="406718"/>
            <a:ext cx="2694718" cy="579120"/>
            <a:chOff x="4748641" y="406718"/>
            <a:chExt cx="2694718" cy="579120"/>
          </a:xfrm>
        </p:grpSpPr>
        <p:sp>
          <p:nvSpPr>
            <p:cNvPr id="3" name="TextBox 3"/>
            <p:cNvSpPr txBox="1"/>
            <p:nvPr/>
          </p:nvSpPr>
          <p:spPr>
            <a:xfrm>
              <a:off x="4748641" y="406718"/>
              <a:ext cx="269471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8FAFC"/>
                  </a:solidFill>
                  <a:latin typeface="Segoe UI"/>
                  <a:ea typeface="Microsoft YaHei"/>
                  <a:cs typeface="Segoe UI"/>
                </a:rPr>
                <a:t>核心技术架构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0" y="90487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38100" cap="rnd">
              <a:solidFill>
                <a:srgbClr val="3B82F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429000" y="3143250"/>
            <a:ext cx="5343525" cy="1390650"/>
            <a:chOff x="3429000" y="3143250"/>
            <a:chExt cx="5343525" cy="1390650"/>
          </a:xfrm>
        </p:grpSpPr>
        <p:sp>
          <p:nvSpPr>
            <p:cNvPr id="6" name="Freeform 6"/>
            <p:cNvSpPr/>
            <p:nvPr/>
          </p:nvSpPr>
          <p:spPr>
            <a:xfrm>
              <a:off x="3429000" y="31432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334155"/>
              </a:solidFill>
              <a:custDash>
                <a:ds d="300000" sp="200000"/>
              </a:custDash>
              <a:tailEnd type="triangle" w="lg" len="lg"/>
            </a:ln>
          </p:spPr>
        </p:sp>
        <p:sp>
          <p:nvSpPr>
            <p:cNvPr id="7" name="Freeform 7"/>
            <p:cNvSpPr/>
            <p:nvPr/>
          </p:nvSpPr>
          <p:spPr>
            <a:xfrm>
              <a:off x="6096000" y="31432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334155"/>
              </a:solidFill>
              <a:custDash>
                <a:ds d="300000" sp="200000"/>
              </a:custDash>
              <a:tailEnd type="triangle" w="lg" len="lg"/>
            </a:ln>
          </p:spPr>
        </p:sp>
        <p:sp>
          <p:nvSpPr>
            <p:cNvPr id="8" name="Freeform 8"/>
            <p:cNvSpPr/>
            <p:nvPr/>
          </p:nvSpPr>
          <p:spPr>
            <a:xfrm>
              <a:off x="8763000" y="31432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334155"/>
              </a:solidFill>
              <a:custDash>
                <a:ds d="300000" sp="200000"/>
              </a:custDash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4762500" y="45243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334155"/>
              </a:solidFill>
              <a:custDash>
                <a:ds d="300000" sp="200000"/>
              </a:custDash>
              <a:tailEnd type="triangle" w="lg" len="lg"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2286000" y="1714500"/>
            <a:ext cx="2286000" cy="1428750"/>
            <a:chOff x="2286000" y="1714500"/>
            <a:chExt cx="2286000" cy="1428750"/>
          </a:xfrm>
        </p:grpSpPr>
        <p:sp>
          <p:nvSpPr>
            <p:cNvPr id="11" name="Rectangle 11"/>
            <p:cNvSpPr/>
            <p:nvPr/>
          </p:nvSpPr>
          <p:spPr>
            <a:xfrm>
              <a:off x="2286000" y="1714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86000" y="1714500"/>
              <a:ext cx="2286000" cy="5715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419350" y="1895475"/>
              <a:ext cx="304800" cy="304800"/>
            </a:xfrm>
            <a:prstGeom prst="ellipse">
              <a:avLst/>
            </a:prstGeom>
            <a:solidFill>
              <a:srgbClr val="3B82F6">
                <a:alpha val="15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34262" y="198215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B82F6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92730" y="19307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AFC"/>
                  </a:solidFill>
                  <a:latin typeface="Segoe UI"/>
                  <a:ea typeface="Microsoft YaHei"/>
                  <a:cs typeface="Segoe UI"/>
                </a:rPr>
                <a:t>知识抽取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64118" y="2275999"/>
              <a:ext cx="9503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NER实体识别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64118" y="246649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关系抽取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64118" y="265699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属性抽取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953000" y="1714500"/>
            <a:ext cx="2286000" cy="1428750"/>
            <a:chOff x="4953000" y="1714500"/>
            <a:chExt cx="2286000" cy="1428750"/>
          </a:xfrm>
        </p:grpSpPr>
        <p:sp>
          <p:nvSpPr>
            <p:cNvPr id="20" name="Rectangle 20"/>
            <p:cNvSpPr/>
            <p:nvPr/>
          </p:nvSpPr>
          <p:spPr>
            <a:xfrm>
              <a:off x="4953000" y="1714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953000" y="1714500"/>
              <a:ext cx="2286000" cy="5715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086350" y="1895475"/>
              <a:ext cx="304800" cy="304800"/>
            </a:xfrm>
            <a:prstGeom prst="ellipse">
              <a:avLst/>
            </a:prstGeom>
            <a:solidFill>
              <a:srgbClr val="06B6D4">
                <a:alpha val="1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81134" y="19821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59730" y="19307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AFC"/>
                  </a:solidFill>
                  <a:latin typeface="Segoe UI"/>
                  <a:ea typeface="Microsoft YaHei"/>
                  <a:cs typeface="Segoe UI"/>
                </a:rPr>
                <a:t>知识融合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31118" y="227599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实体对齐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31118" y="246649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共指消解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31118" y="265699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冲突消解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0" y="1714500"/>
            <a:ext cx="2286000" cy="1428750"/>
            <a:chOff x="7620000" y="1714500"/>
            <a:chExt cx="2286000" cy="1428750"/>
          </a:xfrm>
        </p:grpSpPr>
        <p:sp>
          <p:nvSpPr>
            <p:cNvPr id="29" name="Rectangle 29"/>
            <p:cNvSpPr/>
            <p:nvPr/>
          </p:nvSpPr>
          <p:spPr>
            <a:xfrm>
              <a:off x="7620000" y="1714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20000" y="1714500"/>
              <a:ext cx="2286000" cy="5715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7753350" y="1895475"/>
              <a:ext cx="304800" cy="304800"/>
            </a:xfrm>
            <a:prstGeom prst="ellipse">
              <a:avLst/>
            </a:prstGeom>
            <a:solidFill>
              <a:srgbClr val="8B5CF6">
                <a:alpha val="15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48134" y="19821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5CF6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26730" y="19307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AFC"/>
                  </a:solidFill>
                  <a:latin typeface="Segoe UI"/>
                  <a:ea typeface="Microsoft YaHei"/>
                  <a:cs typeface="Segoe UI"/>
                </a:rPr>
                <a:t>知识存储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98118" y="2275999"/>
              <a:ext cx="10001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图数据库建模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98118" y="2466499"/>
              <a:ext cx="14487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Neo4j / JanusGraph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98118" y="26569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高性能索引优化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619500" y="3810000"/>
            <a:ext cx="2286000" cy="1428750"/>
            <a:chOff x="3619500" y="3810000"/>
            <a:chExt cx="2286000" cy="1428750"/>
          </a:xfrm>
        </p:grpSpPr>
        <p:sp>
          <p:nvSpPr>
            <p:cNvPr id="38" name="Rectangle 38"/>
            <p:cNvSpPr/>
            <p:nvPr/>
          </p:nvSpPr>
          <p:spPr>
            <a:xfrm>
              <a:off x="3619500" y="3810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3619500" y="3810000"/>
              <a:ext cx="2286000" cy="5715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752850" y="3990975"/>
              <a:ext cx="304800" cy="304800"/>
            </a:xfrm>
            <a:prstGeom prst="ellipse">
              <a:avLst/>
            </a:prstGeom>
            <a:solidFill>
              <a:srgbClr val="10B981">
                <a:alpha val="15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847634" y="40776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26230" y="40262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AFC"/>
                  </a:solidFill>
                  <a:latin typeface="Segoe UI"/>
                  <a:ea typeface="Microsoft YaHei"/>
                  <a:cs typeface="Segoe UI"/>
                </a:rPr>
                <a:t>知识推理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797618" y="4371499"/>
              <a:ext cx="10001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规则推理引擎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97618" y="45619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图神经网络推理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797618" y="475249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链接预测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286500" y="3810000"/>
            <a:ext cx="2286000" cy="1428750"/>
            <a:chOff x="6286500" y="3810000"/>
            <a:chExt cx="2286000" cy="1428750"/>
          </a:xfrm>
        </p:grpSpPr>
        <p:sp>
          <p:nvSpPr>
            <p:cNvPr id="47" name="Rectangle 47"/>
            <p:cNvSpPr/>
            <p:nvPr/>
          </p:nvSpPr>
          <p:spPr>
            <a:xfrm>
              <a:off x="6286500" y="3810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86500" y="3810000"/>
              <a:ext cx="2286000" cy="571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419850" y="3990975"/>
              <a:ext cx="304800" cy="304800"/>
            </a:xfrm>
            <a:prstGeom prst="ellipse">
              <a:avLst/>
            </a:prstGeom>
            <a:solidFill>
              <a:srgbClr val="F59E0B">
                <a:alpha val="15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14634" y="40776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93230" y="40262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AFC"/>
                  </a:solidFill>
                  <a:latin typeface="Segoe UI"/>
                  <a:ea typeface="Microsoft YaHei"/>
                  <a:cs typeface="Segoe UI"/>
                </a:rPr>
                <a:t>知识更新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64618" y="4371499"/>
              <a:ext cx="10001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增量学习机制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64618" y="4561999"/>
              <a:ext cx="10001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动态维护策略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64618" y="4752499"/>
              <a:ext cx="10001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• 实时数据同步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52500" y="6268402"/>
            <a:ext cx="10871835" cy="218123"/>
            <a:chOff x="952500" y="6268402"/>
            <a:chExt cx="10871835" cy="218123"/>
          </a:xfrm>
        </p:grpSpPr>
        <p:sp>
          <p:nvSpPr>
            <p:cNvPr id="56" name="Line 56"/>
            <p:cNvSpPr/>
            <p:nvPr/>
          </p:nvSpPr>
          <p:spPr>
            <a:xfrm>
              <a:off x="952500" y="6477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9050">
              <a:solidFill>
                <a:srgbClr val="1E293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452622" y="6268402"/>
              <a:ext cx="3717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4 / 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8" grpId="0"/>
      <p:bldP spid="37" grpId="0"/>
      <p:bldP spid="46" grpId="0"/>
      <p:bldP spid="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3935920" y="437198"/>
            <a:ext cx="4320159" cy="701040"/>
            <a:chOff x="3935920" y="437198"/>
            <a:chExt cx="4320159" cy="701040"/>
          </a:xfrm>
        </p:grpSpPr>
        <p:sp>
          <p:nvSpPr>
            <p:cNvPr id="3" name="TextBox 3"/>
            <p:cNvSpPr txBox="1"/>
            <p:nvPr/>
          </p:nvSpPr>
          <p:spPr>
            <a:xfrm>
              <a:off x="3935920" y="437198"/>
              <a:ext cx="4320159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关键技术深度解析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953000" y="1095375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38100" cap="rnd">
              <a:solidFill>
                <a:srgbClr val="3B82F6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52500" y="1428750"/>
            <a:ext cx="4953000" cy="2190750"/>
            <a:chOff x="952500" y="1428750"/>
            <a:chExt cx="4953000" cy="2190750"/>
          </a:xfrm>
        </p:grpSpPr>
        <p:sp>
          <p:nvSpPr>
            <p:cNvPr id="6" name="Rectangle 6"/>
            <p:cNvSpPr/>
            <p:nvPr/>
          </p:nvSpPr>
          <p:spPr>
            <a:xfrm>
              <a:off x="952500" y="1428750"/>
              <a:ext cx="49530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428750"/>
              <a:ext cx="4953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81100" y="1657350"/>
              <a:ext cx="495300" cy="4953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14450" y="17907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228600" y="114300"/>
                  </a:lnTo>
                  <a:moveTo>
                    <a:pt x="114300" y="0"/>
                  </a:moveTo>
                  <a:lnTo>
                    <a:pt x="114300" y="228600"/>
                  </a:lnTo>
                  <a:moveTo>
                    <a:pt x="38100" y="38100"/>
                  </a:moveTo>
                  <a:lnTo>
                    <a:pt x="190500" y="190500"/>
                  </a:lnTo>
                  <a:moveTo>
                    <a:pt x="190500" y="38100"/>
                  </a:moveTo>
                  <a:lnTo>
                    <a:pt x="38100" y="190500"/>
                  </a:lnTo>
                </a:path>
              </a:pathLst>
            </a:custGeom>
            <a:solidFill>
              <a:srgbClr val="000000"/>
            </a:solidFill>
            <a:ln w="23812" cap="rnd">
              <a:solidFill>
                <a:srgbClr val="3B82F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84045" y="170783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知识表示学习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9212" y="2164556"/>
              <a:ext cx="29696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TransE / RotatE / 图嵌入向量空间映射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86500" y="1428750"/>
            <a:ext cx="4953000" cy="2190750"/>
            <a:chOff x="6286500" y="1428750"/>
            <a:chExt cx="4953000" cy="2190750"/>
          </a:xfrm>
        </p:grpSpPr>
        <p:sp>
          <p:nvSpPr>
            <p:cNvPr id="13" name="Rectangle 13"/>
            <p:cNvSpPr/>
            <p:nvPr/>
          </p:nvSpPr>
          <p:spPr>
            <a:xfrm>
              <a:off x="6286500" y="1428750"/>
              <a:ext cx="49530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86500" y="1428750"/>
              <a:ext cx="4953000" cy="381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515100" y="1657350"/>
              <a:ext cx="495300" cy="495300"/>
            </a:xfrm>
            <a:prstGeom prst="ellipse">
              <a:avLst/>
            </a:prstGeom>
            <a:solidFill>
              <a:srgbClr val="F5F3F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6629400" y="1828800"/>
              <a:ext cx="266700" cy="152400"/>
            </a:xfrm>
            <a:custGeom>
              <a:avLst/>
              <a:gdLst/>
              <a:ahLst/>
              <a:cxnLst/>
              <a:rect l="l" t="t" r="r" b="b"/>
              <a:pathLst>
                <a:path w="266700" h="152400">
                  <a:moveTo>
                    <a:pt x="0" y="0"/>
                  </a:moveTo>
                  <a:lnTo>
                    <a:pt x="266700" y="0"/>
                  </a:lnTo>
                  <a:moveTo>
                    <a:pt x="0" y="76200"/>
                  </a:moveTo>
                  <a:lnTo>
                    <a:pt x="266700" y="76200"/>
                  </a:lnTo>
                  <a:moveTo>
                    <a:pt x="0" y="152400"/>
                  </a:moveTo>
                  <a:lnTo>
                    <a:pt x="266700" y="152400"/>
                  </a:lnTo>
                  <a:moveTo>
                    <a:pt x="76200" y="0"/>
                  </a:moveTo>
                  <a:lnTo>
                    <a:pt x="76200" y="152400"/>
                  </a:lnTo>
                  <a:moveTo>
                    <a:pt x="190500" y="0"/>
                  </a:moveTo>
                  <a:lnTo>
                    <a:pt x="190500" y="152400"/>
                  </a:lnTo>
                </a:path>
              </a:pathLst>
            </a:custGeom>
            <a:solidFill>
              <a:srgbClr val="000000"/>
            </a:solidFill>
            <a:ln w="23812" cap="rnd">
              <a:solidFill>
                <a:srgbClr val="7C3AED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18045" y="170783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图神经网络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3212" y="2164556"/>
              <a:ext cx="25917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GCN、GAT 在图结构特征提取与传播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2500" y="4000500"/>
            <a:ext cx="4953000" cy="2190750"/>
            <a:chOff x="952500" y="4000500"/>
            <a:chExt cx="4953000" cy="2190750"/>
          </a:xfrm>
        </p:grpSpPr>
        <p:sp>
          <p:nvSpPr>
            <p:cNvPr id="20" name="Rectangle 20"/>
            <p:cNvSpPr/>
            <p:nvPr/>
          </p:nvSpPr>
          <p:spPr>
            <a:xfrm>
              <a:off x="952500" y="4000500"/>
              <a:ext cx="49530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52500" y="4000500"/>
              <a:ext cx="4953000" cy="381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181100" y="4229100"/>
              <a:ext cx="495300" cy="495300"/>
            </a:xfrm>
            <a:prstGeom prst="ellipse">
              <a:avLst/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295400" y="43243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76200"/>
                  </a:moveTo>
                  <a:cubicBezTo>
                    <a:pt x="88900" y="0"/>
                    <a:pt x="177800" y="0"/>
                    <a:pt x="266700" y="76200"/>
                  </a:cubicBezTo>
                  <a:moveTo>
                    <a:pt x="0" y="228600"/>
                  </a:moveTo>
                  <a:cubicBezTo>
                    <a:pt x="88900" y="304800"/>
                    <a:pt x="177800" y="304800"/>
                    <a:pt x="266700" y="228600"/>
                  </a:cubicBezTo>
                  <a:moveTo>
                    <a:pt x="133350" y="19050"/>
                  </a:moveTo>
                  <a:lnTo>
                    <a:pt x="133350" y="285750"/>
                  </a:lnTo>
                </a:path>
              </a:pathLst>
            </a:custGeom>
            <a:noFill/>
            <a:ln w="23812" cap="rnd">
              <a:solidFill>
                <a:srgbClr val="059669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304925" y="4371975"/>
              <a:ext cx="57150" cy="5715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495425" y="4524375"/>
              <a:ext cx="57150" cy="5715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1333500" y="4400550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0" y="0"/>
                  </a:moveTo>
                  <a:lnTo>
                    <a:pt x="190500" y="152400"/>
                  </a:lnTo>
                </a:path>
              </a:pathLst>
            </a:custGeom>
            <a:noFill/>
            <a:ln w="14288">
              <a:solidFill>
                <a:srgbClr val="059669"/>
              </a:solidFill>
              <a:custDash>
                <a:ds d="266666" sp="200000"/>
              </a:custDash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84045" y="42795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知识图谱补全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19212" y="4736306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链接预测算法与缺失关系自动补全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4000500"/>
            <a:ext cx="4953000" cy="2190750"/>
            <a:chOff x="6286500" y="4000500"/>
            <a:chExt cx="4953000" cy="2190750"/>
          </a:xfrm>
        </p:grpSpPr>
        <p:sp>
          <p:nvSpPr>
            <p:cNvPr id="30" name="Rectangle 30"/>
            <p:cNvSpPr/>
            <p:nvPr/>
          </p:nvSpPr>
          <p:spPr>
            <a:xfrm>
              <a:off x="6286500" y="4000500"/>
              <a:ext cx="49530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86500" y="4000500"/>
              <a:ext cx="4953000" cy="381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515100" y="4229100"/>
              <a:ext cx="495300" cy="495300"/>
            </a:xfrm>
            <a:prstGeom prst="ellipse">
              <a:avLst/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629400" y="4381500"/>
              <a:ext cx="266700" cy="190500"/>
            </a:xfrm>
            <a:custGeom>
              <a:avLst/>
              <a:gdLst/>
              <a:ahLst/>
              <a:cxnLst/>
              <a:rect l="l" t="t" r="r" b="b"/>
              <a:pathLst>
                <a:path w="266700" h="190500">
                  <a:moveTo>
                    <a:pt x="0" y="0"/>
                  </a:moveTo>
                  <a:lnTo>
                    <a:pt x="266700" y="0"/>
                  </a:lnTo>
                  <a:lnTo>
                    <a:pt x="266700" y="190500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23812">
              <a:solidFill>
                <a:srgbClr val="D97706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686550" y="4438650"/>
              <a:ext cx="152400" cy="114300"/>
            </a:xfrm>
            <a:custGeom>
              <a:avLst/>
              <a:gdLst/>
              <a:ahLst/>
              <a:cxnLst/>
              <a:rect l="l" t="t" r="r" b="b"/>
              <a:pathLst>
                <a:path w="152400" h="114300">
                  <a:moveTo>
                    <a:pt x="0" y="0"/>
                  </a:moveTo>
                  <a:lnTo>
                    <a:pt x="152400" y="0"/>
                  </a:lnTo>
                  <a:moveTo>
                    <a:pt x="0" y="57150"/>
                  </a:moveTo>
                  <a:lnTo>
                    <a:pt x="152400" y="57150"/>
                  </a:lnTo>
                  <a:moveTo>
                    <a:pt x="0" y="114300"/>
                  </a:moveTo>
                  <a:lnTo>
                    <a:pt x="95250" y="114300"/>
                  </a:lnTo>
                </a:path>
              </a:pathLst>
            </a:custGeom>
            <a:solidFill>
              <a:srgbClr val="000000"/>
            </a:solidFill>
            <a:ln w="23812" cap="rnd">
              <a:solidFill>
                <a:srgbClr val="D97706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791325" y="4391025"/>
              <a:ext cx="57150" cy="5715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18045" y="427958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大模型融合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3212" y="4736306"/>
              <a:ext cx="25013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RAG + KG 增强生成式AI事实准确性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881122" y="6458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5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9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FF6FF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9615" y="315278"/>
            <a:ext cx="319316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应用落地场景总览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810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38100">
            <a:solidFill>
              <a:srgbClr val="3B82F6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918031" y="428625"/>
            <a:ext cx="5310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6 / 9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52500" y="1333500"/>
            <a:ext cx="3238500" cy="1905000"/>
            <a:chOff x="952500" y="1333500"/>
            <a:chExt cx="3238500" cy="1905000"/>
          </a:xfrm>
        </p:grpSpPr>
        <p:sp>
          <p:nvSpPr>
            <p:cNvPr id="7" name="Rectangle 7"/>
            <p:cNvSpPr/>
            <p:nvPr/>
          </p:nvSpPr>
          <p:spPr>
            <a:xfrm>
              <a:off x="952500" y="1333500"/>
              <a:ext cx="32385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133350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23950" y="1600200"/>
              <a:ext cx="419100" cy="4191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46275" y="17078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E40AF"/>
                  </a:solidFill>
                  <a:latin typeface="Segoe UI"/>
                  <a:ea typeface="Microsoft YaHei"/>
                  <a:cs typeface="Segoe UI"/>
                </a:rPr>
                <a:t>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95450" y="16478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智能搜索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8712" y="21645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语义理解与实体卡片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9665" y="2410778"/>
              <a:ext cx="1215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（如 Google KG）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76750" y="1333500"/>
            <a:ext cx="3238500" cy="1905000"/>
            <a:chOff x="4476750" y="1333500"/>
            <a:chExt cx="3238500" cy="1905000"/>
          </a:xfrm>
        </p:grpSpPr>
        <p:sp>
          <p:nvSpPr>
            <p:cNvPr id="15" name="Rectangle 15"/>
            <p:cNvSpPr/>
            <p:nvPr/>
          </p:nvSpPr>
          <p:spPr>
            <a:xfrm>
              <a:off x="4476750" y="1333500"/>
              <a:ext cx="32385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76750" y="133350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14B8A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648200" y="1600200"/>
              <a:ext cx="419100" cy="41910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70525" y="17078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F766E"/>
                  </a:solidFill>
                  <a:latin typeface="Segoe UI"/>
                  <a:ea typeface="Microsoft YaHei"/>
                  <a:cs typeface="Segoe UI"/>
                </a:rPr>
                <a:t>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19700" y="16478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智能问答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2962" y="2164556"/>
              <a:ext cx="12937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KBQA 与对话系统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53915" y="241077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自然语言交互与知识检索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001000" y="1333500"/>
            <a:ext cx="3238500" cy="1905000"/>
            <a:chOff x="8001000" y="1333500"/>
            <a:chExt cx="3238500" cy="1905000"/>
          </a:xfrm>
        </p:grpSpPr>
        <p:sp>
          <p:nvSpPr>
            <p:cNvPr id="23" name="Rectangle 23"/>
            <p:cNvSpPr/>
            <p:nvPr/>
          </p:nvSpPr>
          <p:spPr>
            <a:xfrm>
              <a:off x="8001000" y="1333500"/>
              <a:ext cx="32385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01000" y="133350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172450" y="1600200"/>
              <a:ext cx="419100" cy="419100"/>
            </a:xfrm>
            <a:prstGeom prst="ellipse">
              <a:avLst/>
            </a:prstGeom>
            <a:solidFill>
              <a:srgbClr val="EDE9F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94775" y="17078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D28D9"/>
                  </a:solidFill>
                  <a:latin typeface="Segoe UI"/>
                  <a:ea typeface="Microsoft YaHei"/>
                  <a:cs typeface="Segoe UI"/>
                </a:rPr>
                <a:t>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43950" y="16478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推荐系统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77212" y="21645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增强推荐的可解释性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78165" y="24107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与精准度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714625" y="3714750"/>
            <a:ext cx="3238500" cy="1905000"/>
            <a:chOff x="2714625" y="3714750"/>
            <a:chExt cx="3238500" cy="1905000"/>
          </a:xfrm>
        </p:grpSpPr>
        <p:sp>
          <p:nvSpPr>
            <p:cNvPr id="31" name="Rectangle 31"/>
            <p:cNvSpPr/>
            <p:nvPr/>
          </p:nvSpPr>
          <p:spPr>
            <a:xfrm>
              <a:off x="2714625" y="3714750"/>
              <a:ext cx="32385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714625" y="371475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886075" y="3981450"/>
              <a:ext cx="419100" cy="4191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08400" y="408908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92400E"/>
                  </a:solidFill>
                  <a:latin typeface="Segoe UI"/>
                  <a:ea typeface="Microsoft YaHei"/>
                  <a:cs typeface="Segoe UI"/>
                </a:rPr>
                <a:t>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57575" y="4029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风险控制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90838" y="454580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关联挖掘与反欺诈检测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91790" y="4792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实时风险图谱构建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38875" y="3714750"/>
            <a:ext cx="3238500" cy="1905000"/>
            <a:chOff x="6238875" y="3714750"/>
            <a:chExt cx="3238500" cy="1905000"/>
          </a:xfrm>
        </p:grpSpPr>
        <p:sp>
          <p:nvSpPr>
            <p:cNvPr id="39" name="Rectangle 39"/>
            <p:cNvSpPr/>
            <p:nvPr/>
          </p:nvSpPr>
          <p:spPr>
            <a:xfrm>
              <a:off x="6238875" y="3714750"/>
              <a:ext cx="32385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38875" y="371475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410325" y="3981450"/>
              <a:ext cx="419100" cy="419100"/>
            </a:xfrm>
            <a:prstGeom prst="ellipse">
              <a:avLst/>
            </a:prstGeom>
            <a:solidFill>
              <a:srgbClr val="FFE4E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32650" y="408908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9F1239"/>
                  </a:solidFill>
                  <a:latin typeface="Segoe UI"/>
                  <a:ea typeface="Microsoft YaHei"/>
                  <a:cs typeface="Segoe UI"/>
                </a:rPr>
                <a:t>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81825" y="4029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行业应用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15088" y="4545806"/>
              <a:ext cx="11951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医疗/金融/法律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16040" y="4792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知识图谱深度赋能</a:t>
              </a:r>
            </a:p>
          </p:txBody>
        </p:sp>
      </p:grpSp>
      <p:sp>
        <p:nvSpPr>
          <p:cNvPr id="47" name="Line 47"/>
          <p:cNvSpPr/>
          <p:nvPr/>
        </p:nvSpPr>
        <p:spPr>
          <a:xfrm>
            <a:off x="952500" y="60960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9525">
            <a:solidFill>
              <a:srgbClr val="CBD5E1"/>
            </a:solidFill>
            <a:prstDash val="dash"/>
          </a:ln>
        </p:spPr>
      </p:sp>
      <p:sp>
        <p:nvSpPr>
          <p:cNvPr id="48" name="TextBox 48"/>
          <p:cNvSpPr txBox="1"/>
          <p:nvPr/>
        </p:nvSpPr>
        <p:spPr>
          <a:xfrm>
            <a:off x="4288441" y="6268402"/>
            <a:ext cx="36151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Knowledge Graph Application Scenarios Overview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/>
      <p:bldP spid="30" grpId="0"/>
      <p:bldP spid="38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029837" y="358140"/>
            <a:ext cx="4132326" cy="670560"/>
            <a:chOff x="4029837" y="358140"/>
            <a:chExt cx="4132326" cy="670560"/>
          </a:xfrm>
        </p:grpSpPr>
        <p:sp>
          <p:nvSpPr>
            <p:cNvPr id="3" name="TextBox 3"/>
            <p:cNvSpPr txBox="1"/>
            <p:nvPr/>
          </p:nvSpPr>
          <p:spPr>
            <a:xfrm>
              <a:off x="4029837" y="358140"/>
              <a:ext cx="413232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典型应用案例解析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0" y="952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>
              <a:solidFill>
                <a:srgbClr val="CBD5E1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52500" y="1333500"/>
            <a:ext cx="7203757" cy="2190750"/>
            <a:chOff x="952500" y="1333500"/>
            <a:chExt cx="7203757" cy="2190750"/>
          </a:xfrm>
        </p:grpSpPr>
        <p:sp>
          <p:nvSpPr>
            <p:cNvPr id="6" name="Rectangle 6"/>
            <p:cNvSpPr/>
            <p:nvPr/>
          </p:nvSpPr>
          <p:spPr>
            <a:xfrm>
              <a:off x="952500" y="1333500"/>
              <a:ext cx="5143500" cy="219075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333500"/>
              <a:ext cx="57150" cy="2190750"/>
            </a:xfrm>
            <a:prstGeom prst="roundRect">
              <a:avLst>
                <a:gd name="adj" fmla="val 50000"/>
              </a:avLst>
            </a:prstGeom>
            <a:solidFill>
              <a:srgbClr val="4285F4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295400" y="1666875"/>
              <a:ext cx="323850" cy="333375"/>
              <a:chOff x="1295400" y="1666875"/>
              <a:chExt cx="323850" cy="333375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295400" y="1676400"/>
                <a:ext cx="266700" cy="266700"/>
              </a:xfrm>
              <a:prstGeom prst="ellipse">
                <a:avLst/>
              </a:prstGeom>
              <a:noFill/>
              <a:ln w="28575">
                <a:solidFill>
                  <a:srgbClr val="4285F4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524000" y="19050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28575" cap="rnd">
                <a:solidFill>
                  <a:srgbClr val="4285F4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304925" y="1685925"/>
                <a:ext cx="57150" cy="5715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514475" y="1666875"/>
                <a:ext cx="57150" cy="5715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1543050" y="1828800"/>
                <a:ext cx="57150" cy="5715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15390" y="2186940"/>
              <a:ext cx="57320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Google 搜索：Knowledge Graph 赋能语义搜索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21105" y="2616518"/>
              <a:ext cx="69351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通过实体链接与关系抽取构建知识网络，实现从关键词匹配到意图理解的跃迁。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477000" y="1333500"/>
            <a:ext cx="7795260" cy="2190750"/>
            <a:chOff x="6477000" y="1333500"/>
            <a:chExt cx="7795260" cy="2190750"/>
          </a:xfrm>
        </p:grpSpPr>
        <p:sp>
          <p:nvSpPr>
            <p:cNvPr id="17" name="Rectangle 17"/>
            <p:cNvSpPr/>
            <p:nvPr/>
          </p:nvSpPr>
          <p:spPr>
            <a:xfrm>
              <a:off x="6477000" y="1333500"/>
              <a:ext cx="5143500" cy="219075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77000" y="1333500"/>
              <a:ext cx="57150" cy="219075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762750" y="1619250"/>
              <a:ext cx="381000" cy="381000"/>
              <a:chOff x="6762750" y="1619250"/>
              <a:chExt cx="381000" cy="381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858000" y="1619250"/>
                <a:ext cx="190500" cy="381000"/>
              </a:xfrm>
              <a:prstGeom prst="roundRect">
                <a:avLst>
                  <a:gd name="adj" fmla="val 20000"/>
                </a:avLst>
              </a:prstGeom>
              <a:noFill/>
              <a:ln w="28575">
                <a:solidFill>
                  <a:srgbClr val="10B981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762750" y="1714500"/>
                <a:ext cx="381000" cy="190500"/>
              </a:xfrm>
              <a:prstGeom prst="roundRect">
                <a:avLst>
                  <a:gd name="adj" fmla="val 20000"/>
                </a:avLst>
              </a:prstGeom>
              <a:noFill/>
              <a:ln w="28575">
                <a:solidFill>
                  <a:srgbClr val="10B98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877050" y="1758950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0" y="50800"/>
                    </a:moveTo>
                    <a:cubicBezTo>
                      <a:pt x="50800" y="0"/>
                      <a:pt x="101600" y="0"/>
                      <a:pt x="152400" y="50800"/>
                    </a:cubicBezTo>
                    <a:cubicBezTo>
                      <a:pt x="203200" y="101600"/>
                      <a:pt x="228600" y="101600"/>
                      <a:pt x="228600" y="50800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6739890" y="2186940"/>
              <a:ext cx="50419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医疗辅助诊断：症状-疾病-药物知识推理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45605" y="2616518"/>
              <a:ext cx="75266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基于临床指南与医学文献构建领域图谱，支持多跳推理与鉴别诊断，提升诊疗准确率。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2500" y="3905250"/>
            <a:ext cx="7400925" cy="2190750"/>
            <a:chOff x="952500" y="3905250"/>
            <a:chExt cx="7400925" cy="2190750"/>
          </a:xfrm>
        </p:grpSpPr>
        <p:sp>
          <p:nvSpPr>
            <p:cNvPr id="26" name="Rectangle 26"/>
            <p:cNvSpPr/>
            <p:nvPr/>
          </p:nvSpPr>
          <p:spPr>
            <a:xfrm>
              <a:off x="952500" y="3905250"/>
              <a:ext cx="5143500" cy="219075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952500" y="3905250"/>
              <a:ext cx="57150" cy="21907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285875" y="4286250"/>
              <a:ext cx="285750" cy="238125"/>
              <a:chOff x="1285875" y="4286250"/>
              <a:chExt cx="285750" cy="2381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285875" y="4286250"/>
                <a:ext cx="28575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38125">
                    <a:moveTo>
                      <a:pt x="0" y="238125"/>
                    </a:moveTo>
                    <a:lnTo>
                      <a:pt x="95250" y="95250"/>
                    </a:lnTo>
                    <a:lnTo>
                      <a:pt x="190500" y="171450"/>
                    </a:lnTo>
                    <a:lnTo>
                      <a:pt x="285750" y="0"/>
                    </a:lnTo>
                  </a:path>
                </a:pathLst>
              </a:custGeom>
              <a:noFill/>
              <a:ln w="28575" cap="rnd">
                <a:solidFill>
                  <a:srgbClr val="F59E0B"/>
                </a:solidFill>
                <a:round/>
              </a:ln>
            </p:spPr>
          </p:sp>
          <p:sp>
            <p:nvSpPr>
              <p:cNvPr id="29" name="Polygon 29"/>
              <p:cNvSpPr/>
              <p:nvPr/>
            </p:nvSpPr>
            <p:spPr>
              <a:xfrm>
                <a:off x="1285875" y="4286250"/>
                <a:ext cx="28575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38125">
                    <a:moveTo>
                      <a:pt x="0" y="238125"/>
                    </a:moveTo>
                    <a:lnTo>
                      <a:pt x="285750" y="238125"/>
                    </a:lnTo>
                    <a:lnTo>
                      <a:pt x="285750" y="0"/>
                    </a:lnTo>
                    <a:close/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1352550" y="4352925"/>
                <a:ext cx="57150" cy="5715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215390" y="4758690"/>
              <a:ext cx="52903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金融风控：企业关联关系挖掘与反团伙欺诈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21105" y="5188268"/>
              <a:ext cx="71323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穿透股权穿透、担保链与资金流向，识别隐蔽利益共同体，实时预警系统性风险。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477000" y="3905250"/>
            <a:ext cx="7598093" cy="2190750"/>
            <a:chOff x="6477000" y="3905250"/>
            <a:chExt cx="7598093" cy="2190750"/>
          </a:xfrm>
        </p:grpSpPr>
        <p:sp>
          <p:nvSpPr>
            <p:cNvPr id="35" name="Rectangle 35"/>
            <p:cNvSpPr/>
            <p:nvPr/>
          </p:nvSpPr>
          <p:spPr>
            <a:xfrm>
              <a:off x="6477000" y="3905250"/>
              <a:ext cx="5143500" cy="219075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7000" y="3905250"/>
              <a:ext cx="57150" cy="219075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810375" y="4191000"/>
              <a:ext cx="285750" cy="333375"/>
              <a:chOff x="6810375" y="4191000"/>
              <a:chExt cx="285750" cy="333375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810375" y="4238625"/>
                <a:ext cx="285750" cy="285750"/>
              </a:xfrm>
              <a:prstGeom prst="roundRect">
                <a:avLst>
                  <a:gd name="adj" fmla="val 20000"/>
                </a:avLst>
              </a:prstGeom>
              <a:noFill/>
              <a:ln w="28575">
                <a:solidFill>
                  <a:srgbClr val="8B5CF6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6877050" y="4333875"/>
                <a:ext cx="57150" cy="57150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6972300" y="4333875"/>
                <a:ext cx="57150" cy="57150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877050" y="4457700"/>
                <a:ext cx="152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5400">
                    <a:moveTo>
                      <a:pt x="0" y="0"/>
                    </a:moveTo>
                    <a:cubicBezTo>
                      <a:pt x="50800" y="25400"/>
                      <a:pt x="101600" y="25400"/>
                      <a:pt x="152400" y="0"/>
                    </a:cubicBezTo>
                  </a:path>
                </a:pathLst>
              </a:custGeom>
              <a:noFill/>
              <a:ln w="19050" cap="rnd">
                <a:solidFill>
                  <a:srgbClr val="8B5CF6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6953250" y="4191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6858000" y="4210050"/>
                <a:ext cx="190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28575">
                    <a:moveTo>
                      <a:pt x="0" y="0"/>
                    </a:moveTo>
                    <a:lnTo>
                      <a:pt x="19050" y="28575"/>
                    </a:lnTo>
                  </a:path>
                </a:pathLst>
              </a:cu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7029450" y="4210050"/>
                <a:ext cx="190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28575">
                    <a:moveTo>
                      <a:pt x="1905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8B5CF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39890" y="4758690"/>
              <a:ext cx="519376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大模型+RAG：利用知识图谱减少 LLM 幻觉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45605" y="5188268"/>
              <a:ext cx="73294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将非结构化文本转化为结构化事实三元组，为生成式模型提供可验证的上下文依据。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210925" y="6442710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7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34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2095500" y="571500"/>
            <a:ext cx="11049000" cy="5715000"/>
            <a:chOff x="2095500" y="571500"/>
            <a:chExt cx="11049000" cy="5715000"/>
          </a:xfrm>
        </p:grpSpPr>
        <p:sp>
          <p:nvSpPr>
            <p:cNvPr id="3" name="Ellipse 3"/>
            <p:cNvSpPr/>
            <p:nvPr/>
          </p:nvSpPr>
          <p:spPr>
            <a:xfrm>
              <a:off x="7429500" y="571500"/>
              <a:ext cx="5715000" cy="5715000"/>
            </a:xfrm>
            <a:prstGeom prst="ellipse">
              <a:avLst/>
            </a:prstGeom>
            <a:solidFill>
              <a:srgbClr val="1E293B">
                <a:alpha val="3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191500" y="1333500"/>
              <a:ext cx="4191000" cy="4191000"/>
            </a:xfrm>
            <a:prstGeom prst="ellipse">
              <a:avLst/>
            </a:prstGeom>
            <a:solidFill>
              <a:srgbClr val="1E293B">
                <a:alpha val="20000"/>
              </a:srgbClr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2095500" y="2476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334155"/>
              </a:solidFill>
              <a:custDash>
                <a:ds d="400000" sp="400000"/>
              </a:custDash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432459" y="975360"/>
            <a:ext cx="3327082" cy="853440"/>
            <a:chOff x="4432459" y="975360"/>
            <a:chExt cx="3327082" cy="853440"/>
          </a:xfrm>
        </p:grpSpPr>
        <p:sp>
          <p:nvSpPr>
            <p:cNvPr id="7" name="TextBox 7"/>
            <p:cNvSpPr txBox="1"/>
            <p:nvPr/>
          </p:nvSpPr>
          <p:spPr>
            <a:xfrm>
              <a:off x="4432459" y="975360"/>
              <a:ext cx="3327082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总结与展望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4953000" y="18097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38100" cap="rnd">
              <a:solidFill>
                <a:srgbClr val="38BDF8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924050" y="2484120"/>
            <a:ext cx="6589395" cy="487680"/>
            <a:chOff x="1924050" y="2484120"/>
            <a:chExt cx="6589395" cy="487680"/>
          </a:xfrm>
        </p:grpSpPr>
        <p:sp>
          <p:nvSpPr>
            <p:cNvPr id="10" name="Ellipse 10"/>
            <p:cNvSpPr/>
            <p:nvPr/>
          </p:nvSpPr>
          <p:spPr>
            <a:xfrm>
              <a:off x="1924050" y="2495550"/>
              <a:ext cx="342900" cy="3429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493645" y="2484120"/>
              <a:ext cx="60198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知识图谱是连接数据与智能的关键桥梁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24050" y="3436620"/>
            <a:ext cx="5940933" cy="487680"/>
            <a:chOff x="1924050" y="3436620"/>
            <a:chExt cx="5940933" cy="487680"/>
          </a:xfrm>
        </p:grpSpPr>
        <p:sp>
          <p:nvSpPr>
            <p:cNvPr id="13" name="Ellipse 13"/>
            <p:cNvSpPr/>
            <p:nvPr/>
          </p:nvSpPr>
          <p:spPr>
            <a:xfrm>
              <a:off x="1924050" y="3448050"/>
              <a:ext cx="342900" cy="342900"/>
            </a:xfrm>
            <a:prstGeom prst="ellipse">
              <a:avLst/>
            </a:prstGeom>
            <a:solidFill>
              <a:srgbClr val="818C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493645" y="3436620"/>
              <a:ext cx="537133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核心技术日趋成熟 → 产业落地加速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24050" y="4389120"/>
            <a:ext cx="6782181" cy="487680"/>
            <a:chOff x="1924050" y="4389120"/>
            <a:chExt cx="6782181" cy="487680"/>
          </a:xfrm>
        </p:grpSpPr>
        <p:sp>
          <p:nvSpPr>
            <p:cNvPr id="16" name="Ellipse 16"/>
            <p:cNvSpPr/>
            <p:nvPr/>
          </p:nvSpPr>
          <p:spPr>
            <a:xfrm>
              <a:off x="1924050" y="4400550"/>
              <a:ext cx="342900" cy="3429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93645" y="4389120"/>
              <a:ext cx="621258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未来：LLM + KG 深度融合，迈向可信 AI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595795" y="6140768"/>
            <a:ext cx="10004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5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Ellipse 3"/>
            <p:cNvSpPr/>
            <p:nvPr/>
          </p:nvSpPr>
          <p:spPr>
            <a:xfrm>
              <a:off x="3429000" y="762000"/>
              <a:ext cx="5334000" cy="5334000"/>
            </a:xfrm>
            <a:prstGeom prst="ellipse">
              <a:avLst/>
            </a:prstGeom>
            <a:solidFill>
              <a:srgbClr val="334155">
                <a:alpha val="1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4191000" y="1524000"/>
              <a:ext cx="3810000" cy="3810000"/>
            </a:xfrm>
            <a:prstGeom prst="ellipse">
              <a:avLst/>
            </a:prstGeom>
            <a:solidFill>
              <a:srgbClr val="334155">
                <a:alpha val="10000"/>
              </a:srgb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1428750" cy="1428750"/>
            </a:xfrm>
            <a:custGeom>
              <a:avLst/>
              <a:gdLst/>
              <a:ahLst/>
              <a:cxnLst/>
              <a:rect l="l" t="t" r="r" b="b"/>
              <a:pathLst>
                <a:path w="1428750" h="1428750">
                  <a:moveTo>
                    <a:pt x="0" y="0"/>
                  </a:moveTo>
                  <a:lnTo>
                    <a:pt x="1428750" y="0"/>
                  </a:lnTo>
                  <a:lnTo>
                    <a:pt x="1428750" y="95250"/>
                  </a:lnTo>
                  <a:lnTo>
                    <a:pt x="95250" y="95250"/>
                  </a:lnTo>
                  <a:lnTo>
                    <a:pt x="9525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38BDF8">
                <a:alpha val="80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10763250" y="5429250"/>
              <a:ext cx="1428750" cy="1428750"/>
            </a:xfrm>
            <a:custGeom>
              <a:avLst/>
              <a:gdLst/>
              <a:ahLst/>
              <a:cxnLst/>
              <a:rect l="l" t="t" r="r" b="b"/>
              <a:pathLst>
                <a:path w="1428750" h="1428750">
                  <a:moveTo>
                    <a:pt x="1428750" y="1428750"/>
                  </a:moveTo>
                  <a:lnTo>
                    <a:pt x="0" y="1428750"/>
                  </a:lnTo>
                  <a:lnTo>
                    <a:pt x="0" y="1333500"/>
                  </a:lnTo>
                  <a:lnTo>
                    <a:pt x="1333500" y="1333500"/>
                  </a:lnTo>
                  <a:lnTo>
                    <a:pt x="1333500" y="0"/>
                  </a:lnTo>
                  <a:lnTo>
                    <a:pt x="1428750" y="0"/>
                  </a:lnTo>
                  <a:close/>
                </a:path>
              </a:pathLst>
            </a:custGeom>
            <a:solidFill>
              <a:srgbClr val="38BDF8">
                <a:alpha val="8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66900" y="1390650"/>
              <a:ext cx="76200" cy="76200"/>
            </a:xfrm>
            <a:prstGeom prst="ellipse">
              <a:avLst/>
            </a:prstGeom>
            <a:solidFill>
              <a:srgbClr val="38BDF8">
                <a:alpha val="5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44100" y="5181600"/>
              <a:ext cx="114300" cy="114300"/>
            </a:xfrm>
            <a:prstGeom prst="ellipse">
              <a:avLst/>
            </a:prstGeom>
            <a:solidFill>
              <a:srgbClr val="818CF8">
                <a:alpha val="4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448925" y="1685925"/>
              <a:ext cx="57150" cy="57150"/>
            </a:xfrm>
            <a:prstGeom prst="ellipse">
              <a:avLst/>
            </a:prstGeom>
            <a:solidFill>
              <a:srgbClr val="38BDF8">
                <a:alpha val="6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666875" y="5476875"/>
              <a:ext cx="95250" cy="95250"/>
            </a:xfrm>
            <a:prstGeom prst="ellipse">
              <a:avLst/>
            </a:prstGeom>
            <a:solidFill>
              <a:srgbClr val="818CF8">
                <a:alpha val="500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3729395" y="1804988"/>
            <a:ext cx="4733211" cy="4529137"/>
            <a:chOff x="3729395" y="1804988"/>
            <a:chExt cx="4733211" cy="4529137"/>
          </a:xfrm>
        </p:grpSpPr>
        <p:sp>
          <p:nvSpPr>
            <p:cNvPr id="12" name="TextBox 12"/>
            <p:cNvSpPr txBox="1"/>
            <p:nvPr/>
          </p:nvSpPr>
          <p:spPr>
            <a:xfrm>
              <a:off x="3729395" y="1804988"/>
              <a:ext cx="4733211" cy="1981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谢谢！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143500" y="33337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57150" cap="rnd">
              <a:gradFill>
                <a:gsLst>
                  <a:gs pos="0">
                    <a:srgbClr val="38BDF8"/>
                  </a:gs>
                  <a:gs pos="100000">
                    <a:srgbClr val="818CF8"/>
                  </a:gs>
                </a:gsLst>
                <a:lin ang="0" scaled="1"/>
              </a:gra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133327" y="3672840"/>
              <a:ext cx="1925345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Q &amp;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11078" y="4740592"/>
              <a:ext cx="256984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欢迎交流讨论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39364" y="6029325"/>
              <a:ext cx="33132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THANK YOU FOR YOUR ATTENTION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